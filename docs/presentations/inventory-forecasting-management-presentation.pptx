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942"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F70D779-23C6-426C-A43B-606C55D5D492}" type="datetimeFigureOut">
              <a:rPr lang="en-US" smtClean="0"/>
              <a:t>04/Sep/2026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CF73CB-72FF-4244-9996-8BD80250B239}" type="slidenum">
              <a:rPr lang="en-US" smtClean="0"/>
              <a:t>‹#›</a:t>
            </a:fld>
            <a:endParaRPr lang="en-US"/>
          </a:p>
        </p:txBody>
      </p:sp>
    </p:spTree>
    <p:extLst>
      <p:ext uri="{BB962C8B-B14F-4D97-AF65-F5344CB8AC3E}">
        <p14:creationId xmlns:p14="http://schemas.microsoft.com/office/powerpoint/2010/main" val="3466245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 with the scope correction: this is now a prediction layer, not a stock-management replacement. BuyAbans remains the system of record. The app pulls data read-only, explains performance, forecasts demand and records controlled decisions.</a:t>
            </a:r>
          </a:p>
        </p:txBody>
      </p:sp>
      <p:sp>
        <p:nvSpPr>
          <p:cNvPr id="4" name="Slide Number Placeholder 3"/>
          <p:cNvSpPr>
            <a:spLocks noGrp="1"/>
          </p:cNvSpPr>
          <p:nvPr>
            <p:ph type="sldNum" sz="quarter" idx="5"/>
          </p:nvPr>
        </p:nvSpPr>
        <p:spPr/>
        <p:txBody>
          <a:bodyPr/>
          <a:lstStyle/>
          <a:p>
            <a:fld id="{E1CF73CB-72FF-4244-9996-8BD80250B239}" type="slidenum">
              <a:rPr lang="en-US" smtClean="0"/>
              <a:t>1</a:t>
            </a:fld>
            <a:endParaRPr lang="en-US"/>
          </a:p>
        </p:txBody>
      </p:sp>
    </p:spTree>
    <p:extLst>
      <p:ext uri="{BB962C8B-B14F-4D97-AF65-F5344CB8AC3E}">
        <p14:creationId xmlns:p14="http://schemas.microsoft.com/office/powerpoint/2010/main" val="903445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division of responsibility is now clear. BuyAbans owns transactions; this application consumes and interprets them. The forecast path is current. The recommendation workflow is implemented, but its present numbers still read the legacy inventory ledger.</a:t>
            </a:r>
          </a:p>
        </p:txBody>
      </p:sp>
      <p:sp>
        <p:nvSpPr>
          <p:cNvPr id="4" name="Slide Number Placeholder 3"/>
          <p:cNvSpPr>
            <a:spLocks noGrp="1"/>
          </p:cNvSpPr>
          <p:nvPr>
            <p:ph type="sldNum" sz="quarter" idx="5"/>
          </p:nvPr>
        </p:nvSpPr>
        <p:spPr/>
        <p:txBody>
          <a:bodyPr/>
          <a:lstStyle/>
          <a:p>
            <a:fld id="{E1CF73CB-72FF-4244-9996-8BD80250B239}" type="slidenum">
              <a:rPr lang="en-US" smtClean="0"/>
              <a:t>2</a:t>
            </a:fld>
            <a:endParaRPr lang="en-US"/>
          </a:p>
        </p:txBody>
      </p:sp>
    </p:spTree>
    <p:extLst>
      <p:ext uri="{BB962C8B-B14F-4D97-AF65-F5344CB8AC3E}">
        <p14:creationId xmlns:p14="http://schemas.microsoft.com/office/powerpoint/2010/main" val="1487062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left to right. BuyAbans exposes authenticated read-only endpoints. Laravel syncs and normalizes the data, reconstructs the calendar, selects an algorithm and persists explainable output. The arrow never points back to BuyAbans.</a:t>
            </a:r>
          </a:p>
        </p:txBody>
      </p:sp>
      <p:sp>
        <p:nvSpPr>
          <p:cNvPr id="4" name="Slide Number Placeholder 3"/>
          <p:cNvSpPr>
            <a:spLocks noGrp="1"/>
          </p:cNvSpPr>
          <p:nvPr>
            <p:ph type="sldNum" sz="quarter" idx="5"/>
          </p:nvPr>
        </p:nvSpPr>
        <p:spPr/>
        <p:txBody>
          <a:bodyPr/>
          <a:lstStyle/>
          <a:p>
            <a:fld id="{E1CF73CB-72FF-4244-9996-8BD80250B239}" type="slidenum">
              <a:rPr lang="en-US" smtClean="0"/>
              <a:t>3</a:t>
            </a:fld>
            <a:endParaRPr lang="en-US"/>
          </a:p>
        </p:txBody>
      </p:sp>
    </p:spTree>
    <p:extLst>
      <p:ext uri="{BB962C8B-B14F-4D97-AF65-F5344CB8AC3E}">
        <p14:creationId xmlns:p14="http://schemas.microsoft.com/office/powerpoint/2010/main" val="33661303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Business-data write routes, forms and pages were removed, not hidden. Local writes are limited to this application's own operation and audit records. Suppliers and promotions are also read-only, so they need an external source if their data must change.</a:t>
            </a:r>
          </a:p>
        </p:txBody>
      </p:sp>
      <p:sp>
        <p:nvSpPr>
          <p:cNvPr id="4" name="Slide Number Placeholder 3"/>
          <p:cNvSpPr>
            <a:spLocks noGrp="1"/>
          </p:cNvSpPr>
          <p:nvPr>
            <p:ph type="sldNum" sz="quarter" idx="5"/>
          </p:nvPr>
        </p:nvSpPr>
        <p:spPr/>
        <p:txBody>
          <a:bodyPr/>
          <a:lstStyle/>
          <a:p>
            <a:fld id="{E1CF73CB-72FF-4244-9996-8BD80250B239}" type="slidenum">
              <a:rPr lang="en-US" smtClean="0"/>
              <a:t>4</a:t>
            </a:fld>
            <a:endParaRPr lang="en-US"/>
          </a:p>
        </p:txBody>
      </p:sp>
    </p:spTree>
    <p:extLst>
      <p:ext uri="{BB962C8B-B14F-4D97-AF65-F5344CB8AC3E}">
        <p14:creationId xmlns:p14="http://schemas.microsoft.com/office/powerpoint/2010/main" val="30228723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user journey begins with the Dashboard or BuyAbans Sync, then moves to read-only catalog and inventory views, forecasts and investigations. Old stock-operation listings remain readable by URL for historical data, but they have no write routes.</a:t>
            </a:r>
          </a:p>
        </p:txBody>
      </p:sp>
      <p:sp>
        <p:nvSpPr>
          <p:cNvPr id="4" name="Slide Number Placeholder 3"/>
          <p:cNvSpPr>
            <a:spLocks noGrp="1"/>
          </p:cNvSpPr>
          <p:nvPr>
            <p:ph type="sldNum" sz="quarter" idx="5"/>
          </p:nvPr>
        </p:nvSpPr>
        <p:spPr/>
        <p:txBody>
          <a:bodyPr/>
          <a:lstStyle/>
          <a:p>
            <a:fld id="{E1CF73CB-72FF-4244-9996-8BD80250B239}" type="slidenum">
              <a:rPr lang="en-US" smtClean="0"/>
              <a:t>5</a:t>
            </a:fld>
            <a:endParaRPr lang="en-US"/>
          </a:p>
        </p:txBody>
      </p:sp>
    </p:spTree>
    <p:extLst>
      <p:ext uri="{BB962C8B-B14F-4D97-AF65-F5344CB8AC3E}">
        <p14:creationId xmlns:p14="http://schemas.microsoft.com/office/powerpoint/2010/main" val="1596890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Locations and catalog references run before products, stock and demand. The sync is idempotent and deliberately re-pulls fourteen days nightly because past orders can change. Test Connection diagnoses access; Sync Now runs one stage or all stages.</a:t>
            </a:r>
          </a:p>
        </p:txBody>
      </p:sp>
      <p:sp>
        <p:nvSpPr>
          <p:cNvPr id="4" name="Slide Number Placeholder 3"/>
          <p:cNvSpPr>
            <a:spLocks noGrp="1"/>
          </p:cNvSpPr>
          <p:nvPr>
            <p:ph type="sldNum" sz="quarter" idx="5"/>
          </p:nvPr>
        </p:nvSpPr>
        <p:spPr/>
        <p:txBody>
          <a:bodyPr/>
          <a:lstStyle/>
          <a:p>
            <a:fld id="{E1CF73CB-72FF-4244-9996-8BD80250B239}" type="slidenum">
              <a:rPr lang="en-US" smtClean="0"/>
              <a:t>6</a:t>
            </a:fld>
            <a:endParaRPr lang="en-US"/>
          </a:p>
        </p:txBody>
      </p:sp>
    </p:spTree>
    <p:extLst>
      <p:ext uri="{BB962C8B-B14F-4D97-AF65-F5344CB8AC3E}">
        <p14:creationId xmlns:p14="http://schemas.microsoft.com/office/powerpoint/2010/main" val="3922766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unit totals match exactly across warehouse, channel and national grains. This is the key reconciliation control. Serving and training currently use warehouse. Queries must always isolate one grain or they silently double-count the same sales.</a:t>
            </a:r>
          </a:p>
        </p:txBody>
      </p:sp>
      <p:sp>
        <p:nvSpPr>
          <p:cNvPr id="4" name="Slide Number Placeholder 3"/>
          <p:cNvSpPr>
            <a:spLocks noGrp="1"/>
          </p:cNvSpPr>
          <p:nvPr>
            <p:ph type="sldNum" sz="quarter" idx="5"/>
          </p:nvPr>
        </p:nvSpPr>
        <p:spPr/>
        <p:txBody>
          <a:bodyPr/>
          <a:lstStyle/>
          <a:p>
            <a:fld id="{E1CF73CB-72FF-4244-9996-8BD80250B239}" type="slidenum">
              <a:rPr lang="en-US" smtClean="0"/>
              <a:t>7</a:t>
            </a:fld>
            <a:endParaRPr lang="en-US"/>
          </a:p>
        </p:txBody>
      </p:sp>
    </p:spTree>
    <p:extLst>
      <p:ext uri="{BB962C8B-B14F-4D97-AF65-F5344CB8AC3E}">
        <p14:creationId xmlns:p14="http://schemas.microsoft.com/office/powerpoint/2010/main" val="20541120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original sync flattened the variant catalog. The current three-pass sync reconstructs parents and children, then removes orphans. It also collapses hundreds of product-specific size, color and capacity definitions into common axes. Duplicate SKU claims are reported rather than silently stealing ownership.</a:t>
            </a:r>
          </a:p>
        </p:txBody>
      </p:sp>
      <p:sp>
        <p:nvSpPr>
          <p:cNvPr id="4" name="Slide Number Placeholder 3"/>
          <p:cNvSpPr>
            <a:spLocks noGrp="1"/>
          </p:cNvSpPr>
          <p:nvPr>
            <p:ph type="sldNum" sz="quarter" idx="5"/>
          </p:nvPr>
        </p:nvSpPr>
        <p:spPr/>
        <p:txBody>
          <a:bodyPr/>
          <a:lstStyle/>
          <a:p>
            <a:fld id="{E1CF73CB-72FF-4244-9996-8BD80250B239}" type="slidenum">
              <a:rPr lang="en-US" smtClean="0"/>
              <a:t>8</a:t>
            </a:fld>
            <a:endParaRPr lang="en-US"/>
          </a:p>
        </p:txBody>
      </p:sp>
    </p:spTree>
    <p:extLst>
      <p:ext uri="{BB962C8B-B14F-4D97-AF65-F5344CB8AC3E}">
        <p14:creationId xmlns:p14="http://schemas.microsoft.com/office/powerpoint/2010/main" val="4002622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Reading only selling days as consecutive time overstated the forecast by 91 percent. Reconstructing the calendar reduced 51,919 forecast units to 27,952 against 27,132 actual. The raw table stays sparse; zero days are inserted at the modelling boundary.</a:t>
            </a:r>
          </a:p>
        </p:txBody>
      </p:sp>
      <p:sp>
        <p:nvSpPr>
          <p:cNvPr id="4" name="Slide Number Placeholder 3"/>
          <p:cNvSpPr>
            <a:spLocks noGrp="1"/>
          </p:cNvSpPr>
          <p:nvPr>
            <p:ph type="sldNum" sz="quarter" idx="5"/>
          </p:nvPr>
        </p:nvSpPr>
        <p:spPr/>
        <p:txBody>
          <a:bodyPr/>
          <a:lstStyle/>
          <a:p>
            <a:fld id="{E1CF73CB-72FF-4244-9996-8BD80250B239}" type="slidenum">
              <a:rPr lang="en-US" smtClean="0"/>
              <a:t>9</a:t>
            </a:fld>
            <a:endParaRPr lang="en-US"/>
          </a:p>
        </p:txBody>
      </p:sp>
    </p:spTree>
    <p:extLst>
      <p:ext uri="{BB962C8B-B14F-4D97-AF65-F5344CB8AC3E}">
        <p14:creationId xmlns:p14="http://schemas.microsoft.com/office/powerpoint/2010/main" val="5309010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dashboard now covers trade, money, stock exposure and forecast health. Revenue and units use separate charts. Stock value is retail because cost is populated for only 149 of 10,892 SKUs. Accuracy remains absent until honestly scored. Dashboard response time was reduced from 70.4 seconds to about 2.5 seconds.</a:t>
            </a:r>
          </a:p>
        </p:txBody>
      </p:sp>
      <p:sp>
        <p:nvSpPr>
          <p:cNvPr id="4" name="Slide Number Placeholder 3"/>
          <p:cNvSpPr>
            <a:spLocks noGrp="1"/>
          </p:cNvSpPr>
          <p:nvPr>
            <p:ph type="sldNum" sz="quarter" idx="5"/>
          </p:nvPr>
        </p:nvSpPr>
        <p:spPr/>
        <p:txBody>
          <a:bodyPr/>
          <a:lstStyle/>
          <a:p>
            <a:fld id="{E1CF73CB-72FF-4244-9996-8BD80250B239}" type="slidenum">
              <a:rPr lang="en-US" smtClean="0"/>
              <a:t>10</a:t>
            </a:fld>
            <a:endParaRPr lang="en-US"/>
          </a:p>
        </p:txBody>
      </p:sp>
    </p:spTree>
    <p:extLst>
      <p:ext uri="{BB962C8B-B14F-4D97-AF65-F5344CB8AC3E}">
        <p14:creationId xmlns:p14="http://schemas.microsoft.com/office/powerpoint/2010/main" val="6916322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latest logged page showed 31,365 expected units versus 30,445 previously, with a 19,314 to 44,287 range, low confidence and 533 products. The forecast line is a weekly average because the model produces one total, not a week-by-week curve.</a:t>
            </a:r>
          </a:p>
        </p:txBody>
      </p:sp>
      <p:sp>
        <p:nvSpPr>
          <p:cNvPr id="4" name="Slide Number Placeholder 3"/>
          <p:cNvSpPr>
            <a:spLocks noGrp="1"/>
          </p:cNvSpPr>
          <p:nvPr>
            <p:ph type="sldNum" sz="quarter" idx="5"/>
          </p:nvPr>
        </p:nvSpPr>
        <p:spPr/>
        <p:txBody>
          <a:bodyPr/>
          <a:lstStyle/>
          <a:p>
            <a:fld id="{E1CF73CB-72FF-4244-9996-8BD80250B239}" type="slidenum">
              <a:rPr lang="en-US" smtClean="0"/>
              <a:t>11</a:t>
            </a:fld>
            <a:endParaRPr lang="en-US"/>
          </a:p>
        </p:txBody>
      </p:sp>
    </p:spTree>
    <p:extLst>
      <p:ext uri="{BB962C8B-B14F-4D97-AF65-F5344CB8AC3E}">
        <p14:creationId xmlns:p14="http://schemas.microsoft.com/office/powerpoint/2010/main" val="3189308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Maturity determines whether the SKU uses its own history or peers. The selector uses a scored winner only with enough comparable evidence; otherwise configuration applies. Python echoes what actually ran. Accuracy is scored later and is distinct from confidence.</a:t>
            </a:r>
          </a:p>
        </p:txBody>
      </p:sp>
      <p:sp>
        <p:nvSpPr>
          <p:cNvPr id="4" name="Slide Number Placeholder 3"/>
          <p:cNvSpPr>
            <a:spLocks noGrp="1"/>
          </p:cNvSpPr>
          <p:nvPr>
            <p:ph type="sldNum" sz="quarter" idx="5"/>
          </p:nvPr>
        </p:nvSpPr>
        <p:spPr/>
        <p:txBody>
          <a:bodyPr/>
          <a:lstStyle/>
          <a:p>
            <a:fld id="{E1CF73CB-72FF-4244-9996-8BD80250B239}" type="slidenum">
              <a:rPr lang="en-US" smtClean="0"/>
              <a:t>12</a:t>
            </a:fld>
            <a:endParaRPr lang="en-US"/>
          </a:p>
        </p:txBody>
      </p:sp>
    </p:spTree>
    <p:extLst>
      <p:ext uri="{BB962C8B-B14F-4D97-AF65-F5344CB8AC3E}">
        <p14:creationId xmlns:p14="http://schemas.microsoft.com/office/powerpoint/2010/main" val="11829381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latest saved cross-model evaluation names EWMA as best at 19.6 percent WAPE. Final neural artifacts use a 365-day holdout, but those generated-data results do not justify switching. No figure here is a production accuracy promise.</a:t>
            </a:r>
          </a:p>
        </p:txBody>
      </p:sp>
      <p:sp>
        <p:nvSpPr>
          <p:cNvPr id="4" name="Slide Number Placeholder 3"/>
          <p:cNvSpPr>
            <a:spLocks noGrp="1"/>
          </p:cNvSpPr>
          <p:nvPr>
            <p:ph type="sldNum" sz="quarter" idx="5"/>
          </p:nvPr>
        </p:nvSpPr>
        <p:spPr/>
        <p:txBody>
          <a:bodyPr/>
          <a:lstStyle/>
          <a:p>
            <a:fld id="{E1CF73CB-72FF-4244-9996-8BD80250B239}" type="slidenum">
              <a:rPr lang="en-US" smtClean="0"/>
              <a:t>13</a:t>
            </a:fld>
            <a:endParaRPr lang="en-US"/>
          </a:p>
        </p:txBody>
      </p:sp>
    </p:spTree>
    <p:extLst>
      <p:ext uri="{BB962C8B-B14F-4D97-AF65-F5344CB8AC3E}">
        <p14:creationId xmlns:p14="http://schemas.microsoft.com/office/powerpoint/2010/main" val="40505638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Two indexes and date-range corrections made the wider data usable. The forecast run also outgrew the default queue listener timeout. Both job and local listener now allow 1,800 seconds; production still needs monitoring for stuck runs.</a:t>
            </a:r>
          </a:p>
        </p:txBody>
      </p:sp>
      <p:sp>
        <p:nvSpPr>
          <p:cNvPr id="4" name="Slide Number Placeholder 3"/>
          <p:cNvSpPr>
            <a:spLocks noGrp="1"/>
          </p:cNvSpPr>
          <p:nvPr>
            <p:ph type="sldNum" sz="quarter" idx="5"/>
          </p:nvPr>
        </p:nvSpPr>
        <p:spPr/>
        <p:txBody>
          <a:bodyPr/>
          <a:lstStyle/>
          <a:p>
            <a:fld id="{E1CF73CB-72FF-4244-9996-8BD80250B239}" type="slidenum">
              <a:rPr lang="en-US" smtClean="0"/>
              <a:t>14</a:t>
            </a:fld>
            <a:endParaRPr lang="en-US"/>
          </a:p>
        </p:txBody>
      </p:sp>
    </p:spTree>
    <p:extLst>
      <p:ext uri="{BB962C8B-B14F-4D97-AF65-F5344CB8AC3E}">
        <p14:creationId xmlns:p14="http://schemas.microsoft.com/office/powerpoint/2010/main" val="251858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engine iterates the old inventories table: 441 rows across 149 SKUs and six warehouses. Only four of 2,300 current forecast pairs overlap. Management must decide a stock-source mapping or redesign the recommendation grain before these become live decisions.</a:t>
            </a:r>
          </a:p>
        </p:txBody>
      </p:sp>
      <p:sp>
        <p:nvSpPr>
          <p:cNvPr id="4" name="Slide Number Placeholder 3"/>
          <p:cNvSpPr>
            <a:spLocks noGrp="1"/>
          </p:cNvSpPr>
          <p:nvPr>
            <p:ph type="sldNum" sz="quarter" idx="5"/>
          </p:nvPr>
        </p:nvSpPr>
        <p:spPr/>
        <p:txBody>
          <a:bodyPr/>
          <a:lstStyle/>
          <a:p>
            <a:fld id="{E1CF73CB-72FF-4244-9996-8BD80250B239}" type="slidenum">
              <a:rPr lang="en-US" smtClean="0"/>
              <a:t>15</a:t>
            </a:fld>
            <a:endParaRPr lang="en-US"/>
          </a:p>
        </p:txBody>
      </p:sp>
    </p:spTree>
    <p:extLst>
      <p:ext uri="{BB962C8B-B14F-4D97-AF65-F5344CB8AC3E}">
        <p14:creationId xmlns:p14="http://schemas.microsoft.com/office/powerpoint/2010/main" val="3363700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Advanced features remain implemented, but several read snapshots, movements, purchase records or sales records the BuyAbans sync does not populate. Present them as delivered capabilities and a migration roadmap, not current BuyAbans analysis.</a:t>
            </a:r>
          </a:p>
        </p:txBody>
      </p:sp>
      <p:sp>
        <p:nvSpPr>
          <p:cNvPr id="4" name="Slide Number Placeholder 3"/>
          <p:cNvSpPr>
            <a:spLocks noGrp="1"/>
          </p:cNvSpPr>
          <p:nvPr>
            <p:ph type="sldNum" sz="quarter" idx="5"/>
          </p:nvPr>
        </p:nvSpPr>
        <p:spPr/>
        <p:txBody>
          <a:bodyPr/>
          <a:lstStyle/>
          <a:p>
            <a:fld id="{E1CF73CB-72FF-4244-9996-8BD80250B239}" type="slidenum">
              <a:rPr lang="en-US" smtClean="0"/>
              <a:t>16</a:t>
            </a:fld>
            <a:endParaRPr lang="en-US"/>
          </a:p>
        </p:txBody>
      </p:sp>
    </p:spTree>
    <p:extLst>
      <p:ext uri="{BB962C8B-B14F-4D97-AF65-F5344CB8AC3E}">
        <p14:creationId xmlns:p14="http://schemas.microsoft.com/office/powerpoint/2010/main" val="18135956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sync runs at 00:05, snapshots at 00:15, scoring at 00:30 and recommendations at 00:45. Supplier capture and neural training run monthly. Cron, queue and Python supervision are production requirements.</a:t>
            </a:r>
          </a:p>
        </p:txBody>
      </p:sp>
      <p:sp>
        <p:nvSpPr>
          <p:cNvPr id="4" name="Slide Number Placeholder 3"/>
          <p:cNvSpPr>
            <a:spLocks noGrp="1"/>
          </p:cNvSpPr>
          <p:nvPr>
            <p:ph type="sldNum" sz="quarter" idx="5"/>
          </p:nvPr>
        </p:nvSpPr>
        <p:spPr/>
        <p:txBody>
          <a:bodyPr/>
          <a:lstStyle/>
          <a:p>
            <a:fld id="{E1CF73CB-72FF-4244-9996-8BD80250B239}" type="slidenum">
              <a:rPr lang="en-US" smtClean="0"/>
              <a:t>17</a:t>
            </a:fld>
            <a:endParaRPr lang="en-US"/>
          </a:p>
        </p:txBody>
      </p:sp>
    </p:spTree>
    <p:extLst>
      <p:ext uri="{BB962C8B-B14F-4D97-AF65-F5344CB8AC3E}">
        <p14:creationId xmlns:p14="http://schemas.microsoft.com/office/powerpoint/2010/main" val="42793681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Laravel authenticates users, orchestrates the sync, prepares series and owns persistence. BuyAbans is a separate OAuth-protected application. Python serves the algorithms. Production needs private networking, credentials and monitoring for both connections.</a:t>
            </a:r>
          </a:p>
        </p:txBody>
      </p:sp>
      <p:sp>
        <p:nvSpPr>
          <p:cNvPr id="4" name="Slide Number Placeholder 3"/>
          <p:cNvSpPr>
            <a:spLocks noGrp="1"/>
          </p:cNvSpPr>
          <p:nvPr>
            <p:ph type="sldNum" sz="quarter" idx="5"/>
          </p:nvPr>
        </p:nvSpPr>
        <p:spPr/>
        <p:txBody>
          <a:bodyPr/>
          <a:lstStyle/>
          <a:p>
            <a:fld id="{E1CF73CB-72FF-4244-9996-8BD80250B239}" type="slidenum">
              <a:rPr lang="en-US" smtClean="0"/>
              <a:t>18</a:t>
            </a:fld>
            <a:endParaRPr lang="en-US"/>
          </a:p>
        </p:txBody>
      </p:sp>
    </p:spTree>
    <p:extLst>
      <p:ext uri="{BB962C8B-B14F-4D97-AF65-F5344CB8AC3E}">
        <p14:creationId xmlns:p14="http://schemas.microsoft.com/office/powerpoint/2010/main" val="31293017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Authentication is strong and business data is read-only, but no permission package is installed. Every verified user has the same broad access and can trigger operations such as syncs and forecast runs. Roles and provisioning remain required.</a:t>
            </a:r>
          </a:p>
        </p:txBody>
      </p:sp>
      <p:sp>
        <p:nvSpPr>
          <p:cNvPr id="4" name="Slide Number Placeholder 3"/>
          <p:cNvSpPr>
            <a:spLocks noGrp="1"/>
          </p:cNvSpPr>
          <p:nvPr>
            <p:ph type="sldNum" sz="quarter" idx="5"/>
          </p:nvPr>
        </p:nvSpPr>
        <p:spPr/>
        <p:txBody>
          <a:bodyPr/>
          <a:lstStyle/>
          <a:p>
            <a:fld id="{E1CF73CB-72FF-4244-9996-8BD80250B239}" type="slidenum">
              <a:rPr lang="en-US" smtClean="0"/>
              <a:t>19</a:t>
            </a:fld>
            <a:endParaRPr lang="en-US"/>
          </a:p>
        </p:txBody>
      </p:sp>
    </p:spTree>
    <p:extLst>
      <p:ext uri="{BB962C8B-B14F-4D97-AF65-F5344CB8AC3E}">
        <p14:creationId xmlns:p14="http://schemas.microsoft.com/office/powerpoint/2010/main" val="32526512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latest logged Laravel suite passed 253 tests; the last fully logged Python suite passed 62. More important than file counts: all grains reconcile, demand has no unmatched SKU and the forecast run completes at widened scale. Keep the evidence boundary visible.</a:t>
            </a:r>
          </a:p>
        </p:txBody>
      </p:sp>
      <p:sp>
        <p:nvSpPr>
          <p:cNvPr id="4" name="Slide Number Placeholder 3"/>
          <p:cNvSpPr>
            <a:spLocks noGrp="1"/>
          </p:cNvSpPr>
          <p:nvPr>
            <p:ph type="sldNum" sz="quarter" idx="5"/>
          </p:nvPr>
        </p:nvSpPr>
        <p:spPr/>
        <p:txBody>
          <a:bodyPr/>
          <a:lstStyle/>
          <a:p>
            <a:fld id="{E1CF73CB-72FF-4244-9996-8BD80250B239}" type="slidenum">
              <a:rPr lang="en-US" smtClean="0"/>
              <a:t>20</a:t>
            </a:fld>
            <a:endParaRPr lang="en-US"/>
          </a:p>
        </p:txBody>
      </p:sp>
    </p:spTree>
    <p:extLst>
      <p:ext uri="{BB962C8B-B14F-4D97-AF65-F5344CB8AC3E}">
        <p14:creationId xmlns:p14="http://schemas.microsoft.com/office/powerpoint/2010/main" val="25531447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for five explicit decisions: production connectivity, stock mapping, roles, real-history model validation and production operations. Until they are owned, position the app as ready for a management demo and controlled pilot, not automated production decisions.</a:t>
            </a:r>
          </a:p>
        </p:txBody>
      </p:sp>
      <p:sp>
        <p:nvSpPr>
          <p:cNvPr id="4" name="Slide Number Placeholder 3"/>
          <p:cNvSpPr>
            <a:spLocks noGrp="1"/>
          </p:cNvSpPr>
          <p:nvPr>
            <p:ph type="sldNum" sz="quarter" idx="5"/>
          </p:nvPr>
        </p:nvSpPr>
        <p:spPr/>
        <p:txBody>
          <a:bodyPr/>
          <a:lstStyle/>
          <a:p>
            <a:fld id="{E1CF73CB-72FF-4244-9996-8BD80250B239}" type="slidenum">
              <a:rPr lang="en-US" smtClean="0"/>
              <a:t>21</a:t>
            </a:fld>
            <a:endParaRPr lang="en-US"/>
          </a:p>
        </p:txBody>
      </p:sp>
    </p:spTree>
    <p:extLst>
      <p:ext uri="{BB962C8B-B14F-4D97-AF65-F5344CB8AC3E}">
        <p14:creationId xmlns:p14="http://schemas.microsoft.com/office/powerpoint/2010/main" val="7791857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with the management outcome, prove data provenance in BuyAbans Sync, show the corrected product tree, then the forecast experience and run evidence. End on Recommendations and state the unresolved stock mapping.</a:t>
            </a:r>
          </a:p>
        </p:txBody>
      </p:sp>
      <p:sp>
        <p:nvSpPr>
          <p:cNvPr id="4" name="Slide Number Placeholder 3"/>
          <p:cNvSpPr>
            <a:spLocks noGrp="1"/>
          </p:cNvSpPr>
          <p:nvPr>
            <p:ph type="sldNum" sz="quarter" idx="5"/>
          </p:nvPr>
        </p:nvSpPr>
        <p:spPr/>
        <p:txBody>
          <a:bodyPr/>
          <a:lstStyle/>
          <a:p>
            <a:fld id="{E1CF73CB-72FF-4244-9996-8BD80250B239}" type="slidenum">
              <a:rPr lang="en-US" smtClean="0"/>
              <a:t>22</a:t>
            </a:fld>
            <a:endParaRPr lang="en-US"/>
          </a:p>
        </p:txBody>
      </p:sp>
    </p:spTree>
    <p:extLst>
      <p:ext uri="{BB962C8B-B14F-4D97-AF65-F5344CB8AC3E}">
        <p14:creationId xmlns:p14="http://schemas.microsoft.com/office/powerpoint/2010/main" val="3532350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DBF73-D7DE-5FB3-3E26-85F3F740FE5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793C70-A272-8198-0277-B4F064FB1E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34721B-E168-7C94-48D5-DA7B8057661B}"/>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5" name="Footer Placeholder 4">
            <a:extLst>
              <a:ext uri="{FF2B5EF4-FFF2-40B4-BE49-F238E27FC236}">
                <a16:creationId xmlns:a16="http://schemas.microsoft.com/office/drawing/2014/main" id="{6C5F34AD-D1FD-F5D9-B510-B4FEF445E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743B4E-1882-EFCA-D664-9B2B713D4237}"/>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29697564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70E96-F3AA-E82D-F93E-DB8B74594C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CD7100-FFDA-C9FC-3AA0-75351D3F413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97158B-4CC1-757C-77CE-C622C6DAE39B}"/>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5" name="Footer Placeholder 4">
            <a:extLst>
              <a:ext uri="{FF2B5EF4-FFF2-40B4-BE49-F238E27FC236}">
                <a16:creationId xmlns:a16="http://schemas.microsoft.com/office/drawing/2014/main" id="{7D57F0C0-633F-395C-4A98-4CCACDF2FC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0AEC4A-FE66-9338-4320-E781BB39106F}"/>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38968593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BD0AA-9E84-A8F0-646B-B07AF20170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4402A5E-D343-E811-6B09-BD0D7E4CFB0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F5147E-EA7D-002C-BAF4-3776B18D2FEE}"/>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5" name="Footer Placeholder 4">
            <a:extLst>
              <a:ext uri="{FF2B5EF4-FFF2-40B4-BE49-F238E27FC236}">
                <a16:creationId xmlns:a16="http://schemas.microsoft.com/office/drawing/2014/main" id="{16510FD6-9C6F-71D8-E719-52DED3A48A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9CEA67-18EA-EE29-9765-3135B44AAF6A}"/>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3788617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09E77-C7BD-A6B0-04A8-4BBE63EB12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BC034-886B-54E5-731A-2510F5AA12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960A73-0D1A-8C62-EFD1-C670C7A6C42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026F8B2-0E42-7335-C72C-023BB056D9D3}"/>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6" name="Footer Placeholder 5">
            <a:extLst>
              <a:ext uri="{FF2B5EF4-FFF2-40B4-BE49-F238E27FC236}">
                <a16:creationId xmlns:a16="http://schemas.microsoft.com/office/drawing/2014/main" id="{090140F7-22BF-1E42-CDEA-5B26C0A11E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C2DBD3-EF4A-B196-29E9-223915E8282D}"/>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1152706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DCC43-E40E-A65D-DADF-9251B462882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655FB0D-E3CF-0B1F-CD50-9D0D1205674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CE09270-64BD-1269-E5AB-098114913C5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4CB9B0-C125-82A9-71F7-C867A8898FE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6B36D7-9F14-DFEF-9C1C-02851C62E2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48DE79D-887F-AC63-F2AD-E783888AFF7C}"/>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8" name="Footer Placeholder 7">
            <a:extLst>
              <a:ext uri="{FF2B5EF4-FFF2-40B4-BE49-F238E27FC236}">
                <a16:creationId xmlns:a16="http://schemas.microsoft.com/office/drawing/2014/main" id="{82027C51-1777-F7A9-FF79-4A2137758AB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8E85B02-69EE-7263-832B-EE2F8003DD33}"/>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37853277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3EE1B-CE84-CF6C-8BBD-EAE1629E5DC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4899F2-5A55-3940-CE49-6B72A6CAD6C1}"/>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4" name="Footer Placeholder 3">
            <a:extLst>
              <a:ext uri="{FF2B5EF4-FFF2-40B4-BE49-F238E27FC236}">
                <a16:creationId xmlns:a16="http://schemas.microsoft.com/office/drawing/2014/main" id="{2F0DCB8F-AB36-D716-0643-ECD32B03CA6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058604F-2AE9-6DBE-2D5E-EA8AD805E27F}"/>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5767816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1DFA004-FFCD-4D6A-1C2B-38CED1011AA6}"/>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3" name="Footer Placeholder 2">
            <a:extLst>
              <a:ext uri="{FF2B5EF4-FFF2-40B4-BE49-F238E27FC236}">
                <a16:creationId xmlns:a16="http://schemas.microsoft.com/office/drawing/2014/main" id="{7E191F76-7154-C809-37D4-71F4FEB711C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4391A5-B55E-EB18-10EC-635A56A1D0B5}"/>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1009503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DC153-D601-F7DD-1421-EEF10C4187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1868A3-CE9D-34CF-683D-541F0EB265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8CE5371-98D9-F565-CE4E-634AE5D294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8E5B6A-0BE6-265E-FCFB-A670C01B17F2}"/>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6" name="Footer Placeholder 5">
            <a:extLst>
              <a:ext uri="{FF2B5EF4-FFF2-40B4-BE49-F238E27FC236}">
                <a16:creationId xmlns:a16="http://schemas.microsoft.com/office/drawing/2014/main" id="{BD59A3A1-9760-B10C-16CE-C02F703FC62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B7AE064-194E-2E1A-3ECE-D1C54FFB81C2}"/>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19756629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309B2-5CC3-F7CF-7262-AE7520C72C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7624BDA-73AD-9870-8621-BFD97A9491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9115033-1CC3-708D-1F62-D72157A743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BC5213-BA67-16DE-66AC-C3B17F73F5DB}"/>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6" name="Footer Placeholder 5">
            <a:extLst>
              <a:ext uri="{FF2B5EF4-FFF2-40B4-BE49-F238E27FC236}">
                <a16:creationId xmlns:a16="http://schemas.microsoft.com/office/drawing/2014/main" id="{7E2CA581-F7BC-DDFA-8F53-41493FDDC3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58CCEE-92DC-4538-B478-13AF82AA9EFB}"/>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36582497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C8733-3BE0-2E65-8C25-DA7FD07AC28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79964EF-8F8B-7F95-AE61-E15F7006B1B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7DDF2B-07FD-C899-1BE4-361B43AD2496}"/>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5" name="Footer Placeholder 4">
            <a:extLst>
              <a:ext uri="{FF2B5EF4-FFF2-40B4-BE49-F238E27FC236}">
                <a16:creationId xmlns:a16="http://schemas.microsoft.com/office/drawing/2014/main" id="{980E4C3A-000F-778D-4930-5EB5324B34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472E63-E453-9D83-5F3B-441889D6270D}"/>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1943670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C8E107-2CDA-C5EB-184B-1590CD6E433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1440021-94DB-2618-840A-46D9A80DB79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24762C-3609-D5EE-E7EC-88D38BA8A105}"/>
              </a:ext>
            </a:extLst>
          </p:cNvPr>
          <p:cNvSpPr>
            <a:spLocks noGrp="1"/>
          </p:cNvSpPr>
          <p:nvPr>
            <p:ph type="dt" sz="half" idx="10"/>
          </p:nvPr>
        </p:nvSpPr>
        <p:spPr/>
        <p:txBody>
          <a:bodyPr/>
          <a:lstStyle/>
          <a:p>
            <a:fld id="{F2B4CF81-0434-4A93-9544-FC01363D326B}" type="datetimeFigureOut">
              <a:rPr lang="en-US" smtClean="0"/>
              <a:t>04/Sep/2026</a:t>
            </a:fld>
            <a:endParaRPr lang="en-US"/>
          </a:p>
        </p:txBody>
      </p:sp>
      <p:sp>
        <p:nvSpPr>
          <p:cNvPr id="5" name="Footer Placeholder 4">
            <a:extLst>
              <a:ext uri="{FF2B5EF4-FFF2-40B4-BE49-F238E27FC236}">
                <a16:creationId xmlns:a16="http://schemas.microsoft.com/office/drawing/2014/main" id="{3575571E-ADCB-6875-02E5-15383653A7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1AF0CE-72F0-90A2-9D9F-6D0CDFDC1F62}"/>
              </a:ext>
            </a:extLst>
          </p:cNvPr>
          <p:cNvSpPr>
            <a:spLocks noGrp="1"/>
          </p:cNvSpPr>
          <p:nvPr>
            <p:ph type="sldNum" sz="quarter" idx="12"/>
          </p:nvPr>
        </p:nvSpPr>
        <p:spPr/>
        <p:txBody>
          <a:bodyPr/>
          <a:lstStyle/>
          <a:p>
            <a:fld id="{EE58DC43-8CAB-417B-8BBA-311C524C9710}" type="slidenum">
              <a:rPr lang="en-US" smtClean="0"/>
              <a:t>‹#›</a:t>
            </a:fld>
            <a:endParaRPr lang="en-US"/>
          </a:p>
        </p:txBody>
      </p:sp>
    </p:spTree>
    <p:extLst>
      <p:ext uri="{BB962C8B-B14F-4D97-AF65-F5344CB8AC3E}">
        <p14:creationId xmlns:p14="http://schemas.microsoft.com/office/powerpoint/2010/main" val="2464524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59B2E4-7E2C-1BE5-8D9A-293A462521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55A65BC-DCED-4CEF-4987-29AE037546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ECD139-A703-01F0-494B-6CEB365360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B4CF81-0434-4A93-9544-FC01363D326B}" type="datetimeFigureOut">
              <a:rPr lang="en-US" smtClean="0"/>
              <a:t>04/Sep/2026</a:t>
            </a:fld>
            <a:endParaRPr lang="en-US"/>
          </a:p>
        </p:txBody>
      </p:sp>
      <p:sp>
        <p:nvSpPr>
          <p:cNvPr id="5" name="Footer Placeholder 4">
            <a:extLst>
              <a:ext uri="{FF2B5EF4-FFF2-40B4-BE49-F238E27FC236}">
                <a16:creationId xmlns:a16="http://schemas.microsoft.com/office/drawing/2014/main" id="{1D9DEF23-DEAD-9F74-3366-7DB5B43DA95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B10B7A1-DDA0-25DB-3EDF-7163BA67E8B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E58DC43-8CAB-417B-8BBA-311C524C9710}" type="slidenum">
              <a:rPr lang="en-US" smtClean="0"/>
              <a:t>‹#›</a:t>
            </a:fld>
            <a:endParaRPr lang="en-US"/>
          </a:p>
        </p:txBody>
      </p:sp>
    </p:spTree>
    <p:extLst>
      <p:ext uri="{BB962C8B-B14F-4D97-AF65-F5344CB8AC3E}">
        <p14:creationId xmlns:p14="http://schemas.microsoft.com/office/powerpoint/2010/main" val="2930014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536"/>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C8488F27-BCE5-6A86-E3A8-47B2D34ACFE4}"/>
              </a:ext>
            </a:extLst>
          </p:cNvPr>
          <p:cNvSpPr/>
          <p:nvPr/>
        </p:nvSpPr>
        <p:spPr>
          <a:xfrm rot="1080000">
            <a:off x="8763000" y="-1016000"/>
            <a:ext cx="4572000" cy="3365500"/>
          </a:xfrm>
          <a:prstGeom prst="roundRect">
            <a:avLst/>
          </a:prstGeom>
          <a:solidFill>
            <a:srgbClr val="6D3EF2">
              <a:alpha val="88000"/>
            </a:srgbClr>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F19FFE08-3A73-46BC-B30D-5CC5749289EE}"/>
              </a:ext>
            </a:extLst>
          </p:cNvPr>
          <p:cNvSpPr/>
          <p:nvPr/>
        </p:nvSpPr>
        <p:spPr>
          <a:xfrm rot="-660000">
            <a:off x="9207500" y="4127500"/>
            <a:ext cx="3937000" cy="2476500"/>
          </a:xfrm>
          <a:prstGeom prst="roundRect">
            <a:avLst/>
          </a:prstGeom>
          <a:solidFill>
            <a:srgbClr val="078A99">
              <a:alpha val="82000"/>
            </a:srgbClr>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806A43C5-F57C-CD1E-FD70-97C356B4AE8E}"/>
              </a:ext>
            </a:extLst>
          </p:cNvPr>
          <p:cNvSpPr/>
          <p:nvPr/>
        </p:nvSpPr>
        <p:spPr>
          <a:xfrm>
            <a:off x="736600" y="609600"/>
            <a:ext cx="3022600" cy="3810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1449349-616C-21BD-019B-68DB293CAA7C}"/>
              </a:ext>
            </a:extLst>
          </p:cNvPr>
          <p:cNvSpPr txBox="1"/>
          <p:nvPr/>
        </p:nvSpPr>
        <p:spPr>
          <a:xfrm>
            <a:off x="736600" y="609600"/>
            <a:ext cx="3022600" cy="3810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MANAGEMENT &amp; TEAM BRIEFING</a:t>
            </a:r>
          </a:p>
        </p:txBody>
      </p:sp>
      <p:sp>
        <p:nvSpPr>
          <p:cNvPr id="6" name="TextBox 5">
            <a:extLst>
              <a:ext uri="{FF2B5EF4-FFF2-40B4-BE49-F238E27FC236}">
                <a16:creationId xmlns:a16="http://schemas.microsoft.com/office/drawing/2014/main" id="{F5D343BE-94AA-2AA4-D7B7-2F8CC4B942CC}"/>
              </a:ext>
            </a:extLst>
          </p:cNvPr>
          <p:cNvSpPr txBox="1"/>
          <p:nvPr/>
        </p:nvSpPr>
        <p:spPr>
          <a:xfrm>
            <a:off x="685800" y="1371600"/>
            <a:ext cx="8001000" cy="787400"/>
          </a:xfrm>
          <a:prstGeom prst="rect">
            <a:avLst/>
          </a:prstGeom>
          <a:noFill/>
        </p:spPr>
        <p:txBody>
          <a:bodyPr vert="horz" wrap="square" lIns="50800" tIns="25400" rIns="50800" bIns="25400" rtlCol="0" anchor="t">
            <a:noAutofit/>
          </a:bodyPr>
          <a:lstStyle/>
          <a:p>
            <a:r>
              <a:rPr lang="en-US" sz="3800" b="1">
                <a:solidFill>
                  <a:srgbClr val="FFFFFF"/>
                </a:solidFill>
                <a:latin typeface="Segoe UI" panose="020B0502040204020203" pitchFamily="34" charset="0"/>
              </a:rPr>
              <a:t>Inventory Forecasting</a:t>
            </a:r>
          </a:p>
        </p:txBody>
      </p:sp>
      <p:sp>
        <p:nvSpPr>
          <p:cNvPr id="7" name="TextBox 6">
            <a:extLst>
              <a:ext uri="{FF2B5EF4-FFF2-40B4-BE49-F238E27FC236}">
                <a16:creationId xmlns:a16="http://schemas.microsoft.com/office/drawing/2014/main" id="{4A865860-FFE4-5DA4-B844-D55ED923F7AB}"/>
              </a:ext>
            </a:extLst>
          </p:cNvPr>
          <p:cNvSpPr txBox="1"/>
          <p:nvPr/>
        </p:nvSpPr>
        <p:spPr>
          <a:xfrm>
            <a:off x="736600" y="2260600"/>
            <a:ext cx="7493000" cy="660400"/>
          </a:xfrm>
          <a:prstGeom prst="rect">
            <a:avLst/>
          </a:prstGeom>
          <a:noFill/>
        </p:spPr>
        <p:txBody>
          <a:bodyPr vert="horz" wrap="square" lIns="50800" tIns="25400" rIns="50800" bIns="25400" rtlCol="0" anchor="t">
            <a:noAutofit/>
          </a:bodyPr>
          <a:lstStyle/>
          <a:p>
            <a:r>
              <a:rPr lang="en-US" sz="2000">
                <a:solidFill>
                  <a:srgbClr val="FFFFFF"/>
                </a:solidFill>
                <a:latin typeface="Segoe UI" panose="020B0502040204020203" pitchFamily="34" charset="0"/>
              </a:rPr>
              <a:t>Read-only demand prediction powered by BuyAbans data</a:t>
            </a:r>
          </a:p>
        </p:txBody>
      </p:sp>
      <p:cxnSp>
        <p:nvCxnSpPr>
          <p:cNvPr id="8" name="Straight Connector 7">
            <a:extLst>
              <a:ext uri="{FF2B5EF4-FFF2-40B4-BE49-F238E27FC236}">
                <a16:creationId xmlns:a16="http://schemas.microsoft.com/office/drawing/2014/main" id="{999B9A76-5B2A-6132-B010-07C4B11CBB03}"/>
              </a:ext>
            </a:extLst>
          </p:cNvPr>
          <p:cNvCxnSpPr/>
          <p:nvPr/>
        </p:nvCxnSpPr>
        <p:spPr>
          <a:xfrm>
            <a:off x="762000" y="3352800"/>
            <a:ext cx="9626600" cy="0"/>
          </a:xfrm>
          <a:prstGeom prst="line">
            <a:avLst/>
          </a:prstGeom>
          <a:ln w="38100">
            <a:solidFill>
              <a:srgbClr val="078A99"/>
            </a:solidFill>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3DBC30E1-047F-CAEC-9F2D-7AD15169E1C1}"/>
              </a:ext>
            </a:extLst>
          </p:cNvPr>
          <p:cNvSpPr/>
          <p:nvPr/>
        </p:nvSpPr>
        <p:spPr>
          <a:xfrm>
            <a:off x="762000" y="37338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523E51-243D-AAFB-52D6-3332899375CD}"/>
              </a:ext>
            </a:extLst>
          </p:cNvPr>
          <p:cNvSpPr txBox="1"/>
          <p:nvPr/>
        </p:nvSpPr>
        <p:spPr>
          <a:xfrm>
            <a:off x="762000" y="37338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01</a:t>
            </a:r>
          </a:p>
        </p:txBody>
      </p:sp>
      <p:sp>
        <p:nvSpPr>
          <p:cNvPr id="11" name="TextBox 10">
            <a:extLst>
              <a:ext uri="{FF2B5EF4-FFF2-40B4-BE49-F238E27FC236}">
                <a16:creationId xmlns:a16="http://schemas.microsoft.com/office/drawing/2014/main" id="{C5EB924F-5222-F651-45AA-DC6184C21FAB}"/>
              </a:ext>
            </a:extLst>
          </p:cNvPr>
          <p:cNvSpPr txBox="1"/>
          <p:nvPr/>
        </p:nvSpPr>
        <p:spPr>
          <a:xfrm>
            <a:off x="1308100" y="3733800"/>
            <a:ext cx="1841500" cy="279400"/>
          </a:xfrm>
          <a:prstGeom prst="rect">
            <a:avLst/>
          </a:prstGeom>
          <a:noFill/>
        </p:spPr>
        <p:txBody>
          <a:bodyPr vert="horz" wrap="square" lIns="50800" tIns="25400" rIns="50800" bIns="25400" rtlCol="0" anchor="t">
            <a:noAutofit/>
          </a:bodyPr>
          <a:lstStyle/>
          <a:p>
            <a:r>
              <a:rPr lang="en-US" sz="1100" b="1">
                <a:solidFill>
                  <a:srgbClr val="FFFFFF"/>
                </a:solidFill>
                <a:latin typeface="Segoe UI" panose="020B0502040204020203" pitchFamily="34" charset="0"/>
              </a:rPr>
              <a:t>CONNECT</a:t>
            </a:r>
          </a:p>
        </p:txBody>
      </p:sp>
      <p:sp>
        <p:nvSpPr>
          <p:cNvPr id="12" name="TextBox 11">
            <a:extLst>
              <a:ext uri="{FF2B5EF4-FFF2-40B4-BE49-F238E27FC236}">
                <a16:creationId xmlns:a16="http://schemas.microsoft.com/office/drawing/2014/main" id="{D1022735-C773-800F-D0E5-2EA85EC8C8BA}"/>
              </a:ext>
            </a:extLst>
          </p:cNvPr>
          <p:cNvSpPr txBox="1"/>
          <p:nvPr/>
        </p:nvSpPr>
        <p:spPr>
          <a:xfrm>
            <a:off x="1308100" y="4051300"/>
            <a:ext cx="1905000" cy="482600"/>
          </a:xfrm>
          <a:prstGeom prst="rect">
            <a:avLst/>
          </a:prstGeom>
          <a:noFill/>
        </p:spPr>
        <p:txBody>
          <a:bodyPr vert="horz" wrap="square" lIns="50800" tIns="25400" rIns="50800" bIns="25400" rtlCol="0" anchor="t">
            <a:noAutofit/>
          </a:bodyPr>
          <a:lstStyle/>
          <a:p>
            <a:r>
              <a:rPr lang="en-US" sz="950">
                <a:solidFill>
                  <a:srgbClr val="98A2B3"/>
                </a:solidFill>
                <a:latin typeface="Segoe UI" panose="020B0502040204020203" pitchFamily="34" charset="0"/>
              </a:rPr>
              <a:t>Authenticated BuyAbans API</a:t>
            </a:r>
          </a:p>
        </p:txBody>
      </p:sp>
      <p:sp>
        <p:nvSpPr>
          <p:cNvPr id="13" name="Oval 12">
            <a:extLst>
              <a:ext uri="{FF2B5EF4-FFF2-40B4-BE49-F238E27FC236}">
                <a16:creationId xmlns:a16="http://schemas.microsoft.com/office/drawing/2014/main" id="{99FD986F-7A5A-E32A-AF51-A0EFA37D6C28}"/>
              </a:ext>
            </a:extLst>
          </p:cNvPr>
          <p:cNvSpPr/>
          <p:nvPr/>
        </p:nvSpPr>
        <p:spPr>
          <a:xfrm>
            <a:off x="3365500" y="37338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CC7A44D-10B5-DC99-7A1D-32B67F0F781B}"/>
              </a:ext>
            </a:extLst>
          </p:cNvPr>
          <p:cNvSpPr txBox="1"/>
          <p:nvPr/>
        </p:nvSpPr>
        <p:spPr>
          <a:xfrm>
            <a:off x="3365500" y="37338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02</a:t>
            </a:r>
          </a:p>
        </p:txBody>
      </p:sp>
      <p:sp>
        <p:nvSpPr>
          <p:cNvPr id="15" name="TextBox 14">
            <a:extLst>
              <a:ext uri="{FF2B5EF4-FFF2-40B4-BE49-F238E27FC236}">
                <a16:creationId xmlns:a16="http://schemas.microsoft.com/office/drawing/2014/main" id="{7EF8984B-302F-40F9-B042-848DB9631ECC}"/>
              </a:ext>
            </a:extLst>
          </p:cNvPr>
          <p:cNvSpPr txBox="1"/>
          <p:nvPr/>
        </p:nvSpPr>
        <p:spPr>
          <a:xfrm>
            <a:off x="3911600" y="3733800"/>
            <a:ext cx="1841500" cy="279400"/>
          </a:xfrm>
          <a:prstGeom prst="rect">
            <a:avLst/>
          </a:prstGeom>
          <a:noFill/>
        </p:spPr>
        <p:txBody>
          <a:bodyPr vert="horz" wrap="square" lIns="50800" tIns="25400" rIns="50800" bIns="25400" rtlCol="0" anchor="t">
            <a:noAutofit/>
          </a:bodyPr>
          <a:lstStyle/>
          <a:p>
            <a:r>
              <a:rPr lang="en-US" sz="1100" b="1">
                <a:solidFill>
                  <a:srgbClr val="FFFFFF"/>
                </a:solidFill>
                <a:latin typeface="Segoe UI" panose="020B0502040204020203" pitchFamily="34" charset="0"/>
              </a:rPr>
              <a:t>CURATE</a:t>
            </a:r>
          </a:p>
        </p:txBody>
      </p:sp>
      <p:sp>
        <p:nvSpPr>
          <p:cNvPr id="16" name="TextBox 15">
            <a:extLst>
              <a:ext uri="{FF2B5EF4-FFF2-40B4-BE49-F238E27FC236}">
                <a16:creationId xmlns:a16="http://schemas.microsoft.com/office/drawing/2014/main" id="{A98ADB6C-C83E-6880-9035-7CAD3A5D27B1}"/>
              </a:ext>
            </a:extLst>
          </p:cNvPr>
          <p:cNvSpPr txBox="1"/>
          <p:nvPr/>
        </p:nvSpPr>
        <p:spPr>
          <a:xfrm>
            <a:off x="3911600" y="4051300"/>
            <a:ext cx="1905000" cy="482600"/>
          </a:xfrm>
          <a:prstGeom prst="rect">
            <a:avLst/>
          </a:prstGeom>
          <a:noFill/>
        </p:spPr>
        <p:txBody>
          <a:bodyPr vert="horz" wrap="square" lIns="50800" tIns="25400" rIns="50800" bIns="25400" rtlCol="0" anchor="t">
            <a:noAutofit/>
          </a:bodyPr>
          <a:lstStyle/>
          <a:p>
            <a:r>
              <a:rPr lang="en-US" sz="950">
                <a:solidFill>
                  <a:srgbClr val="98A2B3"/>
                </a:solidFill>
                <a:latin typeface="Segoe UI" panose="020B0502040204020203" pitchFamily="34" charset="0"/>
              </a:rPr>
              <a:t>Sync, normalize and reconcile</a:t>
            </a:r>
          </a:p>
        </p:txBody>
      </p:sp>
      <p:sp>
        <p:nvSpPr>
          <p:cNvPr id="17" name="Oval 16">
            <a:extLst>
              <a:ext uri="{FF2B5EF4-FFF2-40B4-BE49-F238E27FC236}">
                <a16:creationId xmlns:a16="http://schemas.microsoft.com/office/drawing/2014/main" id="{C53C30D5-CD83-E1F8-5479-E459323EDAA8}"/>
              </a:ext>
            </a:extLst>
          </p:cNvPr>
          <p:cNvSpPr/>
          <p:nvPr/>
        </p:nvSpPr>
        <p:spPr>
          <a:xfrm>
            <a:off x="5969000" y="37338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BE53A054-0662-40CE-5D5B-FBB878063AD2}"/>
              </a:ext>
            </a:extLst>
          </p:cNvPr>
          <p:cNvSpPr txBox="1"/>
          <p:nvPr/>
        </p:nvSpPr>
        <p:spPr>
          <a:xfrm>
            <a:off x="5969000" y="37338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03</a:t>
            </a:r>
          </a:p>
        </p:txBody>
      </p:sp>
      <p:sp>
        <p:nvSpPr>
          <p:cNvPr id="19" name="TextBox 18">
            <a:extLst>
              <a:ext uri="{FF2B5EF4-FFF2-40B4-BE49-F238E27FC236}">
                <a16:creationId xmlns:a16="http://schemas.microsoft.com/office/drawing/2014/main" id="{930127B1-E80A-491A-217F-FB45365DF3AB}"/>
              </a:ext>
            </a:extLst>
          </p:cNvPr>
          <p:cNvSpPr txBox="1"/>
          <p:nvPr/>
        </p:nvSpPr>
        <p:spPr>
          <a:xfrm>
            <a:off x="6515100" y="3733800"/>
            <a:ext cx="1841500" cy="279400"/>
          </a:xfrm>
          <a:prstGeom prst="rect">
            <a:avLst/>
          </a:prstGeom>
          <a:noFill/>
        </p:spPr>
        <p:txBody>
          <a:bodyPr vert="horz" wrap="square" lIns="50800" tIns="25400" rIns="50800" bIns="25400" rtlCol="0" anchor="t">
            <a:noAutofit/>
          </a:bodyPr>
          <a:lstStyle/>
          <a:p>
            <a:r>
              <a:rPr lang="en-US" sz="1100" b="1">
                <a:solidFill>
                  <a:srgbClr val="FFFFFF"/>
                </a:solidFill>
                <a:latin typeface="Segoe UI" panose="020B0502040204020203" pitchFamily="34" charset="0"/>
              </a:rPr>
              <a:t>PREDICT</a:t>
            </a:r>
          </a:p>
        </p:txBody>
      </p:sp>
      <p:sp>
        <p:nvSpPr>
          <p:cNvPr id="20" name="TextBox 19">
            <a:extLst>
              <a:ext uri="{FF2B5EF4-FFF2-40B4-BE49-F238E27FC236}">
                <a16:creationId xmlns:a16="http://schemas.microsoft.com/office/drawing/2014/main" id="{010275AB-0344-1E8B-FDC7-CA664089F693}"/>
              </a:ext>
            </a:extLst>
          </p:cNvPr>
          <p:cNvSpPr txBox="1"/>
          <p:nvPr/>
        </p:nvSpPr>
        <p:spPr>
          <a:xfrm>
            <a:off x="6515100" y="4051300"/>
            <a:ext cx="1905000" cy="482600"/>
          </a:xfrm>
          <a:prstGeom prst="rect">
            <a:avLst/>
          </a:prstGeom>
          <a:noFill/>
        </p:spPr>
        <p:txBody>
          <a:bodyPr vert="horz" wrap="square" lIns="50800" tIns="25400" rIns="50800" bIns="25400" rtlCol="0" anchor="t">
            <a:noAutofit/>
          </a:bodyPr>
          <a:lstStyle/>
          <a:p>
            <a:r>
              <a:rPr lang="en-US" sz="950">
                <a:solidFill>
                  <a:srgbClr val="98A2B3"/>
                </a:solidFill>
                <a:latin typeface="Segoe UI" panose="020B0502040204020203" pitchFamily="34" charset="0"/>
              </a:rPr>
              <a:t>Dense series + four algorithms</a:t>
            </a:r>
          </a:p>
        </p:txBody>
      </p:sp>
      <p:sp>
        <p:nvSpPr>
          <p:cNvPr id="21" name="Oval 20">
            <a:extLst>
              <a:ext uri="{FF2B5EF4-FFF2-40B4-BE49-F238E27FC236}">
                <a16:creationId xmlns:a16="http://schemas.microsoft.com/office/drawing/2014/main" id="{33A12E0D-A7CB-CA51-BD71-F8472154DAF1}"/>
              </a:ext>
            </a:extLst>
          </p:cNvPr>
          <p:cNvSpPr/>
          <p:nvPr/>
        </p:nvSpPr>
        <p:spPr>
          <a:xfrm>
            <a:off x="8572500" y="3733800"/>
            <a:ext cx="431800" cy="4318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B8B753C-578D-C431-835D-9768AED79922}"/>
              </a:ext>
            </a:extLst>
          </p:cNvPr>
          <p:cNvSpPr txBox="1"/>
          <p:nvPr/>
        </p:nvSpPr>
        <p:spPr>
          <a:xfrm>
            <a:off x="8572500" y="37338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04</a:t>
            </a:r>
          </a:p>
        </p:txBody>
      </p:sp>
      <p:sp>
        <p:nvSpPr>
          <p:cNvPr id="23" name="TextBox 22">
            <a:extLst>
              <a:ext uri="{FF2B5EF4-FFF2-40B4-BE49-F238E27FC236}">
                <a16:creationId xmlns:a16="http://schemas.microsoft.com/office/drawing/2014/main" id="{95149A2A-68ED-24A9-EAE4-96852972625D}"/>
              </a:ext>
            </a:extLst>
          </p:cNvPr>
          <p:cNvSpPr txBox="1"/>
          <p:nvPr/>
        </p:nvSpPr>
        <p:spPr>
          <a:xfrm>
            <a:off x="9118600" y="3733800"/>
            <a:ext cx="1841500" cy="279400"/>
          </a:xfrm>
          <a:prstGeom prst="rect">
            <a:avLst/>
          </a:prstGeom>
          <a:noFill/>
        </p:spPr>
        <p:txBody>
          <a:bodyPr vert="horz" wrap="square" lIns="50800" tIns="25400" rIns="50800" bIns="25400" rtlCol="0" anchor="t">
            <a:noAutofit/>
          </a:bodyPr>
          <a:lstStyle/>
          <a:p>
            <a:r>
              <a:rPr lang="en-US" sz="1100" b="1">
                <a:solidFill>
                  <a:srgbClr val="FFFFFF"/>
                </a:solidFill>
                <a:latin typeface="Segoe UI" panose="020B0502040204020203" pitchFamily="34" charset="0"/>
              </a:rPr>
              <a:t>DECIDE</a:t>
            </a:r>
          </a:p>
        </p:txBody>
      </p:sp>
      <p:sp>
        <p:nvSpPr>
          <p:cNvPr id="24" name="TextBox 23">
            <a:extLst>
              <a:ext uri="{FF2B5EF4-FFF2-40B4-BE49-F238E27FC236}">
                <a16:creationId xmlns:a16="http://schemas.microsoft.com/office/drawing/2014/main" id="{A7D9FDF1-B2AA-12FB-5B0E-F10E01C8D752}"/>
              </a:ext>
            </a:extLst>
          </p:cNvPr>
          <p:cNvSpPr txBox="1"/>
          <p:nvPr/>
        </p:nvSpPr>
        <p:spPr>
          <a:xfrm>
            <a:off x="9118600" y="4051300"/>
            <a:ext cx="1905000" cy="482600"/>
          </a:xfrm>
          <a:prstGeom prst="rect">
            <a:avLst/>
          </a:prstGeom>
          <a:noFill/>
        </p:spPr>
        <p:txBody>
          <a:bodyPr vert="horz" wrap="square" lIns="50800" tIns="25400" rIns="50800" bIns="25400" rtlCol="0" anchor="t">
            <a:noAutofit/>
          </a:bodyPr>
          <a:lstStyle/>
          <a:p>
            <a:r>
              <a:rPr lang="en-US" sz="950">
                <a:solidFill>
                  <a:srgbClr val="98A2B3"/>
                </a:solidFill>
                <a:latin typeface="Segoe UI" panose="020B0502040204020203" pitchFamily="34" charset="0"/>
              </a:rPr>
              <a:t>Explainable human review</a:t>
            </a:r>
          </a:p>
        </p:txBody>
      </p:sp>
      <p:sp>
        <p:nvSpPr>
          <p:cNvPr id="25" name="Rectangle: Rounded Corners 24">
            <a:extLst>
              <a:ext uri="{FF2B5EF4-FFF2-40B4-BE49-F238E27FC236}">
                <a16:creationId xmlns:a16="http://schemas.microsoft.com/office/drawing/2014/main" id="{30D0B922-8E9C-AE18-4821-8569589127F3}"/>
              </a:ext>
            </a:extLst>
          </p:cNvPr>
          <p:cNvSpPr/>
          <p:nvPr/>
        </p:nvSpPr>
        <p:spPr>
          <a:xfrm>
            <a:off x="736600" y="5295900"/>
            <a:ext cx="2336800" cy="4064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797728F-D388-56F3-8628-FF22859A6F70}"/>
              </a:ext>
            </a:extLst>
          </p:cNvPr>
          <p:cNvSpPr txBox="1"/>
          <p:nvPr/>
        </p:nvSpPr>
        <p:spPr>
          <a:xfrm>
            <a:off x="736600" y="5295900"/>
            <a:ext cx="2336800" cy="406400"/>
          </a:xfrm>
          <a:prstGeom prst="rect">
            <a:avLst/>
          </a:prstGeom>
          <a:noFill/>
        </p:spPr>
        <p:txBody>
          <a:bodyPr vert="horz" wrap="square" lIns="50800" tIns="25400" rIns="50800" bIns="25400" rtlCol="0" anchor="ctr">
            <a:noAutofit/>
          </a:bodyPr>
          <a:lstStyle/>
          <a:p>
            <a:pPr algn="ctr"/>
            <a:r>
              <a:rPr lang="en-US" sz="950" b="1">
                <a:solidFill>
                  <a:srgbClr val="FFFFFF"/>
                </a:solidFill>
                <a:latin typeface="Segoe UI" panose="020B0502040204020203" pitchFamily="34" charset="0"/>
              </a:rPr>
              <a:t>Read-only business data</a:t>
            </a:r>
          </a:p>
        </p:txBody>
      </p:sp>
      <p:sp>
        <p:nvSpPr>
          <p:cNvPr id="27" name="Rectangle: Rounded Corners 26">
            <a:extLst>
              <a:ext uri="{FF2B5EF4-FFF2-40B4-BE49-F238E27FC236}">
                <a16:creationId xmlns:a16="http://schemas.microsoft.com/office/drawing/2014/main" id="{AA61E1B3-7E84-E3DF-9539-674071F92017}"/>
              </a:ext>
            </a:extLst>
          </p:cNvPr>
          <p:cNvSpPr/>
          <p:nvPr/>
        </p:nvSpPr>
        <p:spPr>
          <a:xfrm>
            <a:off x="3225800" y="5295900"/>
            <a:ext cx="2590800" cy="4064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F2EA0F3F-55C1-3E89-0465-70F0F47857AD}"/>
              </a:ext>
            </a:extLst>
          </p:cNvPr>
          <p:cNvSpPr txBox="1"/>
          <p:nvPr/>
        </p:nvSpPr>
        <p:spPr>
          <a:xfrm>
            <a:off x="3225800" y="5295900"/>
            <a:ext cx="2590800" cy="406400"/>
          </a:xfrm>
          <a:prstGeom prst="rect">
            <a:avLst/>
          </a:prstGeom>
          <a:noFill/>
        </p:spPr>
        <p:txBody>
          <a:bodyPr vert="horz" wrap="square" lIns="50800" tIns="25400" rIns="50800" bIns="25400" rtlCol="0" anchor="ctr">
            <a:noAutofit/>
          </a:bodyPr>
          <a:lstStyle/>
          <a:p>
            <a:pPr algn="ctr"/>
            <a:r>
              <a:rPr lang="en-US" sz="950" b="1">
                <a:solidFill>
                  <a:srgbClr val="FFFFFF"/>
                </a:solidFill>
                <a:latin typeface="Segoe UI" panose="020B0502040204020203" pitchFamily="34" charset="0"/>
              </a:rPr>
              <a:t>All 3 demand grains synced</a:t>
            </a:r>
          </a:p>
        </p:txBody>
      </p:sp>
      <p:sp>
        <p:nvSpPr>
          <p:cNvPr id="29" name="Rectangle: Rounded Corners 28">
            <a:extLst>
              <a:ext uri="{FF2B5EF4-FFF2-40B4-BE49-F238E27FC236}">
                <a16:creationId xmlns:a16="http://schemas.microsoft.com/office/drawing/2014/main" id="{21BE0EC9-C794-6F0A-D05C-EEBF7C3748BE}"/>
              </a:ext>
            </a:extLst>
          </p:cNvPr>
          <p:cNvSpPr/>
          <p:nvPr/>
        </p:nvSpPr>
        <p:spPr>
          <a:xfrm>
            <a:off x="5969000" y="5295900"/>
            <a:ext cx="2794000" cy="4064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23B3F7CC-5B62-F91F-AC47-FB00A8D21B40}"/>
              </a:ext>
            </a:extLst>
          </p:cNvPr>
          <p:cNvSpPr txBox="1"/>
          <p:nvPr/>
        </p:nvSpPr>
        <p:spPr>
          <a:xfrm>
            <a:off x="5969000" y="5295900"/>
            <a:ext cx="2794000" cy="406400"/>
          </a:xfrm>
          <a:prstGeom prst="rect">
            <a:avLst/>
          </a:prstGeom>
          <a:noFill/>
        </p:spPr>
        <p:txBody>
          <a:bodyPr vert="horz" wrap="square" lIns="50800" tIns="25400" rIns="50800" bIns="25400" rtlCol="0" anchor="ctr">
            <a:noAutofit/>
          </a:bodyPr>
          <a:lstStyle/>
          <a:p>
            <a:pPr algn="ctr"/>
            <a:r>
              <a:rPr lang="en-US" sz="950" b="1">
                <a:solidFill>
                  <a:srgbClr val="FFFFFF"/>
                </a:solidFill>
                <a:latin typeface="Segoe UI" panose="020B0502040204020203" pitchFamily="34" charset="0"/>
              </a:rPr>
              <a:t>EWMA remains the default</a:t>
            </a:r>
          </a:p>
        </p:txBody>
      </p:sp>
      <p:sp>
        <p:nvSpPr>
          <p:cNvPr id="31" name="TextBox 30">
            <a:extLst>
              <a:ext uri="{FF2B5EF4-FFF2-40B4-BE49-F238E27FC236}">
                <a16:creationId xmlns:a16="http://schemas.microsoft.com/office/drawing/2014/main" id="{45ECAC04-94F1-7AD7-B9F3-EC843199CEDB}"/>
              </a:ext>
            </a:extLst>
          </p:cNvPr>
          <p:cNvSpPr txBox="1"/>
          <p:nvPr/>
        </p:nvSpPr>
        <p:spPr>
          <a:xfrm>
            <a:off x="762000" y="6248400"/>
            <a:ext cx="3048000" cy="254000"/>
          </a:xfrm>
          <a:prstGeom prst="rect">
            <a:avLst/>
          </a:prstGeom>
          <a:noFill/>
        </p:spPr>
        <p:txBody>
          <a:bodyPr vert="horz" wrap="square" lIns="50800" tIns="25400" rIns="50800" bIns="25400" rtlCol="0" anchor="t">
            <a:noAutofit/>
          </a:bodyPr>
          <a:lstStyle/>
          <a:p>
            <a:r>
              <a:rPr lang="en-US" sz="900">
                <a:solidFill>
                  <a:srgbClr val="98A2B3"/>
                </a:solidFill>
                <a:latin typeface="Segoe UI" panose="020B0502040204020203" pitchFamily="34" charset="0"/>
              </a:rPr>
              <a:t>04 September 2026</a:t>
            </a:r>
          </a:p>
        </p:txBody>
      </p:sp>
    </p:spTree>
    <p:extLst>
      <p:ext uri="{BB962C8B-B14F-4D97-AF65-F5344CB8AC3E}">
        <p14:creationId xmlns:p14="http://schemas.microsoft.com/office/powerpoint/2010/main" val="37219180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C1D8F5-1CB0-69A1-812D-FC5E03737F51}"/>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EXECUTIVE SUMMARY</a:t>
            </a:r>
          </a:p>
        </p:txBody>
      </p:sp>
      <p:sp>
        <p:nvSpPr>
          <p:cNvPr id="3" name="TextBox 2">
            <a:extLst>
              <a:ext uri="{FF2B5EF4-FFF2-40B4-BE49-F238E27FC236}">
                <a16:creationId xmlns:a16="http://schemas.microsoft.com/office/drawing/2014/main" id="{146784D2-49BE-92F2-D33D-EEC35709B51C}"/>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The system now has a clear job</a:t>
            </a:r>
          </a:p>
        </p:txBody>
      </p:sp>
      <p:sp>
        <p:nvSpPr>
          <p:cNvPr id="4" name="TextBox 3">
            <a:extLst>
              <a:ext uri="{FF2B5EF4-FFF2-40B4-BE49-F238E27FC236}">
                <a16:creationId xmlns:a16="http://schemas.microsoft.com/office/drawing/2014/main" id="{8533BF2C-38AF-5787-8124-3E6EDD8A87B9}"/>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Convert back-office data into management visibility and demand forecasts without creating a second operational truth.</a:t>
            </a:r>
          </a:p>
        </p:txBody>
      </p:sp>
      <p:sp>
        <p:nvSpPr>
          <p:cNvPr id="5" name="Rectangle: Rounded Corners 4">
            <a:extLst>
              <a:ext uri="{FF2B5EF4-FFF2-40B4-BE49-F238E27FC236}">
                <a16:creationId xmlns:a16="http://schemas.microsoft.com/office/drawing/2014/main" id="{FB68620E-B915-16EA-BD77-6A967C7E6E6C}"/>
              </a:ext>
            </a:extLst>
          </p:cNvPr>
          <p:cNvSpPr/>
          <p:nvPr/>
        </p:nvSpPr>
        <p:spPr>
          <a:xfrm>
            <a:off x="609600" y="1803400"/>
            <a:ext cx="2514600" cy="31750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980EB914-172D-162B-1A23-0C5B7D160904}"/>
              </a:ext>
            </a:extLst>
          </p:cNvPr>
          <p:cNvSpPr/>
          <p:nvPr/>
        </p:nvSpPr>
        <p:spPr>
          <a:xfrm>
            <a:off x="1651000" y="20066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D1308FF-B221-662B-B56A-F8B57B2210E0}"/>
              </a:ext>
            </a:extLst>
          </p:cNvPr>
          <p:cNvSpPr txBox="1"/>
          <p:nvPr/>
        </p:nvSpPr>
        <p:spPr>
          <a:xfrm>
            <a:off x="1651000" y="20066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1</a:t>
            </a:r>
          </a:p>
        </p:txBody>
      </p:sp>
      <p:sp>
        <p:nvSpPr>
          <p:cNvPr id="8" name="TextBox 7">
            <a:extLst>
              <a:ext uri="{FF2B5EF4-FFF2-40B4-BE49-F238E27FC236}">
                <a16:creationId xmlns:a16="http://schemas.microsoft.com/office/drawing/2014/main" id="{5A573D5E-0785-9DDF-61D5-3F3FA2A427F9}"/>
              </a:ext>
            </a:extLst>
          </p:cNvPr>
          <p:cNvSpPr txBox="1"/>
          <p:nvPr/>
        </p:nvSpPr>
        <p:spPr>
          <a:xfrm>
            <a:off x="711200" y="2527300"/>
            <a:ext cx="2311400" cy="393700"/>
          </a:xfrm>
          <a:prstGeom prst="rect">
            <a:avLst/>
          </a:prstGeom>
          <a:noFill/>
        </p:spPr>
        <p:txBody>
          <a:bodyPr vert="horz" wrap="square" lIns="50800" tIns="25400" rIns="50800" bIns="25400" rtlCol="0" anchor="t">
            <a:noAutofit/>
          </a:bodyPr>
          <a:lstStyle/>
          <a:p>
            <a:pPr algn="ctr"/>
            <a:r>
              <a:rPr lang="en-US" sz="1100" b="1">
                <a:solidFill>
                  <a:srgbClr val="1769E0"/>
                </a:solidFill>
                <a:latin typeface="Segoe UI" panose="020B0502040204020203" pitchFamily="34" charset="0"/>
              </a:rPr>
              <a:t>READ</a:t>
            </a:r>
          </a:p>
        </p:txBody>
      </p:sp>
      <p:sp>
        <p:nvSpPr>
          <p:cNvPr id="9" name="TextBox 8">
            <a:extLst>
              <a:ext uri="{FF2B5EF4-FFF2-40B4-BE49-F238E27FC236}">
                <a16:creationId xmlns:a16="http://schemas.microsoft.com/office/drawing/2014/main" id="{7297713C-2957-8D32-4A9E-1D194A75FA8A}"/>
              </a:ext>
            </a:extLst>
          </p:cNvPr>
          <p:cNvSpPr txBox="1"/>
          <p:nvPr/>
        </p:nvSpPr>
        <p:spPr>
          <a:xfrm>
            <a:off x="762000" y="3022600"/>
            <a:ext cx="2209800" cy="1803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Catalog, current stock and order history arrive through authenticated GET endpoints.</a:t>
            </a:r>
          </a:p>
        </p:txBody>
      </p:sp>
      <p:sp>
        <p:nvSpPr>
          <p:cNvPr id="10" name="Rectangle: Rounded Corners 9">
            <a:extLst>
              <a:ext uri="{FF2B5EF4-FFF2-40B4-BE49-F238E27FC236}">
                <a16:creationId xmlns:a16="http://schemas.microsoft.com/office/drawing/2014/main" id="{155FF92C-D3D8-3868-EBCB-1A3A0E192845}"/>
              </a:ext>
            </a:extLst>
          </p:cNvPr>
          <p:cNvSpPr/>
          <p:nvPr/>
        </p:nvSpPr>
        <p:spPr>
          <a:xfrm>
            <a:off x="3429000" y="1803400"/>
            <a:ext cx="2514600" cy="31750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56AB13C6-DB27-01EA-4688-66523E7D6027}"/>
              </a:ext>
            </a:extLst>
          </p:cNvPr>
          <p:cNvSpPr/>
          <p:nvPr/>
        </p:nvSpPr>
        <p:spPr>
          <a:xfrm>
            <a:off x="4470400" y="20066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F327FAA5-F280-3191-C5D0-318A92272053}"/>
              </a:ext>
            </a:extLst>
          </p:cNvPr>
          <p:cNvSpPr txBox="1"/>
          <p:nvPr/>
        </p:nvSpPr>
        <p:spPr>
          <a:xfrm>
            <a:off x="4470400" y="20066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2</a:t>
            </a:r>
          </a:p>
        </p:txBody>
      </p:sp>
      <p:sp>
        <p:nvSpPr>
          <p:cNvPr id="13" name="TextBox 12">
            <a:extLst>
              <a:ext uri="{FF2B5EF4-FFF2-40B4-BE49-F238E27FC236}">
                <a16:creationId xmlns:a16="http://schemas.microsoft.com/office/drawing/2014/main" id="{A4B76FBC-5E63-9A7C-0131-86E164339376}"/>
              </a:ext>
            </a:extLst>
          </p:cNvPr>
          <p:cNvSpPr txBox="1"/>
          <p:nvPr/>
        </p:nvSpPr>
        <p:spPr>
          <a:xfrm>
            <a:off x="3530600" y="2527300"/>
            <a:ext cx="2311400" cy="393700"/>
          </a:xfrm>
          <a:prstGeom prst="rect">
            <a:avLst/>
          </a:prstGeom>
          <a:noFill/>
        </p:spPr>
        <p:txBody>
          <a:bodyPr vert="horz" wrap="square" lIns="50800" tIns="25400" rIns="50800" bIns="25400" rtlCol="0" anchor="t">
            <a:noAutofit/>
          </a:bodyPr>
          <a:lstStyle/>
          <a:p>
            <a:pPr algn="ctr"/>
            <a:r>
              <a:rPr lang="en-US" sz="1100" b="1">
                <a:solidFill>
                  <a:srgbClr val="078A99"/>
                </a:solidFill>
                <a:latin typeface="Segoe UI" panose="020B0502040204020203" pitchFamily="34" charset="0"/>
              </a:rPr>
              <a:t>TRUST</a:t>
            </a:r>
          </a:p>
        </p:txBody>
      </p:sp>
      <p:sp>
        <p:nvSpPr>
          <p:cNvPr id="14" name="TextBox 13">
            <a:extLst>
              <a:ext uri="{FF2B5EF4-FFF2-40B4-BE49-F238E27FC236}">
                <a16:creationId xmlns:a16="http://schemas.microsoft.com/office/drawing/2014/main" id="{180FB131-F26F-2B46-474B-06B955195B90}"/>
              </a:ext>
            </a:extLst>
          </p:cNvPr>
          <p:cNvSpPr txBox="1"/>
          <p:nvPr/>
        </p:nvSpPr>
        <p:spPr>
          <a:xfrm>
            <a:off x="3581400" y="3022600"/>
            <a:ext cx="2209800" cy="1803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Sync is idempotent; variants and attributes are normalized; demand grains reconcile.</a:t>
            </a:r>
          </a:p>
        </p:txBody>
      </p:sp>
      <p:sp>
        <p:nvSpPr>
          <p:cNvPr id="15" name="Rectangle: Rounded Corners 14">
            <a:extLst>
              <a:ext uri="{FF2B5EF4-FFF2-40B4-BE49-F238E27FC236}">
                <a16:creationId xmlns:a16="http://schemas.microsoft.com/office/drawing/2014/main" id="{567AE78D-2AFC-EE3F-F05E-B5D39E37C2DD}"/>
              </a:ext>
            </a:extLst>
          </p:cNvPr>
          <p:cNvSpPr/>
          <p:nvPr/>
        </p:nvSpPr>
        <p:spPr>
          <a:xfrm>
            <a:off x="6248400" y="1803400"/>
            <a:ext cx="2514600" cy="31750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D9C2799C-A89D-F460-F854-25B593830E69}"/>
              </a:ext>
            </a:extLst>
          </p:cNvPr>
          <p:cNvSpPr/>
          <p:nvPr/>
        </p:nvSpPr>
        <p:spPr>
          <a:xfrm>
            <a:off x="7289800" y="20066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FD46FFD-4042-7E72-6ADD-4F9CF7B98604}"/>
              </a:ext>
            </a:extLst>
          </p:cNvPr>
          <p:cNvSpPr txBox="1"/>
          <p:nvPr/>
        </p:nvSpPr>
        <p:spPr>
          <a:xfrm>
            <a:off x="7289800" y="20066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3</a:t>
            </a:r>
          </a:p>
        </p:txBody>
      </p:sp>
      <p:sp>
        <p:nvSpPr>
          <p:cNvPr id="18" name="TextBox 17">
            <a:extLst>
              <a:ext uri="{FF2B5EF4-FFF2-40B4-BE49-F238E27FC236}">
                <a16:creationId xmlns:a16="http://schemas.microsoft.com/office/drawing/2014/main" id="{0C8A8046-CEA9-4AD6-23A0-17ED46F9F125}"/>
              </a:ext>
            </a:extLst>
          </p:cNvPr>
          <p:cNvSpPr txBox="1"/>
          <p:nvPr/>
        </p:nvSpPr>
        <p:spPr>
          <a:xfrm>
            <a:off x="6350000" y="2527300"/>
            <a:ext cx="2311400" cy="393700"/>
          </a:xfrm>
          <a:prstGeom prst="rect">
            <a:avLst/>
          </a:prstGeom>
          <a:noFill/>
        </p:spPr>
        <p:txBody>
          <a:bodyPr vert="horz" wrap="square" lIns="50800" tIns="25400" rIns="50800" bIns="25400" rtlCol="0" anchor="t">
            <a:noAutofit/>
          </a:bodyPr>
          <a:lstStyle/>
          <a:p>
            <a:pPr algn="ctr"/>
            <a:r>
              <a:rPr lang="en-US" sz="1100" b="1">
                <a:solidFill>
                  <a:srgbClr val="6D3EF2"/>
                </a:solidFill>
                <a:latin typeface="Segoe UI" panose="020B0502040204020203" pitchFamily="34" charset="0"/>
              </a:rPr>
              <a:t>PREDICT</a:t>
            </a:r>
          </a:p>
        </p:txBody>
      </p:sp>
      <p:sp>
        <p:nvSpPr>
          <p:cNvPr id="19" name="TextBox 18">
            <a:extLst>
              <a:ext uri="{FF2B5EF4-FFF2-40B4-BE49-F238E27FC236}">
                <a16:creationId xmlns:a16="http://schemas.microsoft.com/office/drawing/2014/main" id="{A8895289-54C6-0A1C-9519-3760F8A3241A}"/>
              </a:ext>
            </a:extLst>
          </p:cNvPr>
          <p:cNvSpPr txBox="1"/>
          <p:nvPr/>
        </p:nvSpPr>
        <p:spPr>
          <a:xfrm>
            <a:off x="6400800" y="3022600"/>
            <a:ext cx="2209800" cy="1803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Daily series are densified, forecasted with four algorithms and shown with uncertainty.</a:t>
            </a:r>
          </a:p>
        </p:txBody>
      </p:sp>
      <p:sp>
        <p:nvSpPr>
          <p:cNvPr id="20" name="Rectangle: Rounded Corners 19">
            <a:extLst>
              <a:ext uri="{FF2B5EF4-FFF2-40B4-BE49-F238E27FC236}">
                <a16:creationId xmlns:a16="http://schemas.microsoft.com/office/drawing/2014/main" id="{1729319A-574A-2C43-FE0F-4A593F889143}"/>
              </a:ext>
            </a:extLst>
          </p:cNvPr>
          <p:cNvSpPr/>
          <p:nvPr/>
        </p:nvSpPr>
        <p:spPr>
          <a:xfrm>
            <a:off x="9067800" y="1803400"/>
            <a:ext cx="2514600" cy="31750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676829D-E71D-CED6-FD6F-6366A7E60476}"/>
              </a:ext>
            </a:extLst>
          </p:cNvPr>
          <p:cNvSpPr/>
          <p:nvPr/>
        </p:nvSpPr>
        <p:spPr>
          <a:xfrm>
            <a:off x="10109200" y="2006600"/>
            <a:ext cx="431800" cy="4318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079419A0-1D3D-E06D-AFC0-96ACD1B3258C}"/>
              </a:ext>
            </a:extLst>
          </p:cNvPr>
          <p:cNvSpPr txBox="1"/>
          <p:nvPr/>
        </p:nvSpPr>
        <p:spPr>
          <a:xfrm>
            <a:off x="10109200" y="20066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4</a:t>
            </a:r>
          </a:p>
        </p:txBody>
      </p:sp>
      <p:sp>
        <p:nvSpPr>
          <p:cNvPr id="23" name="TextBox 22">
            <a:extLst>
              <a:ext uri="{FF2B5EF4-FFF2-40B4-BE49-F238E27FC236}">
                <a16:creationId xmlns:a16="http://schemas.microsoft.com/office/drawing/2014/main" id="{B7FEE57E-F14E-50FD-675F-20D48CB052C8}"/>
              </a:ext>
            </a:extLst>
          </p:cNvPr>
          <p:cNvSpPr txBox="1"/>
          <p:nvPr/>
        </p:nvSpPr>
        <p:spPr>
          <a:xfrm>
            <a:off x="9169400" y="2527300"/>
            <a:ext cx="2311400" cy="393700"/>
          </a:xfrm>
          <a:prstGeom prst="rect">
            <a:avLst/>
          </a:prstGeom>
          <a:noFill/>
        </p:spPr>
        <p:txBody>
          <a:bodyPr vert="horz" wrap="square" lIns="50800" tIns="25400" rIns="50800" bIns="25400" rtlCol="0" anchor="t">
            <a:noAutofit/>
          </a:bodyPr>
          <a:lstStyle/>
          <a:p>
            <a:pPr algn="ctr"/>
            <a:r>
              <a:rPr lang="en-US" sz="1100" b="1">
                <a:solidFill>
                  <a:srgbClr val="0E9F6E"/>
                </a:solidFill>
                <a:latin typeface="Segoe UI" panose="020B0502040204020203" pitchFamily="34" charset="0"/>
              </a:rPr>
              <a:t>GOVERN</a:t>
            </a:r>
          </a:p>
        </p:txBody>
      </p:sp>
      <p:sp>
        <p:nvSpPr>
          <p:cNvPr id="24" name="TextBox 23">
            <a:extLst>
              <a:ext uri="{FF2B5EF4-FFF2-40B4-BE49-F238E27FC236}">
                <a16:creationId xmlns:a16="http://schemas.microsoft.com/office/drawing/2014/main" id="{8C3E239A-0821-CA56-D319-93D478042716}"/>
              </a:ext>
            </a:extLst>
          </p:cNvPr>
          <p:cNvSpPr txBox="1"/>
          <p:nvPr/>
        </p:nvSpPr>
        <p:spPr>
          <a:xfrm>
            <a:off x="9220200" y="3022600"/>
            <a:ext cx="2209800" cy="1803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EWMA remains default; decisions stay human; nothing writes back to BuyAbans.</a:t>
            </a:r>
          </a:p>
        </p:txBody>
      </p:sp>
      <p:sp>
        <p:nvSpPr>
          <p:cNvPr id="25" name="Rectangle: Rounded Corners 24">
            <a:extLst>
              <a:ext uri="{FF2B5EF4-FFF2-40B4-BE49-F238E27FC236}">
                <a16:creationId xmlns:a16="http://schemas.microsoft.com/office/drawing/2014/main" id="{1635BDF1-27C8-0241-C7DB-586801E2CC17}"/>
              </a:ext>
            </a:extLst>
          </p:cNvPr>
          <p:cNvSpPr/>
          <p:nvPr/>
        </p:nvSpPr>
        <p:spPr>
          <a:xfrm>
            <a:off x="609600" y="5334000"/>
            <a:ext cx="10972800" cy="889000"/>
          </a:xfrm>
          <a:prstGeom prst="roundRect">
            <a:avLst/>
          </a:prstGeom>
          <a:solidFill>
            <a:srgbClr val="FFF2D9"/>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2736F958-3B13-C43F-080A-98C4407182E1}"/>
              </a:ext>
            </a:extLst>
          </p:cNvPr>
          <p:cNvSpPr txBox="1"/>
          <p:nvPr/>
        </p:nvSpPr>
        <p:spPr>
          <a:xfrm>
            <a:off x="838200" y="5511800"/>
            <a:ext cx="1905000" cy="330200"/>
          </a:xfrm>
          <a:prstGeom prst="rect">
            <a:avLst/>
          </a:prstGeom>
          <a:noFill/>
        </p:spPr>
        <p:txBody>
          <a:bodyPr vert="horz" wrap="square" lIns="50800" tIns="25400" rIns="50800" bIns="25400" rtlCol="0" anchor="ctr">
            <a:noAutofit/>
          </a:bodyPr>
          <a:lstStyle/>
          <a:p>
            <a:r>
              <a:rPr lang="en-US" sz="1200" b="1">
                <a:solidFill>
                  <a:srgbClr val="E58A00"/>
                </a:solidFill>
                <a:latin typeface="Segoe UI" panose="020B0502040204020203" pitchFamily="34" charset="0"/>
              </a:rPr>
              <a:t>Management boundary</a:t>
            </a:r>
          </a:p>
        </p:txBody>
      </p:sp>
      <p:sp>
        <p:nvSpPr>
          <p:cNvPr id="27" name="TextBox 26">
            <a:extLst>
              <a:ext uri="{FF2B5EF4-FFF2-40B4-BE49-F238E27FC236}">
                <a16:creationId xmlns:a16="http://schemas.microsoft.com/office/drawing/2014/main" id="{472F8B55-DF55-7E15-2F2C-35056BB50987}"/>
              </a:ext>
            </a:extLst>
          </p:cNvPr>
          <p:cNvSpPr txBox="1"/>
          <p:nvPr/>
        </p:nvSpPr>
        <p:spPr>
          <a:xfrm>
            <a:off x="2717800" y="5461000"/>
            <a:ext cx="8572500" cy="558800"/>
          </a:xfrm>
          <a:prstGeom prst="rect">
            <a:avLst/>
          </a:prstGeom>
          <a:noFill/>
        </p:spPr>
        <p:txBody>
          <a:bodyPr vert="horz" wrap="square" lIns="50800" tIns="25400" rIns="50800" bIns="25400" rtlCol="0" anchor="ctr">
            <a:noAutofit/>
          </a:bodyPr>
          <a:lstStyle/>
          <a:p>
            <a:r>
              <a:rPr lang="en-US" sz="1120" b="1">
                <a:solidFill>
                  <a:srgbClr val="0B1536"/>
                </a:solidFill>
                <a:latin typeface="Segoe UI" panose="020B0502040204020203" pitchFamily="34" charset="0"/>
              </a:rPr>
              <a:t>The forecast path is current. Recommendations and several legacy analytics still need a BuyAbans stock-to-location design before they can be trusted as production signals.</a:t>
            </a:r>
          </a:p>
        </p:txBody>
      </p:sp>
      <p:sp>
        <p:nvSpPr>
          <p:cNvPr id="28" name="TextBox 27">
            <a:extLst>
              <a:ext uri="{FF2B5EF4-FFF2-40B4-BE49-F238E27FC236}">
                <a16:creationId xmlns:a16="http://schemas.microsoft.com/office/drawing/2014/main" id="{D8BD45A0-776A-821E-A24A-954402FEEFAB}"/>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9" name="TextBox 28">
            <a:extLst>
              <a:ext uri="{FF2B5EF4-FFF2-40B4-BE49-F238E27FC236}">
                <a16:creationId xmlns:a16="http://schemas.microsoft.com/office/drawing/2014/main" id="{9E24A6BC-B558-5351-8EED-307E3F6B7B9C}"/>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2</a:t>
            </a:r>
          </a:p>
        </p:txBody>
      </p:sp>
    </p:spTree>
    <p:extLst>
      <p:ext uri="{BB962C8B-B14F-4D97-AF65-F5344CB8AC3E}">
        <p14:creationId xmlns:p14="http://schemas.microsoft.com/office/powerpoint/2010/main" val="22804489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90F919-E28E-681D-73F6-18586053F29F}"/>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PROCESS INFOGRAPHIC</a:t>
            </a:r>
          </a:p>
        </p:txBody>
      </p:sp>
      <p:sp>
        <p:nvSpPr>
          <p:cNvPr id="3" name="TextBox 2">
            <a:extLst>
              <a:ext uri="{FF2B5EF4-FFF2-40B4-BE49-F238E27FC236}">
                <a16:creationId xmlns:a16="http://schemas.microsoft.com/office/drawing/2014/main" id="{BD4BD895-DCD8-3F9C-6A71-B70A4CB629BD}"/>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End-to-end: source data to human decision</a:t>
            </a:r>
          </a:p>
        </p:txBody>
      </p:sp>
      <p:sp>
        <p:nvSpPr>
          <p:cNvPr id="4" name="TextBox 3">
            <a:extLst>
              <a:ext uri="{FF2B5EF4-FFF2-40B4-BE49-F238E27FC236}">
                <a16:creationId xmlns:a16="http://schemas.microsoft.com/office/drawing/2014/main" id="{D02C990A-96D8-868D-F052-878B643F92A5}"/>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A one-way data path protects the back office while creating an analytical and forecasting layer.</a:t>
            </a:r>
          </a:p>
        </p:txBody>
      </p:sp>
      <p:cxnSp>
        <p:nvCxnSpPr>
          <p:cNvPr id="5" name="Straight Connector 4">
            <a:extLst>
              <a:ext uri="{FF2B5EF4-FFF2-40B4-BE49-F238E27FC236}">
                <a16:creationId xmlns:a16="http://schemas.microsoft.com/office/drawing/2014/main" id="{17C1982C-116D-DC07-75BB-9A324D0C1F1F}"/>
              </a:ext>
            </a:extLst>
          </p:cNvPr>
          <p:cNvCxnSpPr/>
          <p:nvPr/>
        </p:nvCxnSpPr>
        <p:spPr>
          <a:xfrm>
            <a:off x="2133600" y="3543300"/>
            <a:ext cx="139700" cy="0"/>
          </a:xfrm>
          <a:prstGeom prst="line">
            <a:avLst/>
          </a:prstGeom>
          <a:ln w="2921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C11682B2-1328-9D23-A599-D52F0A5AE569}"/>
              </a:ext>
            </a:extLst>
          </p:cNvPr>
          <p:cNvSpPr/>
          <p:nvPr/>
        </p:nvSpPr>
        <p:spPr>
          <a:xfrm>
            <a:off x="406400" y="1917700"/>
            <a:ext cx="1676400" cy="32385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CA39240D-9352-2886-CA68-8F8D79F9B285}"/>
              </a:ext>
            </a:extLst>
          </p:cNvPr>
          <p:cNvSpPr/>
          <p:nvPr/>
        </p:nvSpPr>
        <p:spPr>
          <a:xfrm>
            <a:off x="1028700" y="21209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0BBFDE-AC55-8D97-8B10-524B4EAD8409}"/>
              </a:ext>
            </a:extLst>
          </p:cNvPr>
          <p:cNvSpPr txBox="1"/>
          <p:nvPr/>
        </p:nvSpPr>
        <p:spPr>
          <a:xfrm>
            <a:off x="1028700" y="21209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1</a:t>
            </a:r>
          </a:p>
        </p:txBody>
      </p:sp>
      <p:sp>
        <p:nvSpPr>
          <p:cNvPr id="9" name="TextBox 8">
            <a:extLst>
              <a:ext uri="{FF2B5EF4-FFF2-40B4-BE49-F238E27FC236}">
                <a16:creationId xmlns:a16="http://schemas.microsoft.com/office/drawing/2014/main" id="{B3EF45CD-C4FE-0F5C-0AF4-D3180039ECD5}"/>
              </a:ext>
            </a:extLst>
          </p:cNvPr>
          <p:cNvSpPr txBox="1"/>
          <p:nvPr/>
        </p:nvSpPr>
        <p:spPr>
          <a:xfrm>
            <a:off x="508000" y="2641600"/>
            <a:ext cx="1473200" cy="393700"/>
          </a:xfrm>
          <a:prstGeom prst="rect">
            <a:avLst/>
          </a:prstGeom>
          <a:noFill/>
        </p:spPr>
        <p:txBody>
          <a:bodyPr vert="horz" wrap="square" lIns="50800" tIns="25400" rIns="50800" bIns="25400" rtlCol="0" anchor="t">
            <a:noAutofit/>
          </a:bodyPr>
          <a:lstStyle/>
          <a:p>
            <a:pPr algn="ctr"/>
            <a:r>
              <a:rPr lang="en-US" sz="1100" b="1">
                <a:solidFill>
                  <a:srgbClr val="1769E0"/>
                </a:solidFill>
                <a:latin typeface="Segoe UI" panose="020B0502040204020203" pitchFamily="34" charset="0"/>
              </a:rPr>
              <a:t>BUYABANS</a:t>
            </a:r>
          </a:p>
        </p:txBody>
      </p:sp>
      <p:sp>
        <p:nvSpPr>
          <p:cNvPr id="10" name="TextBox 9">
            <a:extLst>
              <a:ext uri="{FF2B5EF4-FFF2-40B4-BE49-F238E27FC236}">
                <a16:creationId xmlns:a16="http://schemas.microsoft.com/office/drawing/2014/main" id="{818B45F0-20D5-8280-0061-2CDD321356AE}"/>
              </a:ext>
            </a:extLst>
          </p:cNvPr>
          <p:cNvSpPr txBox="1"/>
          <p:nvPr/>
        </p:nvSpPr>
        <p:spPr>
          <a:xfrm>
            <a:off x="558800" y="3136900"/>
            <a:ext cx="1371600" cy="18669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Catalog</a:t>
            </a:r>
          </a:p>
          <a:p>
            <a:pPr algn="ctr"/>
            <a:r>
              <a:rPr lang="en-US" sz="900">
                <a:solidFill>
                  <a:srgbClr val="344054"/>
                </a:solidFill>
                <a:latin typeface="Segoe UI" panose="020B0502040204020203" pitchFamily="34" charset="0"/>
              </a:rPr>
              <a:t>Current stock</a:t>
            </a:r>
          </a:p>
          <a:p>
            <a:pPr algn="ctr"/>
            <a:r>
              <a:rPr lang="en-US" sz="900">
                <a:solidFill>
                  <a:srgbClr val="344054"/>
                </a:solidFill>
                <a:latin typeface="Segoe UI" panose="020B0502040204020203" pitchFamily="34" charset="0"/>
              </a:rPr>
              <a:t>Orders / refunds</a:t>
            </a:r>
          </a:p>
        </p:txBody>
      </p:sp>
      <p:cxnSp>
        <p:nvCxnSpPr>
          <p:cNvPr id="11" name="Straight Connector 10">
            <a:extLst>
              <a:ext uri="{FF2B5EF4-FFF2-40B4-BE49-F238E27FC236}">
                <a16:creationId xmlns:a16="http://schemas.microsoft.com/office/drawing/2014/main" id="{C1788B62-8519-1062-BD0D-EC500D24FB7D}"/>
              </a:ext>
            </a:extLst>
          </p:cNvPr>
          <p:cNvCxnSpPr/>
          <p:nvPr/>
        </p:nvCxnSpPr>
        <p:spPr>
          <a:xfrm>
            <a:off x="4051300" y="3543300"/>
            <a:ext cx="139700" cy="0"/>
          </a:xfrm>
          <a:prstGeom prst="line">
            <a:avLst/>
          </a:prstGeom>
          <a:ln w="2921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12" name="Rectangle: Rounded Corners 11">
            <a:extLst>
              <a:ext uri="{FF2B5EF4-FFF2-40B4-BE49-F238E27FC236}">
                <a16:creationId xmlns:a16="http://schemas.microsoft.com/office/drawing/2014/main" id="{AA03C374-FAA2-1B3B-73E4-E70607C4E5A5}"/>
              </a:ext>
            </a:extLst>
          </p:cNvPr>
          <p:cNvSpPr/>
          <p:nvPr/>
        </p:nvSpPr>
        <p:spPr>
          <a:xfrm>
            <a:off x="2324100" y="1917700"/>
            <a:ext cx="1676400" cy="32385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24DCD7-6E16-573F-29F9-B40B1061B9AC}"/>
              </a:ext>
            </a:extLst>
          </p:cNvPr>
          <p:cNvSpPr/>
          <p:nvPr/>
        </p:nvSpPr>
        <p:spPr>
          <a:xfrm>
            <a:off x="2946400" y="21209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A497D1D-312B-FCDA-5F7A-E47A97EF0817}"/>
              </a:ext>
            </a:extLst>
          </p:cNvPr>
          <p:cNvSpPr txBox="1"/>
          <p:nvPr/>
        </p:nvSpPr>
        <p:spPr>
          <a:xfrm>
            <a:off x="2946400" y="21209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2</a:t>
            </a:r>
          </a:p>
        </p:txBody>
      </p:sp>
      <p:sp>
        <p:nvSpPr>
          <p:cNvPr id="15" name="TextBox 14">
            <a:extLst>
              <a:ext uri="{FF2B5EF4-FFF2-40B4-BE49-F238E27FC236}">
                <a16:creationId xmlns:a16="http://schemas.microsoft.com/office/drawing/2014/main" id="{71E4AB8E-4DC4-A8DB-C7B6-B963D1EF30ED}"/>
              </a:ext>
            </a:extLst>
          </p:cNvPr>
          <p:cNvSpPr txBox="1"/>
          <p:nvPr/>
        </p:nvSpPr>
        <p:spPr>
          <a:xfrm>
            <a:off x="2425700" y="2641600"/>
            <a:ext cx="1473200" cy="393700"/>
          </a:xfrm>
          <a:prstGeom prst="rect">
            <a:avLst/>
          </a:prstGeom>
          <a:noFill/>
        </p:spPr>
        <p:txBody>
          <a:bodyPr vert="horz" wrap="square" lIns="50800" tIns="25400" rIns="50800" bIns="25400" rtlCol="0" anchor="t">
            <a:noAutofit/>
          </a:bodyPr>
          <a:lstStyle/>
          <a:p>
            <a:pPr algn="ctr"/>
            <a:r>
              <a:rPr lang="en-US" sz="1100" b="1">
                <a:solidFill>
                  <a:srgbClr val="078A99"/>
                </a:solidFill>
                <a:latin typeface="Segoe UI" panose="020B0502040204020203" pitchFamily="34" charset="0"/>
              </a:rPr>
              <a:t>API</a:t>
            </a:r>
          </a:p>
        </p:txBody>
      </p:sp>
      <p:sp>
        <p:nvSpPr>
          <p:cNvPr id="16" name="TextBox 15">
            <a:extLst>
              <a:ext uri="{FF2B5EF4-FFF2-40B4-BE49-F238E27FC236}">
                <a16:creationId xmlns:a16="http://schemas.microsoft.com/office/drawing/2014/main" id="{A122C567-5978-EFE9-1E69-279F4BA0476C}"/>
              </a:ext>
            </a:extLst>
          </p:cNvPr>
          <p:cNvSpPr txBox="1"/>
          <p:nvPr/>
        </p:nvSpPr>
        <p:spPr>
          <a:xfrm>
            <a:off x="2476500" y="3136900"/>
            <a:ext cx="1371600" cy="18669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Passport OAuth</a:t>
            </a:r>
          </a:p>
          <a:p>
            <a:pPr algn="ctr"/>
            <a:r>
              <a:rPr lang="en-US" sz="900">
                <a:solidFill>
                  <a:srgbClr val="344054"/>
                </a:solidFill>
                <a:latin typeface="Segoe UI" panose="020B0502040204020203" pitchFamily="34" charset="0"/>
              </a:rPr>
              <a:t>9 read-only GETs</a:t>
            </a:r>
          </a:p>
          <a:p>
            <a:pPr algn="ctr"/>
            <a:r>
              <a:rPr lang="en-US" sz="900">
                <a:solidFill>
                  <a:srgbClr val="344054"/>
                </a:solidFill>
                <a:latin typeface="Segoe UI" panose="020B0502040204020203" pitchFamily="34" charset="0"/>
              </a:rPr>
              <a:t>Paged responses</a:t>
            </a:r>
          </a:p>
        </p:txBody>
      </p:sp>
      <p:cxnSp>
        <p:nvCxnSpPr>
          <p:cNvPr id="17" name="Straight Connector 16">
            <a:extLst>
              <a:ext uri="{FF2B5EF4-FFF2-40B4-BE49-F238E27FC236}">
                <a16:creationId xmlns:a16="http://schemas.microsoft.com/office/drawing/2014/main" id="{B89F13B3-43E6-AD39-8DFB-9CB85C2F4F8A}"/>
              </a:ext>
            </a:extLst>
          </p:cNvPr>
          <p:cNvCxnSpPr/>
          <p:nvPr/>
        </p:nvCxnSpPr>
        <p:spPr>
          <a:xfrm>
            <a:off x="5969000" y="3543300"/>
            <a:ext cx="139700" cy="0"/>
          </a:xfrm>
          <a:prstGeom prst="line">
            <a:avLst/>
          </a:prstGeom>
          <a:ln w="2921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F4933C57-EF25-F16D-2124-78995038AB89}"/>
              </a:ext>
            </a:extLst>
          </p:cNvPr>
          <p:cNvSpPr/>
          <p:nvPr/>
        </p:nvSpPr>
        <p:spPr>
          <a:xfrm>
            <a:off x="4241800" y="1917700"/>
            <a:ext cx="1676400" cy="32385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F283AD-DB8B-3434-6C2A-056AA04E9E1D}"/>
              </a:ext>
            </a:extLst>
          </p:cNvPr>
          <p:cNvSpPr/>
          <p:nvPr/>
        </p:nvSpPr>
        <p:spPr>
          <a:xfrm>
            <a:off x="4864100" y="21209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A3E47787-B332-5E1F-9096-53E375743F3E}"/>
              </a:ext>
            </a:extLst>
          </p:cNvPr>
          <p:cNvSpPr txBox="1"/>
          <p:nvPr/>
        </p:nvSpPr>
        <p:spPr>
          <a:xfrm>
            <a:off x="4864100" y="21209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3</a:t>
            </a:r>
          </a:p>
        </p:txBody>
      </p:sp>
      <p:sp>
        <p:nvSpPr>
          <p:cNvPr id="21" name="TextBox 20">
            <a:extLst>
              <a:ext uri="{FF2B5EF4-FFF2-40B4-BE49-F238E27FC236}">
                <a16:creationId xmlns:a16="http://schemas.microsoft.com/office/drawing/2014/main" id="{91DE689F-BCA5-388D-A7EB-17FEF8C23BEE}"/>
              </a:ext>
            </a:extLst>
          </p:cNvPr>
          <p:cNvSpPr txBox="1"/>
          <p:nvPr/>
        </p:nvSpPr>
        <p:spPr>
          <a:xfrm>
            <a:off x="4343400" y="2641600"/>
            <a:ext cx="1473200" cy="393700"/>
          </a:xfrm>
          <a:prstGeom prst="rect">
            <a:avLst/>
          </a:prstGeom>
          <a:noFill/>
        </p:spPr>
        <p:txBody>
          <a:bodyPr vert="horz" wrap="square" lIns="50800" tIns="25400" rIns="50800" bIns="25400" rtlCol="0" anchor="t">
            <a:noAutofit/>
          </a:bodyPr>
          <a:lstStyle/>
          <a:p>
            <a:pPr algn="ctr"/>
            <a:r>
              <a:rPr lang="en-US" sz="1100" b="1">
                <a:solidFill>
                  <a:srgbClr val="1769E0"/>
                </a:solidFill>
                <a:latin typeface="Segoe UI" panose="020B0502040204020203" pitchFamily="34" charset="0"/>
              </a:rPr>
              <a:t>SYNC</a:t>
            </a:r>
          </a:p>
        </p:txBody>
      </p:sp>
      <p:sp>
        <p:nvSpPr>
          <p:cNvPr id="22" name="TextBox 21">
            <a:extLst>
              <a:ext uri="{FF2B5EF4-FFF2-40B4-BE49-F238E27FC236}">
                <a16:creationId xmlns:a16="http://schemas.microsoft.com/office/drawing/2014/main" id="{EA0DBF42-786E-BAEB-A654-CEDC3A93EDBF}"/>
              </a:ext>
            </a:extLst>
          </p:cNvPr>
          <p:cNvSpPr txBox="1"/>
          <p:nvPr/>
        </p:nvSpPr>
        <p:spPr>
          <a:xfrm>
            <a:off x="4394200" y="3136900"/>
            <a:ext cx="1371600" cy="18669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Dependency order</a:t>
            </a:r>
          </a:p>
          <a:p>
            <a:pPr algn="ctr"/>
            <a:r>
              <a:rPr lang="en-US" sz="900">
                <a:solidFill>
                  <a:srgbClr val="344054"/>
                </a:solidFill>
                <a:latin typeface="Segoe UI" panose="020B0502040204020203" pitchFamily="34" charset="0"/>
              </a:rPr>
              <a:t>Normalize catalog</a:t>
            </a:r>
          </a:p>
          <a:p>
            <a:pPr algn="ctr"/>
            <a:r>
              <a:rPr lang="en-US" sz="900">
                <a:solidFill>
                  <a:srgbClr val="344054"/>
                </a:solidFill>
                <a:latin typeface="Segoe UI" panose="020B0502040204020203" pitchFamily="34" charset="0"/>
              </a:rPr>
              <a:t>Reconcile grains</a:t>
            </a:r>
          </a:p>
        </p:txBody>
      </p:sp>
      <p:cxnSp>
        <p:nvCxnSpPr>
          <p:cNvPr id="23" name="Straight Connector 22">
            <a:extLst>
              <a:ext uri="{FF2B5EF4-FFF2-40B4-BE49-F238E27FC236}">
                <a16:creationId xmlns:a16="http://schemas.microsoft.com/office/drawing/2014/main" id="{AF37DB45-001D-B4B0-9866-0E7407001FB3}"/>
              </a:ext>
            </a:extLst>
          </p:cNvPr>
          <p:cNvCxnSpPr/>
          <p:nvPr/>
        </p:nvCxnSpPr>
        <p:spPr>
          <a:xfrm>
            <a:off x="7886700" y="3543300"/>
            <a:ext cx="139700" cy="0"/>
          </a:xfrm>
          <a:prstGeom prst="line">
            <a:avLst/>
          </a:prstGeom>
          <a:ln w="2921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92FE3269-BE05-2F29-B5EA-C90AAEDDE125}"/>
              </a:ext>
            </a:extLst>
          </p:cNvPr>
          <p:cNvSpPr/>
          <p:nvPr/>
        </p:nvSpPr>
        <p:spPr>
          <a:xfrm>
            <a:off x="6159500" y="1917700"/>
            <a:ext cx="1676400" cy="32385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92281A1C-F975-979A-2AEE-9CC3D9E646A6}"/>
              </a:ext>
            </a:extLst>
          </p:cNvPr>
          <p:cNvSpPr/>
          <p:nvPr/>
        </p:nvSpPr>
        <p:spPr>
          <a:xfrm>
            <a:off x="6781800" y="21209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68194FF2-9C7E-B2A2-8076-71FE425B460A}"/>
              </a:ext>
            </a:extLst>
          </p:cNvPr>
          <p:cNvSpPr txBox="1"/>
          <p:nvPr/>
        </p:nvSpPr>
        <p:spPr>
          <a:xfrm>
            <a:off x="6781800" y="21209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4</a:t>
            </a:r>
          </a:p>
        </p:txBody>
      </p:sp>
      <p:sp>
        <p:nvSpPr>
          <p:cNvPr id="27" name="TextBox 26">
            <a:extLst>
              <a:ext uri="{FF2B5EF4-FFF2-40B4-BE49-F238E27FC236}">
                <a16:creationId xmlns:a16="http://schemas.microsoft.com/office/drawing/2014/main" id="{2EB81D6D-2499-DC70-A5A8-4B67F290B904}"/>
              </a:ext>
            </a:extLst>
          </p:cNvPr>
          <p:cNvSpPr txBox="1"/>
          <p:nvPr/>
        </p:nvSpPr>
        <p:spPr>
          <a:xfrm>
            <a:off x="6261100" y="2641600"/>
            <a:ext cx="1473200" cy="393700"/>
          </a:xfrm>
          <a:prstGeom prst="rect">
            <a:avLst/>
          </a:prstGeom>
          <a:noFill/>
        </p:spPr>
        <p:txBody>
          <a:bodyPr vert="horz" wrap="square" lIns="50800" tIns="25400" rIns="50800" bIns="25400" rtlCol="0" anchor="t">
            <a:noAutofit/>
          </a:bodyPr>
          <a:lstStyle/>
          <a:p>
            <a:pPr algn="ctr"/>
            <a:r>
              <a:rPr lang="en-US" sz="1100" b="1">
                <a:solidFill>
                  <a:srgbClr val="6D3EF2"/>
                </a:solidFill>
                <a:latin typeface="Segoe UI" panose="020B0502040204020203" pitchFamily="34" charset="0"/>
              </a:rPr>
              <a:t>PREPARE</a:t>
            </a:r>
          </a:p>
        </p:txBody>
      </p:sp>
      <p:sp>
        <p:nvSpPr>
          <p:cNvPr id="28" name="TextBox 27">
            <a:extLst>
              <a:ext uri="{FF2B5EF4-FFF2-40B4-BE49-F238E27FC236}">
                <a16:creationId xmlns:a16="http://schemas.microsoft.com/office/drawing/2014/main" id="{67F101EC-F6E7-C16F-ACFF-5096014831B7}"/>
              </a:ext>
            </a:extLst>
          </p:cNvPr>
          <p:cNvSpPr txBox="1"/>
          <p:nvPr/>
        </p:nvSpPr>
        <p:spPr>
          <a:xfrm>
            <a:off x="6311900" y="3136900"/>
            <a:ext cx="1371600" cy="18669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Sparse raw demand</a:t>
            </a:r>
          </a:p>
          <a:p>
            <a:pPr algn="ctr"/>
            <a:r>
              <a:rPr lang="en-US" sz="900">
                <a:solidFill>
                  <a:srgbClr val="344054"/>
                </a:solidFill>
                <a:latin typeface="Segoe UI" panose="020B0502040204020203" pitchFamily="34" charset="0"/>
              </a:rPr>
              <a:t>Fill zero days</a:t>
            </a:r>
          </a:p>
          <a:p>
            <a:pPr algn="ctr"/>
            <a:r>
              <a:rPr lang="en-US" sz="900">
                <a:solidFill>
                  <a:srgbClr val="344054"/>
                </a:solidFill>
                <a:latin typeface="Segoe UI" panose="020B0502040204020203" pitchFamily="34" charset="0"/>
              </a:rPr>
              <a:t>Maturity / peers</a:t>
            </a:r>
          </a:p>
        </p:txBody>
      </p:sp>
      <p:cxnSp>
        <p:nvCxnSpPr>
          <p:cNvPr id="29" name="Straight Connector 28">
            <a:extLst>
              <a:ext uri="{FF2B5EF4-FFF2-40B4-BE49-F238E27FC236}">
                <a16:creationId xmlns:a16="http://schemas.microsoft.com/office/drawing/2014/main" id="{9B149F53-BA9C-98F6-AE6D-7CC573A94D9F}"/>
              </a:ext>
            </a:extLst>
          </p:cNvPr>
          <p:cNvCxnSpPr/>
          <p:nvPr/>
        </p:nvCxnSpPr>
        <p:spPr>
          <a:xfrm>
            <a:off x="9804400" y="3543300"/>
            <a:ext cx="139700" cy="0"/>
          </a:xfrm>
          <a:prstGeom prst="line">
            <a:avLst/>
          </a:prstGeom>
          <a:ln w="2921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2BE9197E-1516-3886-C14C-EA8A64A49E94}"/>
              </a:ext>
            </a:extLst>
          </p:cNvPr>
          <p:cNvSpPr/>
          <p:nvPr/>
        </p:nvSpPr>
        <p:spPr>
          <a:xfrm>
            <a:off x="8077200" y="1917700"/>
            <a:ext cx="1676400" cy="32385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6037A593-639A-48C3-9BFF-316D8FA5E432}"/>
              </a:ext>
            </a:extLst>
          </p:cNvPr>
          <p:cNvSpPr/>
          <p:nvPr/>
        </p:nvSpPr>
        <p:spPr>
          <a:xfrm>
            <a:off x="8699500" y="21209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19D27F00-A185-B3EC-6512-F61B1A76BA8F}"/>
              </a:ext>
            </a:extLst>
          </p:cNvPr>
          <p:cNvSpPr txBox="1"/>
          <p:nvPr/>
        </p:nvSpPr>
        <p:spPr>
          <a:xfrm>
            <a:off x="8699500" y="21209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5</a:t>
            </a:r>
          </a:p>
        </p:txBody>
      </p:sp>
      <p:sp>
        <p:nvSpPr>
          <p:cNvPr id="33" name="TextBox 32">
            <a:extLst>
              <a:ext uri="{FF2B5EF4-FFF2-40B4-BE49-F238E27FC236}">
                <a16:creationId xmlns:a16="http://schemas.microsoft.com/office/drawing/2014/main" id="{9B890C22-402F-FA2A-5BEE-B0025AFB5964}"/>
              </a:ext>
            </a:extLst>
          </p:cNvPr>
          <p:cNvSpPr txBox="1"/>
          <p:nvPr/>
        </p:nvSpPr>
        <p:spPr>
          <a:xfrm>
            <a:off x="8178800" y="2641600"/>
            <a:ext cx="1473200" cy="393700"/>
          </a:xfrm>
          <a:prstGeom prst="rect">
            <a:avLst/>
          </a:prstGeom>
          <a:noFill/>
        </p:spPr>
        <p:txBody>
          <a:bodyPr vert="horz" wrap="square" lIns="50800" tIns="25400" rIns="50800" bIns="25400" rtlCol="0" anchor="t">
            <a:noAutofit/>
          </a:bodyPr>
          <a:lstStyle/>
          <a:p>
            <a:pPr algn="ctr"/>
            <a:r>
              <a:rPr lang="en-US" sz="1100" b="1">
                <a:solidFill>
                  <a:srgbClr val="6D3EF2"/>
                </a:solidFill>
                <a:latin typeface="Segoe UI" panose="020B0502040204020203" pitchFamily="34" charset="0"/>
              </a:rPr>
              <a:t>PREDICT</a:t>
            </a:r>
          </a:p>
        </p:txBody>
      </p:sp>
      <p:sp>
        <p:nvSpPr>
          <p:cNvPr id="34" name="TextBox 33">
            <a:extLst>
              <a:ext uri="{FF2B5EF4-FFF2-40B4-BE49-F238E27FC236}">
                <a16:creationId xmlns:a16="http://schemas.microsoft.com/office/drawing/2014/main" id="{DF0B6907-6ED0-1DBC-3A10-02CE3E9CC241}"/>
              </a:ext>
            </a:extLst>
          </p:cNvPr>
          <p:cNvSpPr txBox="1"/>
          <p:nvPr/>
        </p:nvSpPr>
        <p:spPr>
          <a:xfrm>
            <a:off x="8229600" y="3136900"/>
            <a:ext cx="1371600" cy="18669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EWMA / seasonal</a:t>
            </a:r>
          </a:p>
          <a:p>
            <a:pPr algn="ctr"/>
            <a:r>
              <a:rPr lang="en-US" sz="900">
                <a:solidFill>
                  <a:srgbClr val="344054"/>
                </a:solidFill>
                <a:latin typeface="Segoe UI" panose="020B0502040204020203" pitchFamily="34" charset="0"/>
              </a:rPr>
              <a:t>TFT / DeepAR</a:t>
            </a:r>
          </a:p>
          <a:p>
            <a:pPr algn="ctr"/>
            <a:r>
              <a:rPr lang="en-US" sz="900">
                <a:solidFill>
                  <a:srgbClr val="344054"/>
                </a:solidFill>
                <a:latin typeface="Segoe UI" panose="020B0502040204020203" pitchFamily="34" charset="0"/>
              </a:rPr>
              <a:t>Range + confidence</a:t>
            </a:r>
          </a:p>
        </p:txBody>
      </p:sp>
      <p:sp>
        <p:nvSpPr>
          <p:cNvPr id="35" name="Rectangle: Rounded Corners 34">
            <a:extLst>
              <a:ext uri="{FF2B5EF4-FFF2-40B4-BE49-F238E27FC236}">
                <a16:creationId xmlns:a16="http://schemas.microsoft.com/office/drawing/2014/main" id="{76B9FDDA-1E86-63F9-401B-183EE8F765B5}"/>
              </a:ext>
            </a:extLst>
          </p:cNvPr>
          <p:cNvSpPr/>
          <p:nvPr/>
        </p:nvSpPr>
        <p:spPr>
          <a:xfrm>
            <a:off x="9994900" y="1917700"/>
            <a:ext cx="1676400" cy="32385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CA3EE3BE-B042-1A75-7F02-FD2600104EE4}"/>
              </a:ext>
            </a:extLst>
          </p:cNvPr>
          <p:cNvSpPr/>
          <p:nvPr/>
        </p:nvSpPr>
        <p:spPr>
          <a:xfrm>
            <a:off x="10617200" y="2120900"/>
            <a:ext cx="431800" cy="4318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4EA060CD-2F31-4CE1-71F8-BD205E4BEDEF}"/>
              </a:ext>
            </a:extLst>
          </p:cNvPr>
          <p:cNvSpPr txBox="1"/>
          <p:nvPr/>
        </p:nvSpPr>
        <p:spPr>
          <a:xfrm>
            <a:off x="10617200" y="21209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6</a:t>
            </a:r>
          </a:p>
        </p:txBody>
      </p:sp>
      <p:sp>
        <p:nvSpPr>
          <p:cNvPr id="38" name="TextBox 37">
            <a:extLst>
              <a:ext uri="{FF2B5EF4-FFF2-40B4-BE49-F238E27FC236}">
                <a16:creationId xmlns:a16="http://schemas.microsoft.com/office/drawing/2014/main" id="{2DAE75E2-309D-0A7B-1D5D-44F05AEBCE4A}"/>
              </a:ext>
            </a:extLst>
          </p:cNvPr>
          <p:cNvSpPr txBox="1"/>
          <p:nvPr/>
        </p:nvSpPr>
        <p:spPr>
          <a:xfrm>
            <a:off x="10096500" y="2641600"/>
            <a:ext cx="1473200" cy="393700"/>
          </a:xfrm>
          <a:prstGeom prst="rect">
            <a:avLst/>
          </a:prstGeom>
          <a:noFill/>
        </p:spPr>
        <p:txBody>
          <a:bodyPr vert="horz" wrap="square" lIns="50800" tIns="25400" rIns="50800" bIns="25400" rtlCol="0" anchor="t">
            <a:noAutofit/>
          </a:bodyPr>
          <a:lstStyle/>
          <a:p>
            <a:pPr algn="ctr"/>
            <a:r>
              <a:rPr lang="en-US" sz="1100" b="1">
                <a:solidFill>
                  <a:srgbClr val="0E9F6E"/>
                </a:solidFill>
                <a:latin typeface="Segoe UI" panose="020B0502040204020203" pitchFamily="34" charset="0"/>
              </a:rPr>
              <a:t>REVIEW</a:t>
            </a:r>
          </a:p>
        </p:txBody>
      </p:sp>
      <p:sp>
        <p:nvSpPr>
          <p:cNvPr id="39" name="TextBox 38">
            <a:extLst>
              <a:ext uri="{FF2B5EF4-FFF2-40B4-BE49-F238E27FC236}">
                <a16:creationId xmlns:a16="http://schemas.microsoft.com/office/drawing/2014/main" id="{6AEA01B2-E863-EA9E-5C36-6A5CBC876ACC}"/>
              </a:ext>
            </a:extLst>
          </p:cNvPr>
          <p:cNvSpPr txBox="1"/>
          <p:nvPr/>
        </p:nvSpPr>
        <p:spPr>
          <a:xfrm>
            <a:off x="10147300" y="3136900"/>
            <a:ext cx="1371600" cy="18669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Dashboard</a:t>
            </a:r>
          </a:p>
          <a:p>
            <a:pPr algn="ctr"/>
            <a:r>
              <a:rPr lang="en-US" sz="900">
                <a:solidFill>
                  <a:srgbClr val="344054"/>
                </a:solidFill>
                <a:latin typeface="Segoe UI" panose="020B0502040204020203" pitchFamily="34" charset="0"/>
              </a:rPr>
              <a:t>Forecasts</a:t>
            </a:r>
          </a:p>
          <a:p>
            <a:pPr algn="ctr"/>
            <a:r>
              <a:rPr lang="en-US" sz="900">
                <a:solidFill>
                  <a:srgbClr val="344054"/>
                </a:solidFill>
                <a:latin typeface="Segoe UI" panose="020B0502040204020203" pitchFamily="34" charset="0"/>
              </a:rPr>
              <a:t>Human decisions</a:t>
            </a:r>
          </a:p>
        </p:txBody>
      </p:sp>
      <p:sp>
        <p:nvSpPr>
          <p:cNvPr id="40" name="Rectangle: Rounded Corners 39">
            <a:extLst>
              <a:ext uri="{FF2B5EF4-FFF2-40B4-BE49-F238E27FC236}">
                <a16:creationId xmlns:a16="http://schemas.microsoft.com/office/drawing/2014/main" id="{9E63C2FB-7DD9-3B34-9C39-8653EB17DA43}"/>
              </a:ext>
            </a:extLst>
          </p:cNvPr>
          <p:cNvSpPr/>
          <p:nvPr/>
        </p:nvSpPr>
        <p:spPr>
          <a:xfrm>
            <a:off x="2362200" y="5562600"/>
            <a:ext cx="7493000" cy="4318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980E03FB-9501-0844-0C40-9C44E7A4AE77}"/>
              </a:ext>
            </a:extLst>
          </p:cNvPr>
          <p:cNvSpPr txBox="1"/>
          <p:nvPr/>
        </p:nvSpPr>
        <p:spPr>
          <a:xfrm>
            <a:off x="2362200" y="5562600"/>
            <a:ext cx="7493000" cy="431800"/>
          </a:xfrm>
          <a:prstGeom prst="rect">
            <a:avLst/>
          </a:prstGeom>
          <a:noFill/>
        </p:spPr>
        <p:txBody>
          <a:bodyPr vert="horz" wrap="square" lIns="50800" tIns="25400" rIns="50800" bIns="25400" rtlCol="0" anchor="ctr">
            <a:noAutofit/>
          </a:bodyPr>
          <a:lstStyle/>
          <a:p>
            <a:pPr algn="ctr"/>
            <a:r>
              <a:rPr lang="en-US" sz="950" b="1">
                <a:solidFill>
                  <a:srgbClr val="FFFFFF"/>
                </a:solidFill>
                <a:latin typeface="Segoe UI" panose="020B0502040204020203" pitchFamily="34" charset="0"/>
              </a:rPr>
              <a:t>ONE-WAY BOUNDARY: no catalog, stock or order write-back</a:t>
            </a:r>
          </a:p>
        </p:txBody>
      </p:sp>
      <p:sp>
        <p:nvSpPr>
          <p:cNvPr id="42" name="TextBox 41">
            <a:extLst>
              <a:ext uri="{FF2B5EF4-FFF2-40B4-BE49-F238E27FC236}">
                <a16:creationId xmlns:a16="http://schemas.microsoft.com/office/drawing/2014/main" id="{389F057F-4872-9738-0F48-CA8050BF394E}"/>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43" name="TextBox 42">
            <a:extLst>
              <a:ext uri="{FF2B5EF4-FFF2-40B4-BE49-F238E27FC236}">
                <a16:creationId xmlns:a16="http://schemas.microsoft.com/office/drawing/2014/main" id="{1AF027F9-B06F-E9B7-E79A-9708F27A356A}"/>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3</a:t>
            </a:r>
          </a:p>
        </p:txBody>
      </p:sp>
    </p:spTree>
    <p:extLst>
      <p:ext uri="{BB962C8B-B14F-4D97-AF65-F5344CB8AC3E}">
        <p14:creationId xmlns:p14="http://schemas.microsoft.com/office/powerpoint/2010/main" val="15747541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55BE98D-F233-0653-73D8-9713762BA489}"/>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RESPONSIBILITY BOUNDARY</a:t>
            </a:r>
          </a:p>
        </p:txBody>
      </p:sp>
      <p:sp>
        <p:nvSpPr>
          <p:cNvPr id="3" name="TextBox 2">
            <a:extLst>
              <a:ext uri="{FF2B5EF4-FFF2-40B4-BE49-F238E27FC236}">
                <a16:creationId xmlns:a16="http://schemas.microsoft.com/office/drawing/2014/main" id="{CDAF978D-6FDD-4937-C856-82726F965D0F}"/>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One system of record; one prediction layer</a:t>
            </a:r>
          </a:p>
        </p:txBody>
      </p:sp>
      <p:sp>
        <p:nvSpPr>
          <p:cNvPr id="4" name="TextBox 3">
            <a:extLst>
              <a:ext uri="{FF2B5EF4-FFF2-40B4-BE49-F238E27FC236}">
                <a16:creationId xmlns:a16="http://schemas.microsoft.com/office/drawing/2014/main" id="{90270E36-856D-3985-F141-9C83FB2E213C}"/>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The separation prevents local edits from being overwritten or mistaken for operational truth.</a:t>
            </a:r>
          </a:p>
        </p:txBody>
      </p:sp>
      <p:sp>
        <p:nvSpPr>
          <p:cNvPr id="5" name="Rectangle: Rounded Corners 4">
            <a:extLst>
              <a:ext uri="{FF2B5EF4-FFF2-40B4-BE49-F238E27FC236}">
                <a16:creationId xmlns:a16="http://schemas.microsoft.com/office/drawing/2014/main" id="{2221DB92-8AC2-F435-6F18-F2775AEC8ADE}"/>
              </a:ext>
            </a:extLst>
          </p:cNvPr>
          <p:cNvSpPr/>
          <p:nvPr/>
        </p:nvSpPr>
        <p:spPr>
          <a:xfrm>
            <a:off x="609600" y="1778000"/>
            <a:ext cx="4902200" cy="3175000"/>
          </a:xfrm>
          <a:prstGeom prst="roundRect">
            <a:avLst/>
          </a:prstGeom>
          <a:solidFill>
            <a:srgbClr val="E8F1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99615545-169A-C7EB-37ED-59974CE202A8}"/>
              </a:ext>
            </a:extLst>
          </p:cNvPr>
          <p:cNvSpPr/>
          <p:nvPr/>
        </p:nvSpPr>
        <p:spPr>
          <a:xfrm>
            <a:off x="609600" y="1778000"/>
            <a:ext cx="4902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8D4A9D5-7664-70C3-D766-01675681AEBD}"/>
              </a:ext>
            </a:extLst>
          </p:cNvPr>
          <p:cNvSpPr txBox="1"/>
          <p:nvPr/>
        </p:nvSpPr>
        <p:spPr>
          <a:xfrm>
            <a:off x="838200" y="2032000"/>
            <a:ext cx="4445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BUYABANS BACK OFFICE - owns and changes</a:t>
            </a:r>
          </a:p>
        </p:txBody>
      </p:sp>
      <p:sp>
        <p:nvSpPr>
          <p:cNvPr id="8" name="TextBox 7">
            <a:extLst>
              <a:ext uri="{FF2B5EF4-FFF2-40B4-BE49-F238E27FC236}">
                <a16:creationId xmlns:a16="http://schemas.microsoft.com/office/drawing/2014/main" id="{EE0ED942-BC88-A0B0-0E25-8A7842449AE8}"/>
              </a:ext>
            </a:extLst>
          </p:cNvPr>
          <p:cNvSpPr txBox="1"/>
          <p:nvPr/>
        </p:nvSpPr>
        <p:spPr>
          <a:xfrm>
            <a:off x="838200" y="2552700"/>
            <a:ext cx="4445000" cy="2222500"/>
          </a:xfrm>
          <a:prstGeom prst="rect">
            <a:avLst/>
          </a:prstGeom>
          <a:noFill/>
        </p:spPr>
        <p:txBody>
          <a:bodyPr vert="horz" wrap="square" lIns="50800" tIns="25400" rIns="50800" bIns="25400" rtlCol="0" anchor="t">
            <a:noAutofit/>
          </a:bodyPr>
          <a:lstStyle/>
          <a:p>
            <a:r>
              <a:rPr lang="en-US" sz="1050">
                <a:solidFill>
                  <a:srgbClr val="344054"/>
                </a:solidFill>
                <a:latin typeface="Segoe UI" panose="020B0502040204020203" pitchFamily="34" charset="0"/>
              </a:rPr>
              <a:t>Products, variants, categories and attributes</a:t>
            </a:r>
          </a:p>
          <a:p>
            <a:r>
              <a:rPr lang="en-US" sz="1050">
                <a:solidFill>
                  <a:srgbClr val="344054"/>
                </a:solidFill>
                <a:latin typeface="Segoe UI" panose="020B0502040204020203" pitchFamily="34" charset="0"/>
              </a:rPr>
              <a:t>Inventory sources and current stock</a:t>
            </a:r>
          </a:p>
          <a:p>
            <a:r>
              <a:rPr lang="en-US" sz="1050">
                <a:solidFill>
                  <a:srgbClr val="344054"/>
                </a:solidFill>
                <a:latin typeface="Segoe UI" panose="020B0502040204020203" pitchFamily="34" charset="0"/>
              </a:rPr>
              <a:t>Orders, cancellations and refunds</a:t>
            </a:r>
          </a:p>
          <a:p>
            <a:r>
              <a:rPr lang="en-US" sz="1050">
                <a:solidFill>
                  <a:srgbClr val="344054"/>
                </a:solidFill>
                <a:latin typeface="Segoe UI" panose="020B0502040204020203" pitchFamily="34" charset="0"/>
              </a:rPr>
              <a:t>Operational corrections and master data</a:t>
            </a:r>
          </a:p>
        </p:txBody>
      </p:sp>
      <p:sp>
        <p:nvSpPr>
          <p:cNvPr id="9" name="Rectangle: Rounded Corners 8">
            <a:extLst>
              <a:ext uri="{FF2B5EF4-FFF2-40B4-BE49-F238E27FC236}">
                <a16:creationId xmlns:a16="http://schemas.microsoft.com/office/drawing/2014/main" id="{DFD43673-805B-8AE8-4D4A-940BD04CF61E}"/>
              </a:ext>
            </a:extLst>
          </p:cNvPr>
          <p:cNvSpPr/>
          <p:nvPr/>
        </p:nvSpPr>
        <p:spPr>
          <a:xfrm>
            <a:off x="6680200" y="1778000"/>
            <a:ext cx="4902200" cy="3175000"/>
          </a:xfrm>
          <a:prstGeom prst="roundRect">
            <a:avLst/>
          </a:prstGeom>
          <a:solidFill>
            <a:srgbClr val="EEE9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7F440141-2042-8B0A-E59B-6AE95D04F2D5}"/>
              </a:ext>
            </a:extLst>
          </p:cNvPr>
          <p:cNvSpPr/>
          <p:nvPr/>
        </p:nvSpPr>
        <p:spPr>
          <a:xfrm>
            <a:off x="6680200" y="1778000"/>
            <a:ext cx="49022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6C518C4-D7B8-E676-E283-A0E7A2AF1874}"/>
              </a:ext>
            </a:extLst>
          </p:cNvPr>
          <p:cNvSpPr txBox="1"/>
          <p:nvPr/>
        </p:nvSpPr>
        <p:spPr>
          <a:xfrm>
            <a:off x="6908800" y="2032000"/>
            <a:ext cx="4445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FORECASTING APP - reads and computes</a:t>
            </a:r>
          </a:p>
        </p:txBody>
      </p:sp>
      <p:sp>
        <p:nvSpPr>
          <p:cNvPr id="12" name="TextBox 11">
            <a:extLst>
              <a:ext uri="{FF2B5EF4-FFF2-40B4-BE49-F238E27FC236}">
                <a16:creationId xmlns:a16="http://schemas.microsoft.com/office/drawing/2014/main" id="{85CA01C9-EDAB-1DB2-798C-1E434883128F}"/>
              </a:ext>
            </a:extLst>
          </p:cNvPr>
          <p:cNvSpPr txBox="1"/>
          <p:nvPr/>
        </p:nvSpPr>
        <p:spPr>
          <a:xfrm>
            <a:off x="6908800" y="2552700"/>
            <a:ext cx="4445000" cy="2222500"/>
          </a:xfrm>
          <a:prstGeom prst="rect">
            <a:avLst/>
          </a:prstGeom>
          <a:noFill/>
        </p:spPr>
        <p:txBody>
          <a:bodyPr vert="horz" wrap="square" lIns="50800" tIns="25400" rIns="50800" bIns="25400" rtlCol="0" anchor="t">
            <a:noAutofit/>
          </a:bodyPr>
          <a:lstStyle/>
          <a:p>
            <a:r>
              <a:rPr lang="en-US" sz="1050">
                <a:solidFill>
                  <a:srgbClr val="344054"/>
                </a:solidFill>
                <a:latin typeface="Segoe UI" panose="020B0502040204020203" pitchFamily="34" charset="0"/>
              </a:rPr>
              <a:t>Sync history and data-quality evidence</a:t>
            </a:r>
          </a:p>
          <a:p>
            <a:r>
              <a:rPr lang="en-US" sz="1050">
                <a:solidFill>
                  <a:srgbClr val="344054"/>
                </a:solidFill>
                <a:latin typeface="Segoe UI" panose="020B0502040204020203" pitchFamily="34" charset="0"/>
              </a:rPr>
              <a:t>Management dashboard and forecasting</a:t>
            </a:r>
          </a:p>
          <a:p>
            <a:r>
              <a:rPr lang="en-US" sz="1050">
                <a:solidFill>
                  <a:srgbClr val="344054"/>
                </a:solidFill>
                <a:latin typeface="Segoe UI" panose="020B0502040204020203" pitchFamily="34" charset="0"/>
              </a:rPr>
              <a:t>Accuracy scoring and model selection</a:t>
            </a:r>
          </a:p>
          <a:p>
            <a:r>
              <a:rPr lang="en-US" sz="1050">
                <a:solidFill>
                  <a:srgbClr val="344054"/>
                </a:solidFill>
                <a:latin typeface="Segoe UI" panose="020B0502040204020203" pitchFamily="34" charset="0"/>
              </a:rPr>
              <a:t>Recommendations and intelligence views</a:t>
            </a:r>
          </a:p>
          <a:p>
            <a:r>
              <a:rPr lang="en-US" sz="1050">
                <a:solidFill>
                  <a:srgbClr val="344054"/>
                </a:solidFill>
                <a:latin typeface="Segoe UI" panose="020B0502040204020203" pitchFamily="34" charset="0"/>
              </a:rPr>
              <a:t>User account security</a:t>
            </a:r>
          </a:p>
        </p:txBody>
      </p:sp>
      <p:cxnSp>
        <p:nvCxnSpPr>
          <p:cNvPr id="13" name="Straight Connector 12">
            <a:extLst>
              <a:ext uri="{FF2B5EF4-FFF2-40B4-BE49-F238E27FC236}">
                <a16:creationId xmlns:a16="http://schemas.microsoft.com/office/drawing/2014/main" id="{56765BF2-79C0-47FD-5B43-DEEA05895EE4}"/>
              </a:ext>
            </a:extLst>
          </p:cNvPr>
          <p:cNvCxnSpPr/>
          <p:nvPr/>
        </p:nvCxnSpPr>
        <p:spPr>
          <a:xfrm>
            <a:off x="5613400" y="3022600"/>
            <a:ext cx="939800" cy="0"/>
          </a:xfrm>
          <a:prstGeom prst="line">
            <a:avLst/>
          </a:prstGeom>
          <a:ln w="3810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3719AC4B-E167-4054-1106-B1C4EC282281}"/>
              </a:ext>
            </a:extLst>
          </p:cNvPr>
          <p:cNvSpPr txBox="1"/>
          <p:nvPr/>
        </p:nvSpPr>
        <p:spPr>
          <a:xfrm>
            <a:off x="5689600" y="2590800"/>
            <a:ext cx="812800" cy="304800"/>
          </a:xfrm>
          <a:prstGeom prst="rect">
            <a:avLst/>
          </a:prstGeom>
          <a:noFill/>
        </p:spPr>
        <p:txBody>
          <a:bodyPr vert="horz" wrap="square" lIns="50800" tIns="25400" rIns="50800" bIns="25400" rtlCol="0" anchor="ctr">
            <a:noAutofit/>
          </a:bodyPr>
          <a:lstStyle/>
          <a:p>
            <a:pPr algn="ctr"/>
            <a:r>
              <a:rPr lang="en-US" sz="1000" b="1">
                <a:solidFill>
                  <a:srgbClr val="078A99"/>
                </a:solidFill>
                <a:latin typeface="Segoe UI" panose="020B0502040204020203" pitchFamily="34" charset="0"/>
              </a:rPr>
              <a:t>GET only</a:t>
            </a:r>
          </a:p>
        </p:txBody>
      </p:sp>
      <p:cxnSp>
        <p:nvCxnSpPr>
          <p:cNvPr id="15" name="Straight Connector 14">
            <a:extLst>
              <a:ext uri="{FF2B5EF4-FFF2-40B4-BE49-F238E27FC236}">
                <a16:creationId xmlns:a16="http://schemas.microsoft.com/office/drawing/2014/main" id="{C87B7FC0-58A7-F2D4-958A-934613D1E400}"/>
              </a:ext>
            </a:extLst>
          </p:cNvPr>
          <p:cNvCxnSpPr/>
          <p:nvPr/>
        </p:nvCxnSpPr>
        <p:spPr>
          <a:xfrm flipH="1">
            <a:off x="5613400" y="3708400"/>
            <a:ext cx="939800" cy="0"/>
          </a:xfrm>
          <a:prstGeom prst="line">
            <a:avLst/>
          </a:prstGeom>
          <a:ln w="25400">
            <a:solidFill>
              <a:srgbClr val="E5484D"/>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12DC3BC9-DD49-A163-8474-73A8E8FF7FA3}"/>
              </a:ext>
            </a:extLst>
          </p:cNvPr>
          <p:cNvSpPr txBox="1"/>
          <p:nvPr/>
        </p:nvSpPr>
        <p:spPr>
          <a:xfrm>
            <a:off x="5562600" y="3860800"/>
            <a:ext cx="1066800" cy="279400"/>
          </a:xfrm>
          <a:prstGeom prst="rect">
            <a:avLst/>
          </a:prstGeom>
          <a:noFill/>
        </p:spPr>
        <p:txBody>
          <a:bodyPr vert="horz" wrap="square" lIns="50800" tIns="25400" rIns="50800" bIns="25400" rtlCol="0" anchor="ctr">
            <a:noAutofit/>
          </a:bodyPr>
          <a:lstStyle/>
          <a:p>
            <a:pPr algn="ctr"/>
            <a:r>
              <a:rPr lang="en-US" sz="850" b="1">
                <a:solidFill>
                  <a:srgbClr val="E5484D"/>
                </a:solidFill>
                <a:latin typeface="Segoe UI" panose="020B0502040204020203" pitchFamily="34" charset="0"/>
              </a:rPr>
              <a:t>NO WRITE-BACK</a:t>
            </a:r>
          </a:p>
        </p:txBody>
      </p:sp>
      <p:sp>
        <p:nvSpPr>
          <p:cNvPr id="17" name="Rectangle: Rounded Corners 16">
            <a:extLst>
              <a:ext uri="{FF2B5EF4-FFF2-40B4-BE49-F238E27FC236}">
                <a16:creationId xmlns:a16="http://schemas.microsoft.com/office/drawing/2014/main" id="{A0073064-12F3-8F87-96EA-BF235BE594EE}"/>
              </a:ext>
            </a:extLst>
          </p:cNvPr>
          <p:cNvSpPr/>
          <p:nvPr/>
        </p:nvSpPr>
        <p:spPr>
          <a:xfrm>
            <a:off x="1447800" y="5346700"/>
            <a:ext cx="9296400" cy="711200"/>
          </a:xfrm>
          <a:prstGeom prst="roundRect">
            <a:avLst/>
          </a:prstGeom>
          <a:solidFill>
            <a:srgbClr val="E1F7EF"/>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F801392-BBA5-E226-0A06-A05DA7DA7CE1}"/>
              </a:ext>
            </a:extLst>
          </p:cNvPr>
          <p:cNvSpPr txBox="1"/>
          <p:nvPr/>
        </p:nvSpPr>
        <p:spPr>
          <a:xfrm>
            <a:off x="1676400" y="5486400"/>
            <a:ext cx="8839200" cy="431800"/>
          </a:xfrm>
          <a:prstGeom prst="rect">
            <a:avLst/>
          </a:prstGeom>
          <a:noFill/>
        </p:spPr>
        <p:txBody>
          <a:bodyPr vert="horz" wrap="square" lIns="50800" tIns="25400" rIns="50800" bIns="25400" rtlCol="0" anchor="ctr">
            <a:noAutofit/>
          </a:bodyPr>
          <a:lstStyle/>
          <a:p>
            <a:pPr algn="ctr"/>
            <a:r>
              <a:rPr lang="en-US" sz="1050" b="1">
                <a:solidFill>
                  <a:srgbClr val="0B1536"/>
                </a:solidFill>
                <a:latin typeface="Segoe UI" panose="020B0502040204020203" pitchFamily="34" charset="0"/>
              </a:rPr>
              <a:t>No create, edit or delete route exists for business data. Local writes are operational records: syncs, forecasts, scores, recommendation decisions and account settings.</a:t>
            </a:r>
          </a:p>
        </p:txBody>
      </p:sp>
      <p:sp>
        <p:nvSpPr>
          <p:cNvPr id="19" name="TextBox 18">
            <a:extLst>
              <a:ext uri="{FF2B5EF4-FFF2-40B4-BE49-F238E27FC236}">
                <a16:creationId xmlns:a16="http://schemas.microsoft.com/office/drawing/2014/main" id="{2AF5C17E-4F94-3616-B3B9-E52AA13481E9}"/>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0" name="TextBox 19">
            <a:extLst>
              <a:ext uri="{FF2B5EF4-FFF2-40B4-BE49-F238E27FC236}">
                <a16:creationId xmlns:a16="http://schemas.microsoft.com/office/drawing/2014/main" id="{82F6397D-FEEC-E243-DFB2-C509C996259D}"/>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4</a:t>
            </a:r>
          </a:p>
        </p:txBody>
      </p:sp>
    </p:spTree>
    <p:extLst>
      <p:ext uri="{BB962C8B-B14F-4D97-AF65-F5344CB8AC3E}">
        <p14:creationId xmlns:p14="http://schemas.microsoft.com/office/powerpoint/2010/main" val="28479758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4A6522-BA0D-9E7D-83EC-E087CFACA634}"/>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CURRENT CAPABILITY MAP</a:t>
            </a:r>
          </a:p>
        </p:txBody>
      </p:sp>
      <p:sp>
        <p:nvSpPr>
          <p:cNvPr id="3" name="TextBox 2">
            <a:extLst>
              <a:ext uri="{FF2B5EF4-FFF2-40B4-BE49-F238E27FC236}">
                <a16:creationId xmlns:a16="http://schemas.microsoft.com/office/drawing/2014/main" id="{D8E732FB-B89A-5C4C-4B7A-CEEB08C0F90C}"/>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What users can see and do today</a:t>
            </a:r>
          </a:p>
        </p:txBody>
      </p:sp>
      <p:sp>
        <p:nvSpPr>
          <p:cNvPr id="4" name="TextBox 3">
            <a:extLst>
              <a:ext uri="{FF2B5EF4-FFF2-40B4-BE49-F238E27FC236}">
                <a16:creationId xmlns:a16="http://schemas.microsoft.com/office/drawing/2014/main" id="{3804FE31-2C29-4FB9-64AC-CC03A6314388}"/>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The sidebar is organized around visibility, forecasting and investigation - not stock operation.</a:t>
            </a:r>
          </a:p>
        </p:txBody>
      </p:sp>
      <p:sp>
        <p:nvSpPr>
          <p:cNvPr id="5" name="Rectangle: Rounded Corners 4">
            <a:extLst>
              <a:ext uri="{FF2B5EF4-FFF2-40B4-BE49-F238E27FC236}">
                <a16:creationId xmlns:a16="http://schemas.microsoft.com/office/drawing/2014/main" id="{E4BAAE69-C694-2D14-A3CE-D901BA48A68A}"/>
              </a:ext>
            </a:extLst>
          </p:cNvPr>
          <p:cNvSpPr/>
          <p:nvPr/>
        </p:nvSpPr>
        <p:spPr>
          <a:xfrm>
            <a:off x="609600" y="1739900"/>
            <a:ext cx="3505200" cy="16764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FE81B9ED-118B-D47D-5F9A-99B407C789B9}"/>
              </a:ext>
            </a:extLst>
          </p:cNvPr>
          <p:cNvSpPr/>
          <p:nvPr/>
        </p:nvSpPr>
        <p:spPr>
          <a:xfrm>
            <a:off x="609600" y="1739900"/>
            <a:ext cx="3505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517F40D-5871-E493-A803-D0C5099A11E6}"/>
              </a:ext>
            </a:extLst>
          </p:cNvPr>
          <p:cNvSpPr txBox="1"/>
          <p:nvPr/>
        </p:nvSpPr>
        <p:spPr>
          <a:xfrm>
            <a:off x="838200" y="19939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OVERVIEW</a:t>
            </a:r>
          </a:p>
        </p:txBody>
      </p:sp>
      <p:sp>
        <p:nvSpPr>
          <p:cNvPr id="8" name="TextBox 7">
            <a:extLst>
              <a:ext uri="{FF2B5EF4-FFF2-40B4-BE49-F238E27FC236}">
                <a16:creationId xmlns:a16="http://schemas.microsoft.com/office/drawing/2014/main" id="{E38B6294-DB7B-74DA-5D6C-2C40737E3DD9}"/>
              </a:ext>
            </a:extLst>
          </p:cNvPr>
          <p:cNvSpPr txBox="1"/>
          <p:nvPr/>
        </p:nvSpPr>
        <p:spPr>
          <a:xfrm>
            <a:off x="838200" y="2514600"/>
            <a:ext cx="3048000" cy="7239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Dashboard</a:t>
            </a:r>
          </a:p>
          <a:p>
            <a:r>
              <a:rPr lang="en-US" sz="1000">
                <a:solidFill>
                  <a:srgbClr val="344054"/>
                </a:solidFill>
                <a:latin typeface="Segoe UI" panose="020B0502040204020203" pitchFamily="34" charset="0"/>
              </a:rPr>
              <a:t>BuyAbans sync</a:t>
            </a:r>
          </a:p>
        </p:txBody>
      </p:sp>
      <p:sp>
        <p:nvSpPr>
          <p:cNvPr id="9" name="Rectangle: Rounded Corners 8">
            <a:extLst>
              <a:ext uri="{FF2B5EF4-FFF2-40B4-BE49-F238E27FC236}">
                <a16:creationId xmlns:a16="http://schemas.microsoft.com/office/drawing/2014/main" id="{7CC6F4BE-CB8F-AE28-572B-D89F65AA5E86}"/>
              </a:ext>
            </a:extLst>
          </p:cNvPr>
          <p:cNvSpPr/>
          <p:nvPr/>
        </p:nvSpPr>
        <p:spPr>
          <a:xfrm>
            <a:off x="4343400" y="1739900"/>
            <a:ext cx="3505200" cy="16764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EACF4A99-D148-E34F-602F-8615545601A3}"/>
              </a:ext>
            </a:extLst>
          </p:cNvPr>
          <p:cNvSpPr/>
          <p:nvPr/>
        </p:nvSpPr>
        <p:spPr>
          <a:xfrm>
            <a:off x="4343400" y="1739900"/>
            <a:ext cx="35052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03F58C1-6E14-4B0C-0662-51562A4DB5AB}"/>
              </a:ext>
            </a:extLst>
          </p:cNvPr>
          <p:cNvSpPr txBox="1"/>
          <p:nvPr/>
        </p:nvSpPr>
        <p:spPr>
          <a:xfrm>
            <a:off x="4572000" y="19939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CATALOG</a:t>
            </a:r>
          </a:p>
        </p:txBody>
      </p:sp>
      <p:sp>
        <p:nvSpPr>
          <p:cNvPr id="12" name="TextBox 11">
            <a:extLst>
              <a:ext uri="{FF2B5EF4-FFF2-40B4-BE49-F238E27FC236}">
                <a16:creationId xmlns:a16="http://schemas.microsoft.com/office/drawing/2014/main" id="{BCFD9C3B-1116-9E90-8ABD-B682C4565BD9}"/>
              </a:ext>
            </a:extLst>
          </p:cNvPr>
          <p:cNvSpPr txBox="1"/>
          <p:nvPr/>
        </p:nvSpPr>
        <p:spPr>
          <a:xfrm>
            <a:off x="4572000" y="2514600"/>
            <a:ext cx="3048000" cy="7239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Products, variants, SKUs</a:t>
            </a:r>
          </a:p>
          <a:p>
            <a:r>
              <a:rPr lang="en-US" sz="1000">
                <a:solidFill>
                  <a:srgbClr val="344054"/>
                </a:solidFill>
                <a:latin typeface="Segoe UI" panose="020B0502040204020203" pitchFamily="34" charset="0"/>
              </a:rPr>
              <a:t>Categories, brands, attributes</a:t>
            </a:r>
          </a:p>
        </p:txBody>
      </p:sp>
      <p:sp>
        <p:nvSpPr>
          <p:cNvPr id="13" name="Rectangle: Rounded Corners 12">
            <a:extLst>
              <a:ext uri="{FF2B5EF4-FFF2-40B4-BE49-F238E27FC236}">
                <a16:creationId xmlns:a16="http://schemas.microsoft.com/office/drawing/2014/main" id="{043F8A48-44A6-51D6-0150-5E9BC1FAACD6}"/>
              </a:ext>
            </a:extLst>
          </p:cNvPr>
          <p:cNvSpPr/>
          <p:nvPr/>
        </p:nvSpPr>
        <p:spPr>
          <a:xfrm>
            <a:off x="8077200" y="1739900"/>
            <a:ext cx="3505200" cy="16764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A8E671BA-4EB8-87A4-888D-6C19206F63A3}"/>
              </a:ext>
            </a:extLst>
          </p:cNvPr>
          <p:cNvSpPr/>
          <p:nvPr/>
        </p:nvSpPr>
        <p:spPr>
          <a:xfrm>
            <a:off x="8077200" y="1739900"/>
            <a:ext cx="3505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D936150-E904-2196-038C-01AAB3D257C3}"/>
              </a:ext>
            </a:extLst>
          </p:cNvPr>
          <p:cNvSpPr txBox="1"/>
          <p:nvPr/>
        </p:nvSpPr>
        <p:spPr>
          <a:xfrm>
            <a:off x="8305800" y="19939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INVENTORY VIEWS</a:t>
            </a:r>
          </a:p>
        </p:txBody>
      </p:sp>
      <p:sp>
        <p:nvSpPr>
          <p:cNvPr id="16" name="TextBox 15">
            <a:extLst>
              <a:ext uri="{FF2B5EF4-FFF2-40B4-BE49-F238E27FC236}">
                <a16:creationId xmlns:a16="http://schemas.microsoft.com/office/drawing/2014/main" id="{94DA1C4E-7A7E-72E7-C033-C4568EBD8ACF}"/>
              </a:ext>
            </a:extLst>
          </p:cNvPr>
          <p:cNvSpPr txBox="1"/>
          <p:nvPr/>
        </p:nvSpPr>
        <p:spPr>
          <a:xfrm>
            <a:off x="8305800" y="2514600"/>
            <a:ext cx="3048000" cy="7239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Current stock, analytics, batches</a:t>
            </a:r>
          </a:p>
          <a:p>
            <a:r>
              <a:rPr lang="en-US" sz="1000">
                <a:solidFill>
                  <a:srgbClr val="344054"/>
                </a:solidFill>
                <a:latin typeface="Segoe UI" panose="020B0502040204020203" pitchFamily="34" charset="0"/>
              </a:rPr>
              <a:t>Snapshots and warehouses</a:t>
            </a:r>
          </a:p>
        </p:txBody>
      </p:sp>
      <p:sp>
        <p:nvSpPr>
          <p:cNvPr id="17" name="Rectangle: Rounded Corners 16">
            <a:extLst>
              <a:ext uri="{FF2B5EF4-FFF2-40B4-BE49-F238E27FC236}">
                <a16:creationId xmlns:a16="http://schemas.microsoft.com/office/drawing/2014/main" id="{0AE4514D-8A0C-710C-667B-F6091C5B87AF}"/>
              </a:ext>
            </a:extLst>
          </p:cNvPr>
          <p:cNvSpPr/>
          <p:nvPr/>
        </p:nvSpPr>
        <p:spPr>
          <a:xfrm>
            <a:off x="609600" y="3822700"/>
            <a:ext cx="3505200" cy="1676400"/>
          </a:xfrm>
          <a:prstGeom prst="roundRect">
            <a:avLst/>
          </a:prstGeom>
          <a:solidFill>
            <a:srgbClr val="FFFFFF"/>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1145857A-2CD5-3BA1-D2D3-A121A2FAE364}"/>
              </a:ext>
            </a:extLst>
          </p:cNvPr>
          <p:cNvSpPr/>
          <p:nvPr/>
        </p:nvSpPr>
        <p:spPr>
          <a:xfrm>
            <a:off x="609600" y="3822700"/>
            <a:ext cx="3505200" cy="101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52F5B39D-2986-5E51-A27B-91DAF3C8A2B3}"/>
              </a:ext>
            </a:extLst>
          </p:cNvPr>
          <p:cNvSpPr txBox="1"/>
          <p:nvPr/>
        </p:nvSpPr>
        <p:spPr>
          <a:xfrm>
            <a:off x="838200" y="40767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SUPPLY REFERENCE</a:t>
            </a:r>
          </a:p>
        </p:txBody>
      </p:sp>
      <p:sp>
        <p:nvSpPr>
          <p:cNvPr id="20" name="TextBox 19">
            <a:extLst>
              <a:ext uri="{FF2B5EF4-FFF2-40B4-BE49-F238E27FC236}">
                <a16:creationId xmlns:a16="http://schemas.microsoft.com/office/drawing/2014/main" id="{A68532C5-A443-EDE6-22C4-89AC800FD54D}"/>
              </a:ext>
            </a:extLst>
          </p:cNvPr>
          <p:cNvSpPr txBox="1"/>
          <p:nvPr/>
        </p:nvSpPr>
        <p:spPr>
          <a:xfrm>
            <a:off x="838200" y="4597400"/>
            <a:ext cx="3048000" cy="7239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Read-only suppliers</a:t>
            </a:r>
          </a:p>
          <a:p>
            <a:r>
              <a:rPr lang="en-US" sz="1000">
                <a:solidFill>
                  <a:srgbClr val="344054"/>
                </a:solidFill>
                <a:latin typeface="Segoe UI" panose="020B0502040204020203" pitchFamily="34" charset="0"/>
              </a:rPr>
              <a:t>Historical operations remain by URL</a:t>
            </a:r>
          </a:p>
        </p:txBody>
      </p:sp>
      <p:sp>
        <p:nvSpPr>
          <p:cNvPr id="21" name="Rectangle: Rounded Corners 20">
            <a:extLst>
              <a:ext uri="{FF2B5EF4-FFF2-40B4-BE49-F238E27FC236}">
                <a16:creationId xmlns:a16="http://schemas.microsoft.com/office/drawing/2014/main" id="{38A562F4-7DE6-FC09-A016-2D289E8B7DE3}"/>
              </a:ext>
            </a:extLst>
          </p:cNvPr>
          <p:cNvSpPr/>
          <p:nvPr/>
        </p:nvSpPr>
        <p:spPr>
          <a:xfrm>
            <a:off x="4343400" y="3822700"/>
            <a:ext cx="3505200" cy="16764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18735692-B05A-A4F3-3729-58D9E7ADB529}"/>
              </a:ext>
            </a:extLst>
          </p:cNvPr>
          <p:cNvSpPr/>
          <p:nvPr/>
        </p:nvSpPr>
        <p:spPr>
          <a:xfrm>
            <a:off x="4343400" y="3822700"/>
            <a:ext cx="35052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EA6D334B-C259-F743-17FB-A886115EF100}"/>
              </a:ext>
            </a:extLst>
          </p:cNvPr>
          <p:cNvSpPr txBox="1"/>
          <p:nvPr/>
        </p:nvSpPr>
        <p:spPr>
          <a:xfrm>
            <a:off x="4572000" y="40767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FORECASTING</a:t>
            </a:r>
          </a:p>
        </p:txBody>
      </p:sp>
      <p:sp>
        <p:nvSpPr>
          <p:cNvPr id="24" name="TextBox 23">
            <a:extLst>
              <a:ext uri="{FF2B5EF4-FFF2-40B4-BE49-F238E27FC236}">
                <a16:creationId xmlns:a16="http://schemas.microsoft.com/office/drawing/2014/main" id="{FF70612E-251C-FCFA-699A-953B6C9D700C}"/>
              </a:ext>
            </a:extLst>
          </p:cNvPr>
          <p:cNvSpPr txBox="1"/>
          <p:nvPr/>
        </p:nvSpPr>
        <p:spPr>
          <a:xfrm>
            <a:off x="4572000" y="4597400"/>
            <a:ext cx="3048000" cy="7239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Forecasts and runs</a:t>
            </a:r>
          </a:p>
          <a:p>
            <a:r>
              <a:rPr lang="en-US" sz="1000">
                <a:solidFill>
                  <a:srgbClr val="344054"/>
                </a:solidFill>
                <a:latin typeface="Segoe UI" panose="020B0502040204020203" pitchFamily="34" charset="0"/>
              </a:rPr>
              <a:t>Recommendations and allocation</a:t>
            </a:r>
          </a:p>
        </p:txBody>
      </p:sp>
      <p:sp>
        <p:nvSpPr>
          <p:cNvPr id="25" name="Rectangle: Rounded Corners 24">
            <a:extLst>
              <a:ext uri="{FF2B5EF4-FFF2-40B4-BE49-F238E27FC236}">
                <a16:creationId xmlns:a16="http://schemas.microsoft.com/office/drawing/2014/main" id="{C0013E12-79CE-10E7-8271-4EC75865C353}"/>
              </a:ext>
            </a:extLst>
          </p:cNvPr>
          <p:cNvSpPr/>
          <p:nvPr/>
        </p:nvSpPr>
        <p:spPr>
          <a:xfrm>
            <a:off x="8077200" y="3822700"/>
            <a:ext cx="3505200" cy="16764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2BE3BC96-9ABE-0F0D-0024-DD0ED4A14636}"/>
              </a:ext>
            </a:extLst>
          </p:cNvPr>
          <p:cNvSpPr/>
          <p:nvPr/>
        </p:nvSpPr>
        <p:spPr>
          <a:xfrm>
            <a:off x="8077200" y="3822700"/>
            <a:ext cx="3505200" cy="101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931B1344-5B31-42B1-E246-EA12A3477CF8}"/>
              </a:ext>
            </a:extLst>
          </p:cNvPr>
          <p:cNvSpPr txBox="1"/>
          <p:nvPr/>
        </p:nvSpPr>
        <p:spPr>
          <a:xfrm>
            <a:off x="8305800" y="40767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ADVANCED INTELLIGENCE</a:t>
            </a:r>
          </a:p>
        </p:txBody>
      </p:sp>
      <p:sp>
        <p:nvSpPr>
          <p:cNvPr id="28" name="TextBox 27">
            <a:extLst>
              <a:ext uri="{FF2B5EF4-FFF2-40B4-BE49-F238E27FC236}">
                <a16:creationId xmlns:a16="http://schemas.microsoft.com/office/drawing/2014/main" id="{A0FFA3E9-0B65-7ECA-2036-3D1DD277BB6C}"/>
              </a:ext>
            </a:extLst>
          </p:cNvPr>
          <p:cNvSpPr txBox="1"/>
          <p:nvPr/>
        </p:nvSpPr>
        <p:spPr>
          <a:xfrm>
            <a:off x="8305800" y="4597400"/>
            <a:ext cx="3048000" cy="7239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Supplier, demand, product, price</a:t>
            </a:r>
          </a:p>
          <a:p>
            <a:r>
              <a:rPr lang="en-US" sz="1000">
                <a:solidFill>
                  <a:srgbClr val="344054"/>
                </a:solidFill>
                <a:latin typeface="Segoe UI" panose="020B0502040204020203" pitchFamily="34" charset="0"/>
              </a:rPr>
              <a:t>and promotion signals</a:t>
            </a:r>
          </a:p>
        </p:txBody>
      </p:sp>
      <p:sp>
        <p:nvSpPr>
          <p:cNvPr id="29" name="Rectangle: Rounded Corners 28">
            <a:extLst>
              <a:ext uri="{FF2B5EF4-FFF2-40B4-BE49-F238E27FC236}">
                <a16:creationId xmlns:a16="http://schemas.microsoft.com/office/drawing/2014/main" id="{1DF73929-DF37-23D8-E3FF-8C268985E156}"/>
              </a:ext>
            </a:extLst>
          </p:cNvPr>
          <p:cNvSpPr/>
          <p:nvPr/>
        </p:nvSpPr>
        <p:spPr>
          <a:xfrm>
            <a:off x="1752600" y="5867400"/>
            <a:ext cx="8686800" cy="406400"/>
          </a:xfrm>
          <a:prstGeom prst="roundRect">
            <a:avLst/>
          </a:prstGeom>
          <a:solidFill>
            <a:srgbClr val="FDE7E7"/>
          </a:solidFill>
          <a:ln w="12700">
            <a:solidFill>
              <a:srgbClr val="FDE7E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D2E78431-C9B5-13F3-A141-7EF2C7434495}"/>
              </a:ext>
            </a:extLst>
          </p:cNvPr>
          <p:cNvSpPr txBox="1"/>
          <p:nvPr/>
        </p:nvSpPr>
        <p:spPr>
          <a:xfrm>
            <a:off x="1752600" y="5867400"/>
            <a:ext cx="8686800" cy="406400"/>
          </a:xfrm>
          <a:prstGeom prst="rect">
            <a:avLst/>
          </a:prstGeom>
          <a:noFill/>
        </p:spPr>
        <p:txBody>
          <a:bodyPr vert="horz" wrap="square" lIns="50800" tIns="25400" rIns="50800" bIns="25400" rtlCol="0" anchor="ctr">
            <a:noAutofit/>
          </a:bodyPr>
          <a:lstStyle/>
          <a:p>
            <a:pPr algn="ctr"/>
            <a:r>
              <a:rPr lang="en-US" sz="930" b="1">
                <a:solidFill>
                  <a:srgbClr val="E5484D"/>
                </a:solidFill>
                <a:latin typeface="Segoe UI" panose="020B0502040204020203" pitchFamily="34" charset="0"/>
              </a:rPr>
              <a:t>All pages require authentication + verified email; role-based permissions are not implemented.</a:t>
            </a:r>
          </a:p>
        </p:txBody>
      </p:sp>
      <p:sp>
        <p:nvSpPr>
          <p:cNvPr id="31" name="TextBox 30">
            <a:extLst>
              <a:ext uri="{FF2B5EF4-FFF2-40B4-BE49-F238E27FC236}">
                <a16:creationId xmlns:a16="http://schemas.microsoft.com/office/drawing/2014/main" id="{8905732E-D874-AF9E-61D8-5B9F855EB032}"/>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2" name="TextBox 31">
            <a:extLst>
              <a:ext uri="{FF2B5EF4-FFF2-40B4-BE49-F238E27FC236}">
                <a16:creationId xmlns:a16="http://schemas.microsoft.com/office/drawing/2014/main" id="{C2D32B15-34E4-5A74-E4DA-E9DAF56A8984}"/>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5</a:t>
            </a:r>
          </a:p>
        </p:txBody>
      </p:sp>
    </p:spTree>
    <p:extLst>
      <p:ext uri="{BB962C8B-B14F-4D97-AF65-F5344CB8AC3E}">
        <p14:creationId xmlns:p14="http://schemas.microsoft.com/office/powerpoint/2010/main" val="181664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EA18B3-85E3-4C0B-A75F-85DC14BF6933}"/>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PROCESS INFOGRAPHIC</a:t>
            </a:r>
          </a:p>
        </p:txBody>
      </p:sp>
      <p:sp>
        <p:nvSpPr>
          <p:cNvPr id="3" name="TextBox 2">
            <a:extLst>
              <a:ext uri="{FF2B5EF4-FFF2-40B4-BE49-F238E27FC236}">
                <a16:creationId xmlns:a16="http://schemas.microsoft.com/office/drawing/2014/main" id="{9DDEE1C7-7C97-65A6-B7AC-11BEE6578C9D}"/>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How a BuyAbans sync becomes usable data</a:t>
            </a:r>
          </a:p>
        </p:txBody>
      </p:sp>
      <p:sp>
        <p:nvSpPr>
          <p:cNvPr id="4" name="TextBox 3">
            <a:extLst>
              <a:ext uri="{FF2B5EF4-FFF2-40B4-BE49-F238E27FC236}">
                <a16:creationId xmlns:a16="http://schemas.microsoft.com/office/drawing/2014/main" id="{B12EBE93-9CAC-0AD5-3130-54D18484D15E}"/>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Dependencies run in order, re-runs correct existing rows, and failures remain visible in sync history.</a:t>
            </a:r>
          </a:p>
        </p:txBody>
      </p:sp>
      <p:cxnSp>
        <p:nvCxnSpPr>
          <p:cNvPr id="5" name="Straight Connector 4">
            <a:extLst>
              <a:ext uri="{FF2B5EF4-FFF2-40B4-BE49-F238E27FC236}">
                <a16:creationId xmlns:a16="http://schemas.microsoft.com/office/drawing/2014/main" id="{5077BF5B-5EAD-F045-27D0-BBF9DD061374}"/>
              </a:ext>
            </a:extLst>
          </p:cNvPr>
          <p:cNvCxnSpPr/>
          <p:nvPr/>
        </p:nvCxnSpPr>
        <p:spPr>
          <a:xfrm>
            <a:off x="1854200" y="2768600"/>
            <a:ext cx="215900" cy="0"/>
          </a:xfrm>
          <a:prstGeom prst="line">
            <a:avLst/>
          </a:prstGeom>
          <a:ln w="2540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E067C8CD-FBE5-B51A-6503-A76A37239EF4}"/>
              </a:ext>
            </a:extLst>
          </p:cNvPr>
          <p:cNvSpPr/>
          <p:nvPr/>
        </p:nvSpPr>
        <p:spPr>
          <a:xfrm>
            <a:off x="533400" y="2095500"/>
            <a:ext cx="1320800" cy="13462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8B2C7FC-0869-22B1-36A0-6D46A1C69DAE}"/>
              </a:ext>
            </a:extLst>
          </p:cNvPr>
          <p:cNvSpPr/>
          <p:nvPr/>
        </p:nvSpPr>
        <p:spPr>
          <a:xfrm>
            <a:off x="977900" y="22733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78A9E86-84B1-9D4B-DA07-702D3B000975}"/>
              </a:ext>
            </a:extLst>
          </p:cNvPr>
          <p:cNvSpPr txBox="1"/>
          <p:nvPr/>
        </p:nvSpPr>
        <p:spPr>
          <a:xfrm>
            <a:off x="9779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1</a:t>
            </a:r>
          </a:p>
        </p:txBody>
      </p:sp>
      <p:sp>
        <p:nvSpPr>
          <p:cNvPr id="9" name="TextBox 8">
            <a:extLst>
              <a:ext uri="{FF2B5EF4-FFF2-40B4-BE49-F238E27FC236}">
                <a16:creationId xmlns:a16="http://schemas.microsoft.com/office/drawing/2014/main" id="{D20A4872-3D98-C523-2C37-91018B14D5C6}"/>
              </a:ext>
            </a:extLst>
          </p:cNvPr>
          <p:cNvSpPr txBox="1"/>
          <p:nvPr/>
        </p:nvSpPr>
        <p:spPr>
          <a:xfrm>
            <a:off x="5842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LOCATIONS</a:t>
            </a:r>
          </a:p>
        </p:txBody>
      </p:sp>
      <p:cxnSp>
        <p:nvCxnSpPr>
          <p:cNvPr id="10" name="Straight Connector 9">
            <a:extLst>
              <a:ext uri="{FF2B5EF4-FFF2-40B4-BE49-F238E27FC236}">
                <a16:creationId xmlns:a16="http://schemas.microsoft.com/office/drawing/2014/main" id="{1E5E3528-3F08-2B0F-4B0C-8E34309D0081}"/>
              </a:ext>
            </a:extLst>
          </p:cNvPr>
          <p:cNvCxnSpPr/>
          <p:nvPr/>
        </p:nvCxnSpPr>
        <p:spPr>
          <a:xfrm>
            <a:off x="3454400" y="2768600"/>
            <a:ext cx="215900" cy="0"/>
          </a:xfrm>
          <a:prstGeom prst="line">
            <a:avLst/>
          </a:prstGeom>
          <a:ln w="2540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0EBCA1F8-555B-CE45-02DB-B150A30887D2}"/>
              </a:ext>
            </a:extLst>
          </p:cNvPr>
          <p:cNvSpPr/>
          <p:nvPr/>
        </p:nvSpPr>
        <p:spPr>
          <a:xfrm>
            <a:off x="2133600" y="2095500"/>
            <a:ext cx="1320800" cy="13462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AD2F35F-BB63-8793-DCEF-17CA3B8D9DAE}"/>
              </a:ext>
            </a:extLst>
          </p:cNvPr>
          <p:cNvSpPr/>
          <p:nvPr/>
        </p:nvSpPr>
        <p:spPr>
          <a:xfrm>
            <a:off x="2578100" y="22733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6AC3977-C08C-CE7B-796B-4AB3A4762899}"/>
              </a:ext>
            </a:extLst>
          </p:cNvPr>
          <p:cNvSpPr txBox="1"/>
          <p:nvPr/>
        </p:nvSpPr>
        <p:spPr>
          <a:xfrm>
            <a:off x="25781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2</a:t>
            </a:r>
          </a:p>
        </p:txBody>
      </p:sp>
      <p:sp>
        <p:nvSpPr>
          <p:cNvPr id="14" name="TextBox 13">
            <a:extLst>
              <a:ext uri="{FF2B5EF4-FFF2-40B4-BE49-F238E27FC236}">
                <a16:creationId xmlns:a16="http://schemas.microsoft.com/office/drawing/2014/main" id="{F2C7B65F-1820-B9ED-289A-F0634EA581FD}"/>
              </a:ext>
            </a:extLst>
          </p:cNvPr>
          <p:cNvSpPr txBox="1"/>
          <p:nvPr/>
        </p:nvSpPr>
        <p:spPr>
          <a:xfrm>
            <a:off x="21844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CATEGORIES</a:t>
            </a:r>
          </a:p>
        </p:txBody>
      </p:sp>
      <p:cxnSp>
        <p:nvCxnSpPr>
          <p:cNvPr id="15" name="Straight Connector 14">
            <a:extLst>
              <a:ext uri="{FF2B5EF4-FFF2-40B4-BE49-F238E27FC236}">
                <a16:creationId xmlns:a16="http://schemas.microsoft.com/office/drawing/2014/main" id="{15AF4300-2E51-E000-41C0-2D34ED9E3989}"/>
              </a:ext>
            </a:extLst>
          </p:cNvPr>
          <p:cNvCxnSpPr/>
          <p:nvPr/>
        </p:nvCxnSpPr>
        <p:spPr>
          <a:xfrm>
            <a:off x="5054600" y="2768600"/>
            <a:ext cx="215900" cy="0"/>
          </a:xfrm>
          <a:prstGeom prst="line">
            <a:avLst/>
          </a:prstGeom>
          <a:ln w="2540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A5279D9A-25D7-F9BB-85B4-1D67E5BB81D0}"/>
              </a:ext>
            </a:extLst>
          </p:cNvPr>
          <p:cNvSpPr/>
          <p:nvPr/>
        </p:nvSpPr>
        <p:spPr>
          <a:xfrm>
            <a:off x="3733800" y="2095500"/>
            <a:ext cx="1320800" cy="13462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3A06F38-693E-B201-562E-BBA01ADBDAF3}"/>
              </a:ext>
            </a:extLst>
          </p:cNvPr>
          <p:cNvSpPr/>
          <p:nvPr/>
        </p:nvSpPr>
        <p:spPr>
          <a:xfrm>
            <a:off x="4178300" y="22733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7E06B40-15BA-978D-706F-E6CC6AE77565}"/>
              </a:ext>
            </a:extLst>
          </p:cNvPr>
          <p:cNvSpPr txBox="1"/>
          <p:nvPr/>
        </p:nvSpPr>
        <p:spPr>
          <a:xfrm>
            <a:off x="41783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3</a:t>
            </a:r>
          </a:p>
        </p:txBody>
      </p:sp>
      <p:sp>
        <p:nvSpPr>
          <p:cNvPr id="19" name="TextBox 18">
            <a:extLst>
              <a:ext uri="{FF2B5EF4-FFF2-40B4-BE49-F238E27FC236}">
                <a16:creationId xmlns:a16="http://schemas.microsoft.com/office/drawing/2014/main" id="{58A89B2B-B27B-2BE0-304F-0E9C783D89BF}"/>
              </a:ext>
            </a:extLst>
          </p:cNvPr>
          <p:cNvSpPr txBox="1"/>
          <p:nvPr/>
        </p:nvSpPr>
        <p:spPr>
          <a:xfrm>
            <a:off x="37846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BRANDS</a:t>
            </a:r>
          </a:p>
        </p:txBody>
      </p:sp>
      <p:cxnSp>
        <p:nvCxnSpPr>
          <p:cNvPr id="20" name="Straight Connector 19">
            <a:extLst>
              <a:ext uri="{FF2B5EF4-FFF2-40B4-BE49-F238E27FC236}">
                <a16:creationId xmlns:a16="http://schemas.microsoft.com/office/drawing/2014/main" id="{E7DF7CF9-9938-DC38-529A-C21299CAADC6}"/>
              </a:ext>
            </a:extLst>
          </p:cNvPr>
          <p:cNvCxnSpPr/>
          <p:nvPr/>
        </p:nvCxnSpPr>
        <p:spPr>
          <a:xfrm>
            <a:off x="6654800" y="2768600"/>
            <a:ext cx="215900" cy="0"/>
          </a:xfrm>
          <a:prstGeom prst="line">
            <a:avLst/>
          </a:prstGeom>
          <a:ln w="2540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E58244C2-1B90-63DE-55E8-64E47986F46C}"/>
              </a:ext>
            </a:extLst>
          </p:cNvPr>
          <p:cNvSpPr/>
          <p:nvPr/>
        </p:nvSpPr>
        <p:spPr>
          <a:xfrm>
            <a:off x="5334000" y="2095500"/>
            <a:ext cx="1320800" cy="13462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427AE2C-90D8-309B-6E87-779D0351579D}"/>
              </a:ext>
            </a:extLst>
          </p:cNvPr>
          <p:cNvSpPr/>
          <p:nvPr/>
        </p:nvSpPr>
        <p:spPr>
          <a:xfrm>
            <a:off x="5778500" y="22733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5CAF8E01-2D2A-9B04-F509-BFC15E54D548}"/>
              </a:ext>
            </a:extLst>
          </p:cNvPr>
          <p:cNvSpPr txBox="1"/>
          <p:nvPr/>
        </p:nvSpPr>
        <p:spPr>
          <a:xfrm>
            <a:off x="57785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4</a:t>
            </a:r>
          </a:p>
        </p:txBody>
      </p:sp>
      <p:sp>
        <p:nvSpPr>
          <p:cNvPr id="24" name="TextBox 23">
            <a:extLst>
              <a:ext uri="{FF2B5EF4-FFF2-40B4-BE49-F238E27FC236}">
                <a16:creationId xmlns:a16="http://schemas.microsoft.com/office/drawing/2014/main" id="{E304E65F-B950-DA84-0654-2C0F5C0F7685}"/>
              </a:ext>
            </a:extLst>
          </p:cNvPr>
          <p:cNvSpPr txBox="1"/>
          <p:nvPr/>
        </p:nvSpPr>
        <p:spPr>
          <a:xfrm>
            <a:off x="53848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ATTRIBUTES</a:t>
            </a:r>
          </a:p>
        </p:txBody>
      </p:sp>
      <p:cxnSp>
        <p:nvCxnSpPr>
          <p:cNvPr id="25" name="Straight Connector 24">
            <a:extLst>
              <a:ext uri="{FF2B5EF4-FFF2-40B4-BE49-F238E27FC236}">
                <a16:creationId xmlns:a16="http://schemas.microsoft.com/office/drawing/2014/main" id="{1F0A669C-B1E2-E5C1-B4BB-EBC95019CF50}"/>
              </a:ext>
            </a:extLst>
          </p:cNvPr>
          <p:cNvCxnSpPr/>
          <p:nvPr/>
        </p:nvCxnSpPr>
        <p:spPr>
          <a:xfrm>
            <a:off x="8255000" y="2768600"/>
            <a:ext cx="215900" cy="0"/>
          </a:xfrm>
          <a:prstGeom prst="line">
            <a:avLst/>
          </a:prstGeom>
          <a:ln w="2540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26" name="Rectangle: Rounded Corners 25">
            <a:extLst>
              <a:ext uri="{FF2B5EF4-FFF2-40B4-BE49-F238E27FC236}">
                <a16:creationId xmlns:a16="http://schemas.microsoft.com/office/drawing/2014/main" id="{B2F0B509-F6B1-CFF4-AE33-24D790663390}"/>
              </a:ext>
            </a:extLst>
          </p:cNvPr>
          <p:cNvSpPr/>
          <p:nvPr/>
        </p:nvSpPr>
        <p:spPr>
          <a:xfrm>
            <a:off x="6934200" y="2095500"/>
            <a:ext cx="1320800" cy="13462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FE38D48B-CE32-162A-E117-B4B22C202964}"/>
              </a:ext>
            </a:extLst>
          </p:cNvPr>
          <p:cNvSpPr/>
          <p:nvPr/>
        </p:nvSpPr>
        <p:spPr>
          <a:xfrm>
            <a:off x="7378700" y="22733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6B5A1F5D-B8FB-4D62-8FEE-0A2F8A6BD499}"/>
              </a:ext>
            </a:extLst>
          </p:cNvPr>
          <p:cNvSpPr txBox="1"/>
          <p:nvPr/>
        </p:nvSpPr>
        <p:spPr>
          <a:xfrm>
            <a:off x="73787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5</a:t>
            </a:r>
          </a:p>
        </p:txBody>
      </p:sp>
      <p:sp>
        <p:nvSpPr>
          <p:cNvPr id="29" name="TextBox 28">
            <a:extLst>
              <a:ext uri="{FF2B5EF4-FFF2-40B4-BE49-F238E27FC236}">
                <a16:creationId xmlns:a16="http://schemas.microsoft.com/office/drawing/2014/main" id="{170A8922-E83E-CFE2-FFE8-AC19BA7F7F76}"/>
              </a:ext>
            </a:extLst>
          </p:cNvPr>
          <p:cNvSpPr txBox="1"/>
          <p:nvPr/>
        </p:nvSpPr>
        <p:spPr>
          <a:xfrm>
            <a:off x="69850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PRODUCTS</a:t>
            </a:r>
          </a:p>
        </p:txBody>
      </p:sp>
      <p:cxnSp>
        <p:nvCxnSpPr>
          <p:cNvPr id="30" name="Straight Connector 29">
            <a:extLst>
              <a:ext uri="{FF2B5EF4-FFF2-40B4-BE49-F238E27FC236}">
                <a16:creationId xmlns:a16="http://schemas.microsoft.com/office/drawing/2014/main" id="{6ECCCFC2-D521-2028-B7D4-B9FB0B888184}"/>
              </a:ext>
            </a:extLst>
          </p:cNvPr>
          <p:cNvCxnSpPr/>
          <p:nvPr/>
        </p:nvCxnSpPr>
        <p:spPr>
          <a:xfrm>
            <a:off x="9855200" y="2768600"/>
            <a:ext cx="215900" cy="0"/>
          </a:xfrm>
          <a:prstGeom prst="line">
            <a:avLst/>
          </a:prstGeom>
          <a:ln w="2540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31" name="Rectangle: Rounded Corners 30">
            <a:extLst>
              <a:ext uri="{FF2B5EF4-FFF2-40B4-BE49-F238E27FC236}">
                <a16:creationId xmlns:a16="http://schemas.microsoft.com/office/drawing/2014/main" id="{DFDF31D8-3D47-3A82-4AA3-BA320C2C0B25}"/>
              </a:ext>
            </a:extLst>
          </p:cNvPr>
          <p:cNvSpPr/>
          <p:nvPr/>
        </p:nvSpPr>
        <p:spPr>
          <a:xfrm>
            <a:off x="8534400" y="2095500"/>
            <a:ext cx="1320800" cy="13462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E7A36885-83BC-1756-4D18-BEC26C717C58}"/>
              </a:ext>
            </a:extLst>
          </p:cNvPr>
          <p:cNvSpPr/>
          <p:nvPr/>
        </p:nvSpPr>
        <p:spPr>
          <a:xfrm>
            <a:off x="8978900" y="22733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Box 32">
            <a:extLst>
              <a:ext uri="{FF2B5EF4-FFF2-40B4-BE49-F238E27FC236}">
                <a16:creationId xmlns:a16="http://schemas.microsoft.com/office/drawing/2014/main" id="{23B386EA-3197-F04B-1F79-B8E2900D8FCB}"/>
              </a:ext>
            </a:extLst>
          </p:cNvPr>
          <p:cNvSpPr txBox="1"/>
          <p:nvPr/>
        </p:nvSpPr>
        <p:spPr>
          <a:xfrm>
            <a:off x="89789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6</a:t>
            </a:r>
          </a:p>
        </p:txBody>
      </p:sp>
      <p:sp>
        <p:nvSpPr>
          <p:cNvPr id="34" name="TextBox 33">
            <a:extLst>
              <a:ext uri="{FF2B5EF4-FFF2-40B4-BE49-F238E27FC236}">
                <a16:creationId xmlns:a16="http://schemas.microsoft.com/office/drawing/2014/main" id="{C6FEB87D-3F4D-AF2F-83C3-1FC3763D2B44}"/>
              </a:ext>
            </a:extLst>
          </p:cNvPr>
          <p:cNvSpPr txBox="1"/>
          <p:nvPr/>
        </p:nvSpPr>
        <p:spPr>
          <a:xfrm>
            <a:off x="85852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STOCK</a:t>
            </a:r>
          </a:p>
        </p:txBody>
      </p:sp>
      <p:sp>
        <p:nvSpPr>
          <p:cNvPr id="35" name="Rectangle: Rounded Corners 34">
            <a:extLst>
              <a:ext uri="{FF2B5EF4-FFF2-40B4-BE49-F238E27FC236}">
                <a16:creationId xmlns:a16="http://schemas.microsoft.com/office/drawing/2014/main" id="{4BD4D81E-AFC4-95E6-7C4E-8F7E888EE091}"/>
              </a:ext>
            </a:extLst>
          </p:cNvPr>
          <p:cNvSpPr/>
          <p:nvPr/>
        </p:nvSpPr>
        <p:spPr>
          <a:xfrm>
            <a:off x="10134600" y="2095500"/>
            <a:ext cx="1320800" cy="13462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3AB1C9D2-978C-FB17-1916-B1127A6DA8BB}"/>
              </a:ext>
            </a:extLst>
          </p:cNvPr>
          <p:cNvSpPr/>
          <p:nvPr/>
        </p:nvSpPr>
        <p:spPr>
          <a:xfrm>
            <a:off x="10579100" y="2273300"/>
            <a:ext cx="431800" cy="4318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6F593D6C-BE6B-E41E-7FF2-D197044BDD45}"/>
              </a:ext>
            </a:extLst>
          </p:cNvPr>
          <p:cNvSpPr txBox="1"/>
          <p:nvPr/>
        </p:nvSpPr>
        <p:spPr>
          <a:xfrm>
            <a:off x="10579100" y="22733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7</a:t>
            </a:r>
          </a:p>
        </p:txBody>
      </p:sp>
      <p:sp>
        <p:nvSpPr>
          <p:cNvPr id="38" name="TextBox 37">
            <a:extLst>
              <a:ext uri="{FF2B5EF4-FFF2-40B4-BE49-F238E27FC236}">
                <a16:creationId xmlns:a16="http://schemas.microsoft.com/office/drawing/2014/main" id="{064DCD9F-3065-C5E9-1D14-CAC5C7175BA5}"/>
              </a:ext>
            </a:extLst>
          </p:cNvPr>
          <p:cNvSpPr txBox="1"/>
          <p:nvPr/>
        </p:nvSpPr>
        <p:spPr>
          <a:xfrm>
            <a:off x="10185400" y="2857500"/>
            <a:ext cx="1219200" cy="355600"/>
          </a:xfrm>
          <a:prstGeom prst="rect">
            <a:avLst/>
          </a:prstGeom>
          <a:noFill/>
        </p:spPr>
        <p:txBody>
          <a:bodyPr vert="horz" wrap="square" lIns="50800" tIns="25400" rIns="50800" bIns="25400" rtlCol="0" anchor="ctr">
            <a:noAutofit/>
          </a:bodyPr>
          <a:lstStyle/>
          <a:p>
            <a:pPr algn="ctr"/>
            <a:r>
              <a:rPr lang="en-US" sz="820" b="1">
                <a:solidFill>
                  <a:srgbClr val="0B1536"/>
                </a:solidFill>
                <a:latin typeface="Segoe UI" panose="020B0502040204020203" pitchFamily="34" charset="0"/>
              </a:rPr>
              <a:t>DEMAND</a:t>
            </a:r>
          </a:p>
        </p:txBody>
      </p:sp>
      <p:sp>
        <p:nvSpPr>
          <p:cNvPr id="39" name="Rectangle: Rounded Corners 38">
            <a:extLst>
              <a:ext uri="{FF2B5EF4-FFF2-40B4-BE49-F238E27FC236}">
                <a16:creationId xmlns:a16="http://schemas.microsoft.com/office/drawing/2014/main" id="{266DDEBA-6372-844A-51BE-C7956DAB3DF6}"/>
              </a:ext>
            </a:extLst>
          </p:cNvPr>
          <p:cNvSpPr/>
          <p:nvPr/>
        </p:nvSpPr>
        <p:spPr>
          <a:xfrm>
            <a:off x="609600" y="3937000"/>
            <a:ext cx="3505200" cy="14732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8D073F4E-0F23-FF4E-95FC-29C5A56A25C5}"/>
              </a:ext>
            </a:extLst>
          </p:cNvPr>
          <p:cNvSpPr/>
          <p:nvPr/>
        </p:nvSpPr>
        <p:spPr>
          <a:xfrm>
            <a:off x="609600" y="3937000"/>
            <a:ext cx="3505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C3B5F4F5-0F7F-5949-2B29-DC17076C00E0}"/>
              </a:ext>
            </a:extLst>
          </p:cNvPr>
          <p:cNvSpPr txBox="1"/>
          <p:nvPr/>
        </p:nvSpPr>
        <p:spPr>
          <a:xfrm>
            <a:off x="838200" y="41910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AUTHENTICATED</a:t>
            </a:r>
          </a:p>
        </p:txBody>
      </p:sp>
      <p:sp>
        <p:nvSpPr>
          <p:cNvPr id="42" name="TextBox 41">
            <a:extLst>
              <a:ext uri="{FF2B5EF4-FFF2-40B4-BE49-F238E27FC236}">
                <a16:creationId xmlns:a16="http://schemas.microsoft.com/office/drawing/2014/main" id="{CB157A52-8157-BD8C-891F-1CDF20FA94E5}"/>
              </a:ext>
            </a:extLst>
          </p:cNvPr>
          <p:cNvSpPr txBox="1"/>
          <p:nvPr/>
        </p:nvSpPr>
        <p:spPr>
          <a:xfrm>
            <a:off x="838200" y="4711700"/>
            <a:ext cx="3048000" cy="520700"/>
          </a:xfrm>
          <a:prstGeom prst="rect">
            <a:avLst/>
          </a:prstGeom>
          <a:noFill/>
        </p:spPr>
        <p:txBody>
          <a:bodyPr vert="horz" wrap="square" lIns="50800" tIns="25400" rIns="50800" bIns="25400" rtlCol="0" anchor="t">
            <a:noAutofit/>
          </a:bodyPr>
          <a:lstStyle/>
          <a:p>
            <a:r>
              <a:rPr lang="en-US" sz="950">
                <a:solidFill>
                  <a:srgbClr val="344054"/>
                </a:solidFill>
                <a:latin typeface="Segoe UI" panose="020B0502040204020203" pitchFamily="34" charset="0"/>
              </a:rPr>
              <a:t>Passport client credentials; token cached until near expiry.</a:t>
            </a:r>
          </a:p>
        </p:txBody>
      </p:sp>
      <p:sp>
        <p:nvSpPr>
          <p:cNvPr id="43" name="Rectangle: Rounded Corners 42">
            <a:extLst>
              <a:ext uri="{FF2B5EF4-FFF2-40B4-BE49-F238E27FC236}">
                <a16:creationId xmlns:a16="http://schemas.microsoft.com/office/drawing/2014/main" id="{ED1D4E99-E057-19D3-13AB-6A53FF667C2D}"/>
              </a:ext>
            </a:extLst>
          </p:cNvPr>
          <p:cNvSpPr/>
          <p:nvPr/>
        </p:nvSpPr>
        <p:spPr>
          <a:xfrm>
            <a:off x="4343400" y="3937000"/>
            <a:ext cx="3505200" cy="14732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57A743E5-D57C-9239-86C0-47965820BB78}"/>
              </a:ext>
            </a:extLst>
          </p:cNvPr>
          <p:cNvSpPr/>
          <p:nvPr/>
        </p:nvSpPr>
        <p:spPr>
          <a:xfrm>
            <a:off x="4343400" y="3937000"/>
            <a:ext cx="35052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7648AEB6-2280-A93A-7513-97E4F577FD91}"/>
              </a:ext>
            </a:extLst>
          </p:cNvPr>
          <p:cNvSpPr txBox="1"/>
          <p:nvPr/>
        </p:nvSpPr>
        <p:spPr>
          <a:xfrm>
            <a:off x="4572000" y="41910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IDEMPOTENT</a:t>
            </a:r>
          </a:p>
        </p:txBody>
      </p:sp>
      <p:sp>
        <p:nvSpPr>
          <p:cNvPr id="46" name="TextBox 45">
            <a:extLst>
              <a:ext uri="{FF2B5EF4-FFF2-40B4-BE49-F238E27FC236}">
                <a16:creationId xmlns:a16="http://schemas.microsoft.com/office/drawing/2014/main" id="{3265FA01-64E7-D3AB-5497-1438D13FA625}"/>
              </a:ext>
            </a:extLst>
          </p:cNvPr>
          <p:cNvSpPr txBox="1"/>
          <p:nvPr/>
        </p:nvSpPr>
        <p:spPr>
          <a:xfrm>
            <a:off x="4572000" y="4711700"/>
            <a:ext cx="3048000" cy="520700"/>
          </a:xfrm>
          <a:prstGeom prst="rect">
            <a:avLst/>
          </a:prstGeom>
          <a:noFill/>
        </p:spPr>
        <p:txBody>
          <a:bodyPr vert="horz" wrap="square" lIns="50800" tIns="25400" rIns="50800" bIns="25400" rtlCol="0" anchor="t">
            <a:noAutofit/>
          </a:bodyPr>
          <a:lstStyle/>
          <a:p>
            <a:r>
              <a:rPr lang="en-US" sz="950">
                <a:solidFill>
                  <a:srgbClr val="344054"/>
                </a:solidFill>
                <a:latin typeface="Segoe UI" panose="020B0502040204020203" pitchFamily="34" charset="0"/>
              </a:rPr>
              <a:t>Upserts correct an existing window; a re-run never double-counts demand.</a:t>
            </a:r>
          </a:p>
        </p:txBody>
      </p:sp>
      <p:sp>
        <p:nvSpPr>
          <p:cNvPr id="47" name="Rectangle: Rounded Corners 46">
            <a:extLst>
              <a:ext uri="{FF2B5EF4-FFF2-40B4-BE49-F238E27FC236}">
                <a16:creationId xmlns:a16="http://schemas.microsoft.com/office/drawing/2014/main" id="{B6EA4D35-402A-3251-060D-2747463E4088}"/>
              </a:ext>
            </a:extLst>
          </p:cNvPr>
          <p:cNvSpPr/>
          <p:nvPr/>
        </p:nvSpPr>
        <p:spPr>
          <a:xfrm>
            <a:off x="8077200" y="3937000"/>
            <a:ext cx="3505200" cy="1473200"/>
          </a:xfrm>
          <a:prstGeom prst="roundRect">
            <a:avLst/>
          </a:prstGeom>
          <a:solidFill>
            <a:srgbClr val="FFFFFF"/>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674193DC-A336-F5BC-2076-7D31FEC7BFC7}"/>
              </a:ext>
            </a:extLst>
          </p:cNvPr>
          <p:cNvSpPr/>
          <p:nvPr/>
        </p:nvSpPr>
        <p:spPr>
          <a:xfrm>
            <a:off x="8077200" y="3937000"/>
            <a:ext cx="3505200" cy="101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Box 48">
            <a:extLst>
              <a:ext uri="{FF2B5EF4-FFF2-40B4-BE49-F238E27FC236}">
                <a16:creationId xmlns:a16="http://schemas.microsoft.com/office/drawing/2014/main" id="{C4CAE521-AEB6-710C-217D-D8D0C0510178}"/>
              </a:ext>
            </a:extLst>
          </p:cNvPr>
          <p:cNvSpPr txBox="1"/>
          <p:nvPr/>
        </p:nvSpPr>
        <p:spPr>
          <a:xfrm>
            <a:off x="8305800" y="41910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RECOVERABLE</a:t>
            </a:r>
          </a:p>
        </p:txBody>
      </p:sp>
      <p:sp>
        <p:nvSpPr>
          <p:cNvPr id="50" name="TextBox 49">
            <a:extLst>
              <a:ext uri="{FF2B5EF4-FFF2-40B4-BE49-F238E27FC236}">
                <a16:creationId xmlns:a16="http://schemas.microsoft.com/office/drawing/2014/main" id="{F2DAFFBF-D31D-1CA7-8B43-9F7E5B354A89}"/>
              </a:ext>
            </a:extLst>
          </p:cNvPr>
          <p:cNvSpPr txBox="1"/>
          <p:nvPr/>
        </p:nvSpPr>
        <p:spPr>
          <a:xfrm>
            <a:off x="8305800" y="4711700"/>
            <a:ext cx="3048000" cy="520700"/>
          </a:xfrm>
          <a:prstGeom prst="rect">
            <a:avLst/>
          </a:prstGeom>
          <a:noFill/>
        </p:spPr>
        <p:txBody>
          <a:bodyPr vert="horz" wrap="square" lIns="50800" tIns="25400" rIns="50800" bIns="25400" rtlCol="0" anchor="t">
            <a:noAutofit/>
          </a:bodyPr>
          <a:lstStyle/>
          <a:p>
            <a:r>
              <a:rPr lang="en-US" sz="950">
                <a:solidFill>
                  <a:srgbClr val="344054"/>
                </a:solidFill>
                <a:latin typeface="Segoe UI" panose="020B0502040204020203" pitchFamily="34" charset="0"/>
              </a:rPr>
              <a:t>A failed stage stops the run, records the reason and keeps completed stages.</a:t>
            </a:r>
          </a:p>
        </p:txBody>
      </p:sp>
      <p:sp>
        <p:nvSpPr>
          <p:cNvPr id="51" name="Rectangle: Rounded Corners 50">
            <a:extLst>
              <a:ext uri="{FF2B5EF4-FFF2-40B4-BE49-F238E27FC236}">
                <a16:creationId xmlns:a16="http://schemas.microsoft.com/office/drawing/2014/main" id="{FD6B89C5-5548-3EAE-E565-B1C0A4E71B74}"/>
              </a:ext>
            </a:extLst>
          </p:cNvPr>
          <p:cNvSpPr/>
          <p:nvPr/>
        </p:nvSpPr>
        <p:spPr>
          <a:xfrm>
            <a:off x="2197100" y="5702300"/>
            <a:ext cx="7797800" cy="4318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525C29F3-6F0C-3AA7-B6A6-3B75B73B46D8}"/>
              </a:ext>
            </a:extLst>
          </p:cNvPr>
          <p:cNvSpPr txBox="1"/>
          <p:nvPr/>
        </p:nvSpPr>
        <p:spPr>
          <a:xfrm>
            <a:off x="2197100" y="5702300"/>
            <a:ext cx="7797800" cy="431800"/>
          </a:xfrm>
          <a:prstGeom prst="rect">
            <a:avLst/>
          </a:prstGeom>
          <a:noFill/>
        </p:spPr>
        <p:txBody>
          <a:bodyPr vert="horz" wrap="square" lIns="50800" tIns="25400" rIns="50800" bIns="25400" rtlCol="0" anchor="ctr">
            <a:noAutofit/>
          </a:bodyPr>
          <a:lstStyle/>
          <a:p>
            <a:pPr algn="ctr"/>
            <a:r>
              <a:rPr lang="en-US" sz="930" b="1">
                <a:solidFill>
                  <a:srgbClr val="FFFFFF"/>
                </a:solidFill>
                <a:latin typeface="Segoe UI" panose="020B0502040204020203" pitchFamily="34" charset="0"/>
              </a:rPr>
              <a:t>Nightly 00:05: replay 14 days so cancellations and refunds update history</a:t>
            </a:r>
          </a:p>
        </p:txBody>
      </p:sp>
      <p:sp>
        <p:nvSpPr>
          <p:cNvPr id="53" name="TextBox 52">
            <a:extLst>
              <a:ext uri="{FF2B5EF4-FFF2-40B4-BE49-F238E27FC236}">
                <a16:creationId xmlns:a16="http://schemas.microsoft.com/office/drawing/2014/main" id="{BBE2C173-EB07-B4AC-8FEE-E21A5F596403}"/>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54" name="TextBox 53">
            <a:extLst>
              <a:ext uri="{FF2B5EF4-FFF2-40B4-BE49-F238E27FC236}">
                <a16:creationId xmlns:a16="http://schemas.microsoft.com/office/drawing/2014/main" id="{E994BBA9-B765-E552-98D2-B9377C80AA79}"/>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6</a:t>
            </a:r>
          </a:p>
        </p:txBody>
      </p:sp>
    </p:spTree>
    <p:extLst>
      <p:ext uri="{BB962C8B-B14F-4D97-AF65-F5344CB8AC3E}">
        <p14:creationId xmlns:p14="http://schemas.microsoft.com/office/powerpoint/2010/main" val="22380046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5DEB03-1E8E-5F47-4568-CC1954B8EBD4}"/>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DATA RECONCILIATION</a:t>
            </a:r>
          </a:p>
        </p:txBody>
      </p:sp>
      <p:sp>
        <p:nvSpPr>
          <p:cNvPr id="3" name="TextBox 2">
            <a:extLst>
              <a:ext uri="{FF2B5EF4-FFF2-40B4-BE49-F238E27FC236}">
                <a16:creationId xmlns:a16="http://schemas.microsoft.com/office/drawing/2014/main" id="{4C05DCA7-0AD4-BC51-1426-E7E144798B3B}"/>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All three demand views reconcile to the unit</a:t>
            </a:r>
          </a:p>
        </p:txBody>
      </p:sp>
      <p:sp>
        <p:nvSpPr>
          <p:cNvPr id="4" name="TextBox 3">
            <a:extLst>
              <a:ext uri="{FF2B5EF4-FFF2-40B4-BE49-F238E27FC236}">
                <a16:creationId xmlns:a16="http://schemas.microsoft.com/office/drawing/2014/main" id="{D5CD68C4-805A-AD02-2BC1-DCA6F90D0EC1}"/>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Different grains describe the same sales from different angles; they must never be summed together.</a:t>
            </a:r>
          </a:p>
        </p:txBody>
      </p:sp>
      <p:sp>
        <p:nvSpPr>
          <p:cNvPr id="5" name="Rectangle: Rounded Corners 4">
            <a:extLst>
              <a:ext uri="{FF2B5EF4-FFF2-40B4-BE49-F238E27FC236}">
                <a16:creationId xmlns:a16="http://schemas.microsoft.com/office/drawing/2014/main" id="{6187450A-9BD3-82AF-3011-970127056623}"/>
              </a:ext>
            </a:extLst>
          </p:cNvPr>
          <p:cNvSpPr/>
          <p:nvPr/>
        </p:nvSpPr>
        <p:spPr>
          <a:xfrm>
            <a:off x="609600" y="1854200"/>
            <a:ext cx="3505200" cy="2857500"/>
          </a:xfrm>
          <a:prstGeom prst="roundRect">
            <a:avLst/>
          </a:prstGeom>
          <a:solidFill>
            <a:srgbClr val="E8F1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B2A5F08B-C918-A454-063E-C436B4FA66CE}"/>
              </a:ext>
            </a:extLst>
          </p:cNvPr>
          <p:cNvSpPr/>
          <p:nvPr/>
        </p:nvSpPr>
        <p:spPr>
          <a:xfrm>
            <a:off x="609600" y="1854200"/>
            <a:ext cx="3505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E9AE75F-7EFC-9DCC-A760-CBE5D62A0F1E}"/>
              </a:ext>
            </a:extLst>
          </p:cNvPr>
          <p:cNvSpPr txBox="1"/>
          <p:nvPr/>
        </p:nvSpPr>
        <p:spPr>
          <a:xfrm>
            <a:off x="838200" y="21082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WAREHOUSE</a:t>
            </a:r>
          </a:p>
        </p:txBody>
      </p:sp>
      <p:sp>
        <p:nvSpPr>
          <p:cNvPr id="8" name="TextBox 7">
            <a:extLst>
              <a:ext uri="{FF2B5EF4-FFF2-40B4-BE49-F238E27FC236}">
                <a16:creationId xmlns:a16="http://schemas.microsoft.com/office/drawing/2014/main" id="{48C37408-909A-26C5-14EA-C0FC6BE7518D}"/>
              </a:ext>
            </a:extLst>
          </p:cNvPr>
          <p:cNvSpPr txBox="1"/>
          <p:nvPr/>
        </p:nvSpPr>
        <p:spPr>
          <a:xfrm>
            <a:off x="838200" y="2628900"/>
            <a:ext cx="3048000" cy="1905000"/>
          </a:xfrm>
          <a:prstGeom prst="rect">
            <a:avLst/>
          </a:prstGeom>
          <a:noFill/>
        </p:spPr>
        <p:txBody>
          <a:bodyPr vert="horz" wrap="square" lIns="50800" tIns="25400" rIns="50800" bIns="25400" rtlCol="0" anchor="t">
            <a:noAutofit/>
          </a:bodyPr>
          <a:lstStyle/>
          <a:p>
            <a:r>
              <a:rPr lang="en-US" sz="1200">
                <a:solidFill>
                  <a:srgbClr val="344054"/>
                </a:solidFill>
                <a:latin typeface="Segoe UI" panose="020B0502040204020203" pitchFamily="34" charset="0"/>
              </a:rPr>
              <a:t>942,873 rows</a:t>
            </a:r>
          </a:p>
          <a:p>
            <a:r>
              <a:rPr lang="en-US" sz="1200">
                <a:solidFill>
                  <a:srgbClr val="344054"/>
                </a:solidFill>
                <a:latin typeface="Segoe UI" panose="020B0502040204020203" pitchFamily="34" charset="0"/>
              </a:rPr>
              <a:t>11 locations</a:t>
            </a:r>
          </a:p>
          <a:p>
            <a:r>
              <a:rPr lang="en-US" sz="1200">
                <a:solidFill>
                  <a:srgbClr val="344054"/>
                </a:solidFill>
                <a:latin typeface="Segoe UI" panose="020B0502040204020203" pitchFamily="34" charset="0"/>
              </a:rPr>
              <a:t>535 SKUs</a:t>
            </a:r>
          </a:p>
          <a:p>
            <a:r>
              <a:rPr lang="en-US" sz="1200">
                <a:solidFill>
                  <a:srgbClr val="344054"/>
                </a:solidFill>
                <a:latin typeface="Segoe UI" panose="020B0502040204020203" pitchFamily="34" charset="0"/>
              </a:rPr>
              <a:t>1,826,136 units</a:t>
            </a:r>
          </a:p>
        </p:txBody>
      </p:sp>
      <p:sp>
        <p:nvSpPr>
          <p:cNvPr id="9" name="Rectangle: Rounded Corners 8">
            <a:extLst>
              <a:ext uri="{FF2B5EF4-FFF2-40B4-BE49-F238E27FC236}">
                <a16:creationId xmlns:a16="http://schemas.microsoft.com/office/drawing/2014/main" id="{CD6D80F7-9E13-5148-4A77-D70A5B70568B}"/>
              </a:ext>
            </a:extLst>
          </p:cNvPr>
          <p:cNvSpPr/>
          <p:nvPr/>
        </p:nvSpPr>
        <p:spPr>
          <a:xfrm>
            <a:off x="4343400" y="1854200"/>
            <a:ext cx="3505200" cy="2857500"/>
          </a:xfrm>
          <a:prstGeom prst="roundRect">
            <a:avLst/>
          </a:prstGeom>
          <a:solidFill>
            <a:srgbClr val="E4F7F8"/>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F7B50CC3-5D11-00AE-A2CC-A16C6915761B}"/>
              </a:ext>
            </a:extLst>
          </p:cNvPr>
          <p:cNvSpPr/>
          <p:nvPr/>
        </p:nvSpPr>
        <p:spPr>
          <a:xfrm>
            <a:off x="4343400" y="1854200"/>
            <a:ext cx="35052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83546A6-B336-C2DE-51BA-AB6B80A24213}"/>
              </a:ext>
            </a:extLst>
          </p:cNvPr>
          <p:cNvSpPr txBox="1"/>
          <p:nvPr/>
        </p:nvSpPr>
        <p:spPr>
          <a:xfrm>
            <a:off x="4572000" y="21082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CHANNEL</a:t>
            </a:r>
          </a:p>
        </p:txBody>
      </p:sp>
      <p:sp>
        <p:nvSpPr>
          <p:cNvPr id="12" name="TextBox 11">
            <a:extLst>
              <a:ext uri="{FF2B5EF4-FFF2-40B4-BE49-F238E27FC236}">
                <a16:creationId xmlns:a16="http://schemas.microsoft.com/office/drawing/2014/main" id="{0948306C-DE40-2518-16D5-948DD39F8D79}"/>
              </a:ext>
            </a:extLst>
          </p:cNvPr>
          <p:cNvSpPr txBox="1"/>
          <p:nvPr/>
        </p:nvSpPr>
        <p:spPr>
          <a:xfrm>
            <a:off x="4572000" y="2628900"/>
            <a:ext cx="3048000" cy="1905000"/>
          </a:xfrm>
          <a:prstGeom prst="rect">
            <a:avLst/>
          </a:prstGeom>
          <a:noFill/>
        </p:spPr>
        <p:txBody>
          <a:bodyPr vert="horz" wrap="square" lIns="50800" tIns="25400" rIns="50800" bIns="25400" rtlCol="0" anchor="t">
            <a:noAutofit/>
          </a:bodyPr>
          <a:lstStyle/>
          <a:p>
            <a:r>
              <a:rPr lang="fr-FR" sz="1200">
                <a:solidFill>
                  <a:srgbClr val="344054"/>
                </a:solidFill>
                <a:latin typeface="Segoe UI" panose="020B0502040204020203" pitchFamily="34" charset="0"/>
              </a:rPr>
              <a:t>571,362 rows</a:t>
            </a:r>
          </a:p>
          <a:p>
            <a:r>
              <a:rPr lang="fr-FR" sz="1200">
                <a:solidFill>
                  <a:srgbClr val="344054"/>
                </a:solidFill>
                <a:latin typeface="Segoe UI" panose="020B0502040204020203" pitchFamily="34" charset="0"/>
              </a:rPr>
              <a:t>4 channels</a:t>
            </a:r>
          </a:p>
          <a:p>
            <a:r>
              <a:rPr lang="fr-FR" sz="1200">
                <a:solidFill>
                  <a:srgbClr val="344054"/>
                </a:solidFill>
                <a:latin typeface="Segoe UI" panose="020B0502040204020203" pitchFamily="34" charset="0"/>
              </a:rPr>
              <a:t>535 SKUs</a:t>
            </a:r>
          </a:p>
          <a:p>
            <a:r>
              <a:rPr lang="fr-FR" sz="1200">
                <a:solidFill>
                  <a:srgbClr val="344054"/>
                </a:solidFill>
                <a:latin typeface="Segoe UI" panose="020B0502040204020203" pitchFamily="34" charset="0"/>
              </a:rPr>
              <a:t>1,826,136 units</a:t>
            </a:r>
            <a:endParaRPr lang="en-US" sz="1200">
              <a:solidFill>
                <a:srgbClr val="344054"/>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46BCC2D5-7988-BC38-B2CC-6D332EAD3E94}"/>
              </a:ext>
            </a:extLst>
          </p:cNvPr>
          <p:cNvSpPr/>
          <p:nvPr/>
        </p:nvSpPr>
        <p:spPr>
          <a:xfrm>
            <a:off x="8077200" y="1854200"/>
            <a:ext cx="3505200" cy="2857500"/>
          </a:xfrm>
          <a:prstGeom prst="roundRect">
            <a:avLst/>
          </a:prstGeom>
          <a:solidFill>
            <a:srgbClr val="EEE9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9DEEB08F-42CC-02BC-F6EC-EA31547DCD55}"/>
              </a:ext>
            </a:extLst>
          </p:cNvPr>
          <p:cNvSpPr/>
          <p:nvPr/>
        </p:nvSpPr>
        <p:spPr>
          <a:xfrm>
            <a:off x="8077200" y="1854200"/>
            <a:ext cx="35052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2FF6453-D1E7-C5BB-6B0D-025A0701B961}"/>
              </a:ext>
            </a:extLst>
          </p:cNvPr>
          <p:cNvSpPr txBox="1"/>
          <p:nvPr/>
        </p:nvSpPr>
        <p:spPr>
          <a:xfrm>
            <a:off x="8305800" y="21082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NATIONAL</a:t>
            </a:r>
          </a:p>
        </p:txBody>
      </p:sp>
      <p:sp>
        <p:nvSpPr>
          <p:cNvPr id="16" name="TextBox 15">
            <a:extLst>
              <a:ext uri="{FF2B5EF4-FFF2-40B4-BE49-F238E27FC236}">
                <a16:creationId xmlns:a16="http://schemas.microsoft.com/office/drawing/2014/main" id="{C063832C-44E6-4DF9-DD51-635C774A5CBC}"/>
              </a:ext>
            </a:extLst>
          </p:cNvPr>
          <p:cNvSpPr txBox="1"/>
          <p:nvPr/>
        </p:nvSpPr>
        <p:spPr>
          <a:xfrm>
            <a:off x="8305800" y="2628900"/>
            <a:ext cx="3048000" cy="1905000"/>
          </a:xfrm>
          <a:prstGeom prst="rect">
            <a:avLst/>
          </a:prstGeom>
          <a:noFill/>
        </p:spPr>
        <p:txBody>
          <a:bodyPr vert="horz" wrap="square" lIns="50800" tIns="25400" rIns="50800" bIns="25400" rtlCol="0" anchor="t">
            <a:noAutofit/>
          </a:bodyPr>
          <a:lstStyle/>
          <a:p>
            <a:r>
              <a:rPr lang="en-US" sz="1200">
                <a:solidFill>
                  <a:srgbClr val="344054"/>
                </a:solidFill>
                <a:latin typeface="Segoe UI" panose="020B0502040204020203" pitchFamily="34" charset="0"/>
              </a:rPr>
              <a:t>348,937 rows</a:t>
            </a:r>
          </a:p>
          <a:p>
            <a:r>
              <a:rPr lang="en-US" sz="1200">
                <a:solidFill>
                  <a:srgbClr val="344054"/>
                </a:solidFill>
                <a:latin typeface="Segoe UI" panose="020B0502040204020203" pitchFamily="34" charset="0"/>
              </a:rPr>
              <a:t>1 total</a:t>
            </a:r>
          </a:p>
          <a:p>
            <a:r>
              <a:rPr lang="en-US" sz="1200">
                <a:solidFill>
                  <a:srgbClr val="344054"/>
                </a:solidFill>
                <a:latin typeface="Segoe UI" panose="020B0502040204020203" pitchFamily="34" charset="0"/>
              </a:rPr>
              <a:t>535 SKUs</a:t>
            </a:r>
          </a:p>
          <a:p>
            <a:r>
              <a:rPr lang="en-US" sz="1200">
                <a:solidFill>
                  <a:srgbClr val="344054"/>
                </a:solidFill>
                <a:latin typeface="Segoe UI" panose="020B0502040204020203" pitchFamily="34" charset="0"/>
              </a:rPr>
              <a:t>1,826,136 units</a:t>
            </a:r>
          </a:p>
        </p:txBody>
      </p:sp>
      <p:cxnSp>
        <p:nvCxnSpPr>
          <p:cNvPr id="17" name="Straight Connector 16">
            <a:extLst>
              <a:ext uri="{FF2B5EF4-FFF2-40B4-BE49-F238E27FC236}">
                <a16:creationId xmlns:a16="http://schemas.microsoft.com/office/drawing/2014/main" id="{822D65D9-BBCE-548B-6C51-CE4B929DEE16}"/>
              </a:ext>
            </a:extLst>
          </p:cNvPr>
          <p:cNvCxnSpPr/>
          <p:nvPr/>
        </p:nvCxnSpPr>
        <p:spPr>
          <a:xfrm>
            <a:off x="2362200" y="4978400"/>
            <a:ext cx="7467600" cy="0"/>
          </a:xfrm>
          <a:prstGeom prst="line">
            <a:avLst/>
          </a:prstGeom>
          <a:ln w="38100">
            <a:solidFill>
              <a:srgbClr val="0E9F6E"/>
            </a:solidFill>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512C59A-D1D6-0B8E-4DA7-A6E1C2AC651A}"/>
              </a:ext>
            </a:extLst>
          </p:cNvPr>
          <p:cNvSpPr/>
          <p:nvPr/>
        </p:nvSpPr>
        <p:spPr>
          <a:xfrm>
            <a:off x="3530600" y="4749800"/>
            <a:ext cx="5130800" cy="4572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3F2FA00-EF7C-5DF1-FDC8-776BEFFB908A}"/>
              </a:ext>
            </a:extLst>
          </p:cNvPr>
          <p:cNvSpPr txBox="1"/>
          <p:nvPr/>
        </p:nvSpPr>
        <p:spPr>
          <a:xfrm>
            <a:off x="3530600" y="4749800"/>
            <a:ext cx="5130800" cy="4572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EXACT MATCH: 1,826,136 units at every grain</a:t>
            </a:r>
          </a:p>
        </p:txBody>
      </p:sp>
      <p:sp>
        <p:nvSpPr>
          <p:cNvPr id="20" name="Rectangle: Rounded Corners 19">
            <a:extLst>
              <a:ext uri="{FF2B5EF4-FFF2-40B4-BE49-F238E27FC236}">
                <a16:creationId xmlns:a16="http://schemas.microsoft.com/office/drawing/2014/main" id="{0CB5BB31-2303-3E55-DEE6-FE56FC62249A}"/>
              </a:ext>
            </a:extLst>
          </p:cNvPr>
          <p:cNvSpPr/>
          <p:nvPr/>
        </p:nvSpPr>
        <p:spPr>
          <a:xfrm>
            <a:off x="1943100" y="5562600"/>
            <a:ext cx="8305800" cy="4318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1FE2026-DD9F-95AE-3356-134477BF995E}"/>
              </a:ext>
            </a:extLst>
          </p:cNvPr>
          <p:cNvSpPr txBox="1"/>
          <p:nvPr/>
        </p:nvSpPr>
        <p:spPr>
          <a:xfrm>
            <a:off x="1943100" y="5562600"/>
            <a:ext cx="8305800" cy="431800"/>
          </a:xfrm>
          <a:prstGeom prst="rect">
            <a:avLst/>
          </a:prstGeom>
          <a:noFill/>
        </p:spPr>
        <p:txBody>
          <a:bodyPr vert="horz" wrap="square" lIns="50800" tIns="25400" rIns="50800" bIns="25400" rtlCol="0" anchor="ctr">
            <a:noAutofit/>
          </a:bodyPr>
          <a:lstStyle/>
          <a:p>
            <a:pPr algn="ctr"/>
            <a:r>
              <a:rPr lang="en-US" sz="920" b="1">
                <a:solidFill>
                  <a:srgbClr val="FFFFFF"/>
                </a:solidFill>
                <a:latin typeface="Segoe UI" panose="020B0502040204020203" pitchFamily="34" charset="0"/>
              </a:rPr>
              <a:t>2022-09-04 to 2026-09-04 | unmatched SKUs: 0 | active grain: warehouse</a:t>
            </a:r>
          </a:p>
        </p:txBody>
      </p:sp>
      <p:sp>
        <p:nvSpPr>
          <p:cNvPr id="22" name="TextBox 21">
            <a:extLst>
              <a:ext uri="{FF2B5EF4-FFF2-40B4-BE49-F238E27FC236}">
                <a16:creationId xmlns:a16="http://schemas.microsoft.com/office/drawing/2014/main" id="{A36CA152-380A-2339-A9BD-61E4EA38544D}"/>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3" name="TextBox 22">
            <a:extLst>
              <a:ext uri="{FF2B5EF4-FFF2-40B4-BE49-F238E27FC236}">
                <a16:creationId xmlns:a16="http://schemas.microsoft.com/office/drawing/2014/main" id="{DC642971-DBB9-3594-6202-69B9BC4FB203}"/>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7</a:t>
            </a:r>
          </a:p>
        </p:txBody>
      </p:sp>
    </p:spTree>
    <p:extLst>
      <p:ext uri="{BB962C8B-B14F-4D97-AF65-F5344CB8AC3E}">
        <p14:creationId xmlns:p14="http://schemas.microsoft.com/office/powerpoint/2010/main" val="26054335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368EABB-E6CD-7792-6D2F-53F887A92C81}"/>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PROCESS INFOGRAPHIC</a:t>
            </a:r>
          </a:p>
        </p:txBody>
      </p:sp>
      <p:sp>
        <p:nvSpPr>
          <p:cNvPr id="3" name="TextBox 2">
            <a:extLst>
              <a:ext uri="{FF2B5EF4-FFF2-40B4-BE49-F238E27FC236}">
                <a16:creationId xmlns:a16="http://schemas.microsoft.com/office/drawing/2014/main" id="{9D1B85D8-AAD8-F2A1-861E-CDFBCB0C7A92}"/>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The sync rebuilds a usable product tree</a:t>
            </a:r>
          </a:p>
        </p:txBody>
      </p:sp>
      <p:sp>
        <p:nvSpPr>
          <p:cNvPr id="4" name="TextBox 3">
            <a:extLst>
              <a:ext uri="{FF2B5EF4-FFF2-40B4-BE49-F238E27FC236}">
                <a16:creationId xmlns:a16="http://schemas.microsoft.com/office/drawing/2014/main" id="{A50CE06F-C8EB-922F-5211-B335A01604EA}"/>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Parentage and common variant axes are normalized during ingestion instead of flattening or duplicating the catalog.</a:t>
            </a:r>
          </a:p>
        </p:txBody>
      </p:sp>
      <p:sp>
        <p:nvSpPr>
          <p:cNvPr id="5" name="Rectangle: Rounded Corners 4">
            <a:extLst>
              <a:ext uri="{FF2B5EF4-FFF2-40B4-BE49-F238E27FC236}">
                <a16:creationId xmlns:a16="http://schemas.microsoft.com/office/drawing/2014/main" id="{724DB3F4-506E-B100-2353-4C62B6690ED4}"/>
              </a:ext>
            </a:extLst>
          </p:cNvPr>
          <p:cNvSpPr/>
          <p:nvPr/>
        </p:nvSpPr>
        <p:spPr>
          <a:xfrm>
            <a:off x="609600" y="1841500"/>
            <a:ext cx="3124200" cy="2984500"/>
          </a:xfrm>
          <a:prstGeom prst="roundRect">
            <a:avLst/>
          </a:prstGeom>
          <a:solidFill>
            <a:srgbClr val="E8F1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6018C7D3-43B0-DA50-CC7F-75A8CB99C5D3}"/>
              </a:ext>
            </a:extLst>
          </p:cNvPr>
          <p:cNvSpPr/>
          <p:nvPr/>
        </p:nvSpPr>
        <p:spPr>
          <a:xfrm>
            <a:off x="609600" y="1841500"/>
            <a:ext cx="3124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D3A7036-F81D-D035-3C0B-289CEC6630EB}"/>
              </a:ext>
            </a:extLst>
          </p:cNvPr>
          <p:cNvSpPr txBox="1"/>
          <p:nvPr/>
        </p:nvSpPr>
        <p:spPr>
          <a:xfrm>
            <a:off x="838200" y="2095500"/>
            <a:ext cx="2667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BACK-OFFICE FEED</a:t>
            </a:r>
          </a:p>
        </p:txBody>
      </p:sp>
      <p:sp>
        <p:nvSpPr>
          <p:cNvPr id="8" name="TextBox 7">
            <a:extLst>
              <a:ext uri="{FF2B5EF4-FFF2-40B4-BE49-F238E27FC236}">
                <a16:creationId xmlns:a16="http://schemas.microsoft.com/office/drawing/2014/main" id="{82F94104-C948-9E2C-1A2F-066A643789BA}"/>
              </a:ext>
            </a:extLst>
          </p:cNvPr>
          <p:cNvSpPr txBox="1"/>
          <p:nvPr/>
        </p:nvSpPr>
        <p:spPr>
          <a:xfrm>
            <a:off x="838200" y="2616200"/>
            <a:ext cx="2667000" cy="2032000"/>
          </a:xfrm>
          <a:prstGeom prst="rect">
            <a:avLst/>
          </a:prstGeom>
          <a:noFill/>
        </p:spPr>
        <p:txBody>
          <a:bodyPr vert="horz" wrap="square" lIns="50800" tIns="25400" rIns="50800" bIns="25400" rtlCol="0" anchor="t">
            <a:noAutofit/>
          </a:bodyPr>
          <a:lstStyle/>
          <a:p>
            <a:r>
              <a:rPr lang="en-US" sz="1070">
                <a:solidFill>
                  <a:srgbClr val="344054"/>
                </a:solidFill>
                <a:latin typeface="Segoe UI" panose="020B0502040204020203" pitchFamily="34" charset="0"/>
              </a:rPr>
              <a:t>Configurable parents</a:t>
            </a:r>
          </a:p>
          <a:p>
            <a:r>
              <a:rPr lang="en-US" sz="1070">
                <a:solidFill>
                  <a:srgbClr val="344054"/>
                </a:solidFill>
                <a:latin typeface="Segoe UI" panose="020B0502040204020203" pitchFamily="34" charset="0"/>
              </a:rPr>
              <a:t>Simple child variants</a:t>
            </a:r>
          </a:p>
          <a:p>
            <a:r>
              <a:rPr lang="en-US" sz="1070">
                <a:solidFill>
                  <a:srgbClr val="344054"/>
                </a:solidFill>
                <a:latin typeface="Segoe UI" panose="020B0502040204020203" pitchFamily="34" charset="0"/>
              </a:rPr>
              <a:t>Standalone products</a:t>
            </a:r>
          </a:p>
          <a:p>
            <a:r>
              <a:rPr lang="en-US" sz="1070">
                <a:solidFill>
                  <a:srgbClr val="344054"/>
                </a:solidFill>
                <a:latin typeface="Segoe UI" panose="020B0502040204020203" pitchFamily="34" charset="0"/>
              </a:rPr>
              <a:t>Per-product size/color/capacity</a:t>
            </a:r>
          </a:p>
        </p:txBody>
      </p:sp>
      <p:cxnSp>
        <p:nvCxnSpPr>
          <p:cNvPr id="9" name="Straight Connector 8">
            <a:extLst>
              <a:ext uri="{FF2B5EF4-FFF2-40B4-BE49-F238E27FC236}">
                <a16:creationId xmlns:a16="http://schemas.microsoft.com/office/drawing/2014/main" id="{6CC53CD7-AB6D-2BC7-BB22-E12D51C6877F}"/>
              </a:ext>
            </a:extLst>
          </p:cNvPr>
          <p:cNvCxnSpPr/>
          <p:nvPr/>
        </p:nvCxnSpPr>
        <p:spPr>
          <a:xfrm>
            <a:off x="3784600" y="3327400"/>
            <a:ext cx="800100" cy="0"/>
          </a:xfrm>
          <a:prstGeom prst="line">
            <a:avLst/>
          </a:prstGeom>
          <a:ln w="3810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FD4DB492-3FCA-EA12-9A5E-03B458C7F9FD}"/>
              </a:ext>
            </a:extLst>
          </p:cNvPr>
          <p:cNvSpPr/>
          <p:nvPr/>
        </p:nvSpPr>
        <p:spPr>
          <a:xfrm>
            <a:off x="4635500" y="1841500"/>
            <a:ext cx="2921000" cy="2984500"/>
          </a:xfrm>
          <a:prstGeom prst="roundRect">
            <a:avLst/>
          </a:prstGeom>
          <a:solidFill>
            <a:srgbClr val="E4F7F8"/>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8A3AF6E4-B645-E1EE-510D-F2DA12670301}"/>
              </a:ext>
            </a:extLst>
          </p:cNvPr>
          <p:cNvSpPr/>
          <p:nvPr/>
        </p:nvSpPr>
        <p:spPr>
          <a:xfrm>
            <a:off x="4635500" y="1841500"/>
            <a:ext cx="29210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EB3431B-716A-885A-EEF2-731DECF39CDA}"/>
              </a:ext>
            </a:extLst>
          </p:cNvPr>
          <p:cNvSpPr txBox="1"/>
          <p:nvPr/>
        </p:nvSpPr>
        <p:spPr>
          <a:xfrm>
            <a:off x="4864100" y="2095500"/>
            <a:ext cx="2463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THREE-PASS NORMALIZATION</a:t>
            </a:r>
          </a:p>
        </p:txBody>
      </p:sp>
      <p:sp>
        <p:nvSpPr>
          <p:cNvPr id="13" name="TextBox 12">
            <a:extLst>
              <a:ext uri="{FF2B5EF4-FFF2-40B4-BE49-F238E27FC236}">
                <a16:creationId xmlns:a16="http://schemas.microsoft.com/office/drawing/2014/main" id="{81787234-C5CD-3BEC-864B-96498BC9623F}"/>
              </a:ext>
            </a:extLst>
          </p:cNvPr>
          <p:cNvSpPr txBox="1"/>
          <p:nvPr/>
        </p:nvSpPr>
        <p:spPr>
          <a:xfrm>
            <a:off x="4864100" y="2616200"/>
            <a:ext cx="2463800" cy="2032000"/>
          </a:xfrm>
          <a:prstGeom prst="rect">
            <a:avLst/>
          </a:prstGeom>
          <a:noFill/>
        </p:spPr>
        <p:txBody>
          <a:bodyPr vert="horz" wrap="square" lIns="50800" tIns="25400" rIns="50800" bIns="25400" rtlCol="0" anchor="t">
            <a:noAutofit/>
          </a:bodyPr>
          <a:lstStyle/>
          <a:p>
            <a:r>
              <a:rPr lang="en-US" sz="1010">
                <a:solidFill>
                  <a:srgbClr val="344054"/>
                </a:solidFill>
                <a:latin typeface="Segoe UI" panose="020B0502040204020203" pitchFamily="34" charset="0"/>
              </a:rPr>
              <a:t>1. Parents + standalone</a:t>
            </a:r>
          </a:p>
          <a:p>
            <a:r>
              <a:rPr lang="en-US" sz="1010">
                <a:solidFill>
                  <a:srgbClr val="344054"/>
                </a:solidFill>
                <a:latin typeface="Segoe UI" panose="020B0502040204020203" pitchFamily="34" charset="0"/>
              </a:rPr>
              <a:t>2. Variants linked to parents</a:t>
            </a:r>
          </a:p>
          <a:p>
            <a:r>
              <a:rPr lang="en-US" sz="1010">
                <a:solidFill>
                  <a:srgbClr val="344054"/>
                </a:solidFill>
                <a:latin typeface="Segoe UI" panose="020B0502040204020203" pitchFamily="34" charset="0"/>
              </a:rPr>
              <a:t>3. Orphan cleanup</a:t>
            </a:r>
          </a:p>
          <a:p>
            <a:endParaRPr lang="en-US" sz="1010">
              <a:solidFill>
                <a:srgbClr val="344054"/>
              </a:solidFill>
              <a:latin typeface="Segoe UI" panose="020B0502040204020203" pitchFamily="34" charset="0"/>
            </a:endParaRPr>
          </a:p>
          <a:p>
            <a:r>
              <a:rPr lang="en-US" sz="1010">
                <a:solidFill>
                  <a:srgbClr val="344054"/>
                </a:solidFill>
                <a:latin typeface="Segoe UI" panose="020B0502040204020203" pitchFamily="34" charset="0"/>
              </a:rPr>
              <a:t>475 source attributes -&gt; 52 local</a:t>
            </a:r>
          </a:p>
        </p:txBody>
      </p:sp>
      <p:cxnSp>
        <p:nvCxnSpPr>
          <p:cNvPr id="14" name="Straight Connector 13">
            <a:extLst>
              <a:ext uri="{FF2B5EF4-FFF2-40B4-BE49-F238E27FC236}">
                <a16:creationId xmlns:a16="http://schemas.microsoft.com/office/drawing/2014/main" id="{E535F28B-6F89-CC2B-D3DD-A2E490EF756B}"/>
              </a:ext>
            </a:extLst>
          </p:cNvPr>
          <p:cNvCxnSpPr/>
          <p:nvPr/>
        </p:nvCxnSpPr>
        <p:spPr>
          <a:xfrm>
            <a:off x="7607300" y="3327400"/>
            <a:ext cx="800100" cy="0"/>
          </a:xfrm>
          <a:prstGeom prst="line">
            <a:avLst/>
          </a:prstGeom>
          <a:ln w="3810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2B552C28-9C4E-B338-39D2-F8DA1FB9C25E}"/>
              </a:ext>
            </a:extLst>
          </p:cNvPr>
          <p:cNvSpPr/>
          <p:nvPr/>
        </p:nvSpPr>
        <p:spPr>
          <a:xfrm>
            <a:off x="8458200" y="1841500"/>
            <a:ext cx="3124200" cy="2984500"/>
          </a:xfrm>
          <a:prstGeom prst="roundRect">
            <a:avLst/>
          </a:prstGeom>
          <a:solidFill>
            <a:srgbClr val="EEE9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BF765281-570F-C617-F2DE-F40DBB3C62F4}"/>
              </a:ext>
            </a:extLst>
          </p:cNvPr>
          <p:cNvSpPr/>
          <p:nvPr/>
        </p:nvSpPr>
        <p:spPr>
          <a:xfrm>
            <a:off x="8458200" y="1841500"/>
            <a:ext cx="31242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1BA43F5-BF00-9798-54DA-7F13F496A1A9}"/>
              </a:ext>
            </a:extLst>
          </p:cNvPr>
          <p:cNvSpPr txBox="1"/>
          <p:nvPr/>
        </p:nvSpPr>
        <p:spPr>
          <a:xfrm>
            <a:off x="8686800" y="2095500"/>
            <a:ext cx="2667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LOCAL FORECAST CATALOG</a:t>
            </a:r>
          </a:p>
        </p:txBody>
      </p:sp>
      <p:sp>
        <p:nvSpPr>
          <p:cNvPr id="18" name="TextBox 17">
            <a:extLst>
              <a:ext uri="{FF2B5EF4-FFF2-40B4-BE49-F238E27FC236}">
                <a16:creationId xmlns:a16="http://schemas.microsoft.com/office/drawing/2014/main" id="{5946F537-9967-0B29-A822-170F5BAE4020}"/>
              </a:ext>
            </a:extLst>
          </p:cNvPr>
          <p:cNvSpPr txBox="1"/>
          <p:nvPr/>
        </p:nvSpPr>
        <p:spPr>
          <a:xfrm>
            <a:off x="8686800" y="2616200"/>
            <a:ext cx="2667000" cy="2032000"/>
          </a:xfrm>
          <a:prstGeom prst="rect">
            <a:avLst/>
          </a:prstGeom>
          <a:noFill/>
        </p:spPr>
        <p:txBody>
          <a:bodyPr vert="horz" wrap="square" lIns="50800" tIns="25400" rIns="50800" bIns="25400" rtlCol="0" anchor="t">
            <a:noAutofit/>
          </a:bodyPr>
          <a:lstStyle/>
          <a:p>
            <a:r>
              <a:rPr lang="en-US" sz="1050">
                <a:solidFill>
                  <a:srgbClr val="344054"/>
                </a:solidFill>
                <a:latin typeface="Segoe UI" panose="020B0502040204020203" pitchFamily="34" charset="0"/>
              </a:rPr>
              <a:t>363 configurable parents</a:t>
            </a:r>
          </a:p>
          <a:p>
            <a:r>
              <a:rPr lang="en-US" sz="1050">
                <a:solidFill>
                  <a:srgbClr val="344054"/>
                </a:solidFill>
                <a:latin typeface="Segoe UI" panose="020B0502040204020203" pitchFamily="34" charset="0"/>
              </a:rPr>
              <a:t>1,857 linked variants</a:t>
            </a:r>
          </a:p>
          <a:p>
            <a:r>
              <a:rPr lang="en-US" sz="1050">
                <a:solidFill>
                  <a:srgbClr val="344054"/>
                </a:solidFill>
                <a:latin typeface="Segoe UI" panose="020B0502040204020203" pitchFamily="34" charset="0"/>
              </a:rPr>
              <a:t>9,035 standalone products</a:t>
            </a:r>
          </a:p>
          <a:p>
            <a:r>
              <a:rPr lang="en-US" sz="1050">
                <a:solidFill>
                  <a:srgbClr val="344054"/>
                </a:solidFill>
                <a:latin typeface="Segoe UI" panose="020B0502040204020203" pitchFamily="34" charset="0"/>
              </a:rPr>
              <a:t>10,892 SKUs</a:t>
            </a:r>
          </a:p>
          <a:p>
            <a:r>
              <a:rPr lang="en-US" sz="1050">
                <a:solidFill>
                  <a:srgbClr val="344054"/>
                </a:solidFill>
                <a:latin typeface="Segoe UI" panose="020B0502040204020203" pitchFamily="34" charset="0"/>
              </a:rPr>
              <a:t>1,929 normalized axis values</a:t>
            </a:r>
          </a:p>
        </p:txBody>
      </p:sp>
      <p:sp>
        <p:nvSpPr>
          <p:cNvPr id="19" name="Rectangle: Rounded Corners 18">
            <a:extLst>
              <a:ext uri="{FF2B5EF4-FFF2-40B4-BE49-F238E27FC236}">
                <a16:creationId xmlns:a16="http://schemas.microsoft.com/office/drawing/2014/main" id="{6231E609-5E79-E44C-311F-641974617C30}"/>
              </a:ext>
            </a:extLst>
          </p:cNvPr>
          <p:cNvSpPr/>
          <p:nvPr/>
        </p:nvSpPr>
        <p:spPr>
          <a:xfrm>
            <a:off x="1130300" y="5283200"/>
            <a:ext cx="4572000" cy="431800"/>
          </a:xfrm>
          <a:prstGeom prst="roundRect">
            <a:avLst/>
          </a:prstGeom>
          <a:solidFill>
            <a:srgbClr val="E1F7EF"/>
          </a:solidFill>
          <a:ln w="12700">
            <a:solidFill>
              <a:srgbClr val="E1F7E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05F3B6D5-A82B-BABB-8832-150E29599BCE}"/>
              </a:ext>
            </a:extLst>
          </p:cNvPr>
          <p:cNvSpPr txBox="1"/>
          <p:nvPr/>
        </p:nvSpPr>
        <p:spPr>
          <a:xfrm>
            <a:off x="1130300" y="5283200"/>
            <a:ext cx="4572000" cy="431800"/>
          </a:xfrm>
          <a:prstGeom prst="rect">
            <a:avLst/>
          </a:prstGeom>
          <a:noFill/>
        </p:spPr>
        <p:txBody>
          <a:bodyPr vert="horz" wrap="square" lIns="50800" tIns="25400" rIns="50800" bIns="25400" rtlCol="0" anchor="ctr">
            <a:noAutofit/>
          </a:bodyPr>
          <a:lstStyle/>
          <a:p>
            <a:pPr algn="ctr"/>
            <a:r>
              <a:rPr lang="en-US" sz="920" b="1">
                <a:solidFill>
                  <a:srgbClr val="0E9F6E"/>
                </a:solidFill>
                <a:latin typeface="Segoe UI" panose="020B0502040204020203" pitchFamily="34" charset="0"/>
              </a:rPr>
              <a:t>3 canonical forecast axes: Color | Size | Capacity</a:t>
            </a:r>
          </a:p>
        </p:txBody>
      </p:sp>
      <p:sp>
        <p:nvSpPr>
          <p:cNvPr id="21" name="Rectangle: Rounded Corners 20">
            <a:extLst>
              <a:ext uri="{FF2B5EF4-FFF2-40B4-BE49-F238E27FC236}">
                <a16:creationId xmlns:a16="http://schemas.microsoft.com/office/drawing/2014/main" id="{FC3092A0-69AF-513F-763F-799CFE9C53E5}"/>
              </a:ext>
            </a:extLst>
          </p:cNvPr>
          <p:cNvSpPr/>
          <p:nvPr/>
        </p:nvSpPr>
        <p:spPr>
          <a:xfrm>
            <a:off x="5956300" y="5283200"/>
            <a:ext cx="5105400" cy="431800"/>
          </a:xfrm>
          <a:prstGeom prst="roundRect">
            <a:avLst/>
          </a:prstGeom>
          <a:solidFill>
            <a:srgbClr val="FFF2D9"/>
          </a:solidFill>
          <a:ln w="12700">
            <a:solidFill>
              <a:srgbClr val="FFF2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AD346A7D-1A9E-4A88-F476-E0C0EFF8F640}"/>
              </a:ext>
            </a:extLst>
          </p:cNvPr>
          <p:cNvSpPr txBox="1"/>
          <p:nvPr/>
        </p:nvSpPr>
        <p:spPr>
          <a:xfrm>
            <a:off x="5956300" y="5283200"/>
            <a:ext cx="5105400" cy="431800"/>
          </a:xfrm>
          <a:prstGeom prst="rect">
            <a:avLst/>
          </a:prstGeom>
          <a:noFill/>
        </p:spPr>
        <p:txBody>
          <a:bodyPr vert="horz" wrap="square" lIns="50800" tIns="25400" rIns="50800" bIns="25400" rtlCol="0" anchor="ctr">
            <a:noAutofit/>
          </a:bodyPr>
          <a:lstStyle/>
          <a:p>
            <a:pPr algn="ctr"/>
            <a:r>
              <a:rPr lang="en-US" sz="880" b="1">
                <a:solidFill>
                  <a:srgbClr val="E58A00"/>
                </a:solidFill>
                <a:latin typeface="Segoe UI" panose="020B0502040204020203" pitchFamily="34" charset="0"/>
              </a:rPr>
              <a:t>Visible source issues: 151 duplicate SKU claims | 1 childless parent</a:t>
            </a:r>
          </a:p>
        </p:txBody>
      </p:sp>
      <p:sp>
        <p:nvSpPr>
          <p:cNvPr id="23" name="TextBox 22">
            <a:extLst>
              <a:ext uri="{FF2B5EF4-FFF2-40B4-BE49-F238E27FC236}">
                <a16:creationId xmlns:a16="http://schemas.microsoft.com/office/drawing/2014/main" id="{F90D784D-0728-3EC2-8301-B755752DBF95}"/>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4" name="TextBox 23">
            <a:extLst>
              <a:ext uri="{FF2B5EF4-FFF2-40B4-BE49-F238E27FC236}">
                <a16:creationId xmlns:a16="http://schemas.microsoft.com/office/drawing/2014/main" id="{C3B64A30-69C8-2FD5-9FBD-73935B81D4F1}"/>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8</a:t>
            </a:r>
          </a:p>
        </p:txBody>
      </p:sp>
    </p:spTree>
    <p:extLst>
      <p:ext uri="{BB962C8B-B14F-4D97-AF65-F5344CB8AC3E}">
        <p14:creationId xmlns:p14="http://schemas.microsoft.com/office/powerpoint/2010/main" val="1401259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B7CBCD-A8DD-8E50-55F7-3AB4E6EFCD50}"/>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DATA-QUALITY PROCESS</a:t>
            </a:r>
          </a:p>
        </p:txBody>
      </p:sp>
      <p:sp>
        <p:nvSpPr>
          <p:cNvPr id="3" name="TextBox 2">
            <a:extLst>
              <a:ext uri="{FF2B5EF4-FFF2-40B4-BE49-F238E27FC236}">
                <a16:creationId xmlns:a16="http://schemas.microsoft.com/office/drawing/2014/main" id="{8F7AAED1-86D1-E06D-8356-86366FEBEF0F}"/>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A missing row means zero sales - not a missing day</a:t>
            </a:r>
          </a:p>
        </p:txBody>
      </p:sp>
      <p:sp>
        <p:nvSpPr>
          <p:cNvPr id="4" name="TextBox 3">
            <a:extLst>
              <a:ext uri="{FF2B5EF4-FFF2-40B4-BE49-F238E27FC236}">
                <a16:creationId xmlns:a16="http://schemas.microsoft.com/office/drawing/2014/main" id="{779C2DFF-06DD-BCBC-0AA5-FF8D81628E77}"/>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The source feed stays sparse; every forecasting consumer reconstructs the calendar before modelling.</a:t>
            </a:r>
          </a:p>
        </p:txBody>
      </p:sp>
      <p:sp>
        <p:nvSpPr>
          <p:cNvPr id="5" name="Rectangle: Rounded Corners 4">
            <a:extLst>
              <a:ext uri="{FF2B5EF4-FFF2-40B4-BE49-F238E27FC236}">
                <a16:creationId xmlns:a16="http://schemas.microsoft.com/office/drawing/2014/main" id="{B940B0AE-CA83-A238-6412-D7670FAB4C71}"/>
              </a:ext>
            </a:extLst>
          </p:cNvPr>
          <p:cNvSpPr/>
          <p:nvPr/>
        </p:nvSpPr>
        <p:spPr>
          <a:xfrm>
            <a:off x="609600" y="1879600"/>
            <a:ext cx="3111500" cy="2730500"/>
          </a:xfrm>
          <a:prstGeom prst="roundRect">
            <a:avLst/>
          </a:prstGeom>
          <a:solidFill>
            <a:srgbClr val="FDE7E7"/>
          </a:solidFill>
          <a:ln w="12700">
            <a:solidFill>
              <a:srgbClr val="E5484D"/>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538473AB-EEC6-2C8C-EAE7-FA1D4B904609}"/>
              </a:ext>
            </a:extLst>
          </p:cNvPr>
          <p:cNvSpPr/>
          <p:nvPr/>
        </p:nvSpPr>
        <p:spPr>
          <a:xfrm>
            <a:off x="609600" y="1879600"/>
            <a:ext cx="3111500" cy="101600"/>
          </a:xfrm>
          <a:prstGeom prst="roundRect">
            <a:avLst/>
          </a:prstGeom>
          <a:solidFill>
            <a:srgbClr val="E5484D"/>
          </a:solidFill>
          <a:ln w="12700">
            <a:solidFill>
              <a:srgbClr val="E548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49D012D-D0AC-DA88-9866-9603A06171DC}"/>
              </a:ext>
            </a:extLst>
          </p:cNvPr>
          <p:cNvSpPr txBox="1"/>
          <p:nvPr/>
        </p:nvSpPr>
        <p:spPr>
          <a:xfrm>
            <a:off x="838200" y="2133600"/>
            <a:ext cx="26543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SPARSE API FEED</a:t>
            </a:r>
          </a:p>
        </p:txBody>
      </p:sp>
      <p:sp>
        <p:nvSpPr>
          <p:cNvPr id="8" name="TextBox 7">
            <a:extLst>
              <a:ext uri="{FF2B5EF4-FFF2-40B4-BE49-F238E27FC236}">
                <a16:creationId xmlns:a16="http://schemas.microsoft.com/office/drawing/2014/main" id="{79D93B4B-9C58-5CB1-3279-178F54464C17}"/>
              </a:ext>
            </a:extLst>
          </p:cNvPr>
          <p:cNvSpPr txBox="1"/>
          <p:nvPr/>
        </p:nvSpPr>
        <p:spPr>
          <a:xfrm>
            <a:off x="838200" y="2654300"/>
            <a:ext cx="2654300" cy="1778000"/>
          </a:xfrm>
          <a:prstGeom prst="rect">
            <a:avLst/>
          </a:prstGeom>
          <a:noFill/>
        </p:spPr>
        <p:txBody>
          <a:bodyPr vert="horz" wrap="square" lIns="50800" tIns="25400" rIns="50800" bIns="25400" rtlCol="0" anchor="t">
            <a:noAutofit/>
          </a:bodyPr>
          <a:lstStyle/>
          <a:p>
            <a:r>
              <a:rPr lang="en-US" sz="1030">
                <a:solidFill>
                  <a:srgbClr val="344054"/>
                </a:solidFill>
                <a:latin typeface="Segoe UI" panose="020B0502040204020203" pitchFamily="34" charset="0"/>
              </a:rPr>
              <a:t>A row only when a sale occurred</a:t>
            </a:r>
          </a:p>
          <a:p>
            <a:r>
              <a:rPr lang="en-US" sz="1030">
                <a:solidFill>
                  <a:srgbClr val="344054"/>
                </a:solidFill>
                <a:latin typeface="Segoe UI" panose="020B0502040204020203" pitchFamily="34" charset="0"/>
              </a:rPr>
              <a:t>No row on a quiet day</a:t>
            </a:r>
          </a:p>
          <a:p>
            <a:endParaRPr lang="en-US" sz="1030">
              <a:solidFill>
                <a:srgbClr val="344054"/>
              </a:solidFill>
              <a:latin typeface="Segoe UI" panose="020B0502040204020203" pitchFamily="34" charset="0"/>
            </a:endParaRPr>
          </a:p>
          <a:p>
            <a:r>
              <a:rPr lang="en-US" sz="1030">
                <a:solidFill>
                  <a:srgbClr val="344054"/>
                </a:solidFill>
                <a:latin typeface="Segoe UI" panose="020B0502040204020203" pitchFamily="34" charset="0"/>
              </a:rPr>
              <a:t>Faithful raw integration record</a:t>
            </a:r>
          </a:p>
        </p:txBody>
      </p:sp>
      <p:cxnSp>
        <p:nvCxnSpPr>
          <p:cNvPr id="9" name="Straight Connector 8">
            <a:extLst>
              <a:ext uri="{FF2B5EF4-FFF2-40B4-BE49-F238E27FC236}">
                <a16:creationId xmlns:a16="http://schemas.microsoft.com/office/drawing/2014/main" id="{102981DF-3724-9046-853D-09F0CD65FEB2}"/>
              </a:ext>
            </a:extLst>
          </p:cNvPr>
          <p:cNvCxnSpPr/>
          <p:nvPr/>
        </p:nvCxnSpPr>
        <p:spPr>
          <a:xfrm>
            <a:off x="3810000" y="3238500"/>
            <a:ext cx="698500" cy="0"/>
          </a:xfrm>
          <a:prstGeom prst="line">
            <a:avLst/>
          </a:prstGeom>
          <a:ln w="3810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B6A1445D-E4E5-868C-466F-F7A5952B8811}"/>
              </a:ext>
            </a:extLst>
          </p:cNvPr>
          <p:cNvSpPr/>
          <p:nvPr/>
        </p:nvSpPr>
        <p:spPr>
          <a:xfrm>
            <a:off x="4584700" y="1879600"/>
            <a:ext cx="3022600" cy="2730500"/>
          </a:xfrm>
          <a:prstGeom prst="roundRect">
            <a:avLst/>
          </a:prstGeom>
          <a:solidFill>
            <a:srgbClr val="E4F7F8"/>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9DBA4AEA-7F2E-2879-2E30-EF1ABE4F171C}"/>
              </a:ext>
            </a:extLst>
          </p:cNvPr>
          <p:cNvSpPr/>
          <p:nvPr/>
        </p:nvSpPr>
        <p:spPr>
          <a:xfrm>
            <a:off x="4584700" y="1879600"/>
            <a:ext cx="30226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D2D237A9-FDEA-D696-99AF-0E095C774B10}"/>
              </a:ext>
            </a:extLst>
          </p:cNvPr>
          <p:cNvSpPr txBox="1"/>
          <p:nvPr/>
        </p:nvSpPr>
        <p:spPr>
          <a:xfrm>
            <a:off x="4813300" y="2133600"/>
            <a:ext cx="25654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FILL THE CALENDAR</a:t>
            </a:r>
          </a:p>
        </p:txBody>
      </p:sp>
      <p:sp>
        <p:nvSpPr>
          <p:cNvPr id="13" name="TextBox 12">
            <a:extLst>
              <a:ext uri="{FF2B5EF4-FFF2-40B4-BE49-F238E27FC236}">
                <a16:creationId xmlns:a16="http://schemas.microsoft.com/office/drawing/2014/main" id="{3AA26145-119B-AC38-16CD-02E7287E9A16}"/>
              </a:ext>
            </a:extLst>
          </p:cNvPr>
          <p:cNvSpPr txBox="1"/>
          <p:nvPr/>
        </p:nvSpPr>
        <p:spPr>
          <a:xfrm>
            <a:off x="4813300" y="2654300"/>
            <a:ext cx="2565400" cy="1778000"/>
          </a:xfrm>
          <a:prstGeom prst="rect">
            <a:avLst/>
          </a:prstGeom>
          <a:noFill/>
        </p:spPr>
        <p:txBody>
          <a:bodyPr vert="horz" wrap="square" lIns="50800" tIns="25400" rIns="50800" bIns="25400" rtlCol="0" anchor="t">
            <a:noAutofit/>
          </a:bodyPr>
          <a:lstStyle/>
          <a:p>
            <a:r>
              <a:rPr lang="en-US" sz="1030">
                <a:solidFill>
                  <a:srgbClr val="344054"/>
                </a:solidFill>
                <a:latin typeface="Segoe UI" panose="020B0502040204020203" pitchFamily="34" charset="0"/>
              </a:rPr>
              <a:t>Insert zero-demand days</a:t>
            </a:r>
          </a:p>
          <a:p>
            <a:r>
              <a:rPr lang="en-US" sz="1030">
                <a:solidFill>
                  <a:srgbClr val="344054"/>
                </a:solidFill>
                <a:latin typeface="Segoe UI" panose="020B0502040204020203" pitchFamily="34" charset="0"/>
              </a:rPr>
              <a:t>Align covariates day-for-day</a:t>
            </a:r>
          </a:p>
          <a:p>
            <a:r>
              <a:rPr lang="en-US" sz="1030">
                <a:solidFill>
                  <a:srgbClr val="344054"/>
                </a:solidFill>
                <a:latin typeface="Segoe UI" panose="020B0502040204020203" pitchFamily="34" charset="0"/>
              </a:rPr>
              <a:t>Stop at last synced day</a:t>
            </a:r>
          </a:p>
          <a:p>
            <a:r>
              <a:rPr lang="en-US" sz="1030">
                <a:solidFill>
                  <a:srgbClr val="344054"/>
                </a:solidFill>
                <a:latin typeface="Segoe UI" panose="020B0502040204020203" pitchFamily="34" charset="0"/>
              </a:rPr>
              <a:t>Never pad unknown future days</a:t>
            </a:r>
          </a:p>
        </p:txBody>
      </p:sp>
      <p:cxnSp>
        <p:nvCxnSpPr>
          <p:cNvPr id="14" name="Straight Connector 13">
            <a:extLst>
              <a:ext uri="{FF2B5EF4-FFF2-40B4-BE49-F238E27FC236}">
                <a16:creationId xmlns:a16="http://schemas.microsoft.com/office/drawing/2014/main" id="{FC648E3F-2334-E5A2-7A53-1C34AFFF10E0}"/>
              </a:ext>
            </a:extLst>
          </p:cNvPr>
          <p:cNvCxnSpPr/>
          <p:nvPr/>
        </p:nvCxnSpPr>
        <p:spPr>
          <a:xfrm>
            <a:off x="7696200" y="3238500"/>
            <a:ext cx="698500" cy="0"/>
          </a:xfrm>
          <a:prstGeom prst="line">
            <a:avLst/>
          </a:prstGeom>
          <a:ln w="38100">
            <a:solidFill>
              <a:srgbClr val="0E9F6E"/>
            </a:solidFill>
            <a:tailEnd type="arrow"/>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FE4FC2B0-9712-EE48-96B4-B8318D4C6100}"/>
              </a:ext>
            </a:extLst>
          </p:cNvPr>
          <p:cNvSpPr/>
          <p:nvPr/>
        </p:nvSpPr>
        <p:spPr>
          <a:xfrm>
            <a:off x="8470900" y="1879600"/>
            <a:ext cx="3111500" cy="2730500"/>
          </a:xfrm>
          <a:prstGeom prst="roundRect">
            <a:avLst/>
          </a:prstGeom>
          <a:solidFill>
            <a:srgbClr val="E1F7E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840B62EC-68AC-9241-4613-CBD1E18D0955}"/>
              </a:ext>
            </a:extLst>
          </p:cNvPr>
          <p:cNvSpPr/>
          <p:nvPr/>
        </p:nvSpPr>
        <p:spPr>
          <a:xfrm>
            <a:off x="8470900" y="1879600"/>
            <a:ext cx="3111500" cy="101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5AFF3558-550B-EC70-3595-EAC6335946AB}"/>
              </a:ext>
            </a:extLst>
          </p:cNvPr>
          <p:cNvSpPr txBox="1"/>
          <p:nvPr/>
        </p:nvSpPr>
        <p:spPr>
          <a:xfrm>
            <a:off x="8699500" y="2133600"/>
            <a:ext cx="26543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DENSE SERIES</a:t>
            </a:r>
          </a:p>
        </p:txBody>
      </p:sp>
      <p:sp>
        <p:nvSpPr>
          <p:cNvPr id="18" name="TextBox 17">
            <a:extLst>
              <a:ext uri="{FF2B5EF4-FFF2-40B4-BE49-F238E27FC236}">
                <a16:creationId xmlns:a16="http://schemas.microsoft.com/office/drawing/2014/main" id="{25971525-7C29-B1E5-C427-069709020BC0}"/>
              </a:ext>
            </a:extLst>
          </p:cNvPr>
          <p:cNvSpPr txBox="1"/>
          <p:nvPr/>
        </p:nvSpPr>
        <p:spPr>
          <a:xfrm>
            <a:off x="8699500" y="2654300"/>
            <a:ext cx="2654300" cy="1778000"/>
          </a:xfrm>
          <a:prstGeom prst="rect">
            <a:avLst/>
          </a:prstGeom>
          <a:noFill/>
        </p:spPr>
        <p:txBody>
          <a:bodyPr vert="horz" wrap="square" lIns="50800" tIns="25400" rIns="50800" bIns="25400" rtlCol="0" anchor="t">
            <a:noAutofit/>
          </a:bodyPr>
          <a:lstStyle/>
          <a:p>
            <a:r>
              <a:rPr lang="en-US" sz="1030">
                <a:solidFill>
                  <a:srgbClr val="344054"/>
                </a:solidFill>
                <a:latin typeface="Segoe UI" panose="020B0502040204020203" pitchFamily="34" charset="0"/>
              </a:rPr>
              <a:t>941,116 training rows</a:t>
            </a:r>
          </a:p>
          <a:p>
            <a:r>
              <a:rPr lang="en-US" sz="1030">
                <a:solidFill>
                  <a:srgbClr val="344054"/>
                </a:solidFill>
                <a:latin typeface="Segoe UI" panose="020B0502040204020203" pitchFamily="34" charset="0"/>
              </a:rPr>
              <a:t>Median 1,096 days per series</a:t>
            </a:r>
          </a:p>
          <a:p>
            <a:r>
              <a:rPr lang="en-US" sz="1030">
                <a:solidFill>
                  <a:srgbClr val="344054"/>
                </a:solidFill>
                <a:latin typeface="Segoe UI" panose="020B0502040204020203" pitchFamily="34" charset="0"/>
              </a:rPr>
              <a:t>51% non-zero</a:t>
            </a:r>
          </a:p>
          <a:p>
            <a:r>
              <a:rPr lang="en-US" sz="1030">
                <a:solidFill>
                  <a:srgbClr val="344054"/>
                </a:solidFill>
                <a:latin typeface="Segoe UI" panose="020B0502040204020203" pitchFamily="34" charset="0"/>
              </a:rPr>
              <a:t>Zero calendar gaps</a:t>
            </a:r>
          </a:p>
        </p:txBody>
      </p:sp>
      <p:sp>
        <p:nvSpPr>
          <p:cNvPr id="19" name="TextBox 18">
            <a:extLst>
              <a:ext uri="{FF2B5EF4-FFF2-40B4-BE49-F238E27FC236}">
                <a16:creationId xmlns:a16="http://schemas.microsoft.com/office/drawing/2014/main" id="{E5B7EA26-EE6C-0956-920C-C53C2EF0C980}"/>
              </a:ext>
            </a:extLst>
          </p:cNvPr>
          <p:cNvSpPr txBox="1"/>
          <p:nvPr/>
        </p:nvSpPr>
        <p:spPr>
          <a:xfrm>
            <a:off x="1219200" y="5003800"/>
            <a:ext cx="2413000" cy="304800"/>
          </a:xfrm>
          <a:prstGeom prst="rect">
            <a:avLst/>
          </a:prstGeom>
          <a:noFill/>
        </p:spPr>
        <p:txBody>
          <a:bodyPr vert="horz" wrap="square" lIns="50800" tIns="25400" rIns="50800" bIns="25400" rtlCol="0" anchor="ctr">
            <a:noAutofit/>
          </a:bodyPr>
          <a:lstStyle/>
          <a:p>
            <a:r>
              <a:rPr lang="en-US" sz="950" b="1">
                <a:solidFill>
                  <a:srgbClr val="344054"/>
                </a:solidFill>
                <a:latin typeface="Segoe UI" panose="020B0502040204020203" pitchFamily="34" charset="0"/>
              </a:rPr>
              <a:t>Before correction</a:t>
            </a:r>
          </a:p>
        </p:txBody>
      </p:sp>
      <p:sp>
        <p:nvSpPr>
          <p:cNvPr id="20" name="Rectangle: Rounded Corners 19">
            <a:extLst>
              <a:ext uri="{FF2B5EF4-FFF2-40B4-BE49-F238E27FC236}">
                <a16:creationId xmlns:a16="http://schemas.microsoft.com/office/drawing/2014/main" id="{EBF3CA42-5495-6CDC-E597-BA53D5C15D22}"/>
              </a:ext>
            </a:extLst>
          </p:cNvPr>
          <p:cNvSpPr/>
          <p:nvPr/>
        </p:nvSpPr>
        <p:spPr>
          <a:xfrm>
            <a:off x="3632200" y="5041900"/>
            <a:ext cx="4978400" cy="228600"/>
          </a:xfrm>
          <a:prstGeom prst="roundRect">
            <a:avLst/>
          </a:prstGeom>
          <a:solidFill>
            <a:srgbClr val="E5484D"/>
          </a:solidFill>
          <a:ln w="12700">
            <a:solidFill>
              <a:srgbClr val="E548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C3F2D0E-1E30-009E-12B2-E50B2A8E9E4C}"/>
              </a:ext>
            </a:extLst>
          </p:cNvPr>
          <p:cNvSpPr txBox="1"/>
          <p:nvPr/>
        </p:nvSpPr>
        <p:spPr>
          <a:xfrm>
            <a:off x="8763000" y="4991100"/>
            <a:ext cx="1625600" cy="304800"/>
          </a:xfrm>
          <a:prstGeom prst="rect">
            <a:avLst/>
          </a:prstGeom>
          <a:noFill/>
        </p:spPr>
        <p:txBody>
          <a:bodyPr vert="horz" wrap="square" lIns="50800" tIns="25400" rIns="50800" bIns="25400" rtlCol="0" anchor="ctr">
            <a:noAutofit/>
          </a:bodyPr>
          <a:lstStyle/>
          <a:p>
            <a:r>
              <a:rPr lang="en-US" sz="1000" b="1">
                <a:solidFill>
                  <a:srgbClr val="E5484D"/>
                </a:solidFill>
                <a:latin typeface="Segoe UI" panose="020B0502040204020203" pitchFamily="34" charset="0"/>
              </a:rPr>
              <a:t>51,919 forecast</a:t>
            </a:r>
          </a:p>
        </p:txBody>
      </p:sp>
      <p:sp>
        <p:nvSpPr>
          <p:cNvPr id="22" name="TextBox 21">
            <a:extLst>
              <a:ext uri="{FF2B5EF4-FFF2-40B4-BE49-F238E27FC236}">
                <a16:creationId xmlns:a16="http://schemas.microsoft.com/office/drawing/2014/main" id="{13F77692-F93E-F548-0989-6B484265F56E}"/>
              </a:ext>
            </a:extLst>
          </p:cNvPr>
          <p:cNvSpPr txBox="1"/>
          <p:nvPr/>
        </p:nvSpPr>
        <p:spPr>
          <a:xfrm>
            <a:off x="1219200" y="5473700"/>
            <a:ext cx="2413000" cy="304800"/>
          </a:xfrm>
          <a:prstGeom prst="rect">
            <a:avLst/>
          </a:prstGeom>
          <a:noFill/>
        </p:spPr>
        <p:txBody>
          <a:bodyPr vert="horz" wrap="square" lIns="50800" tIns="25400" rIns="50800" bIns="25400" rtlCol="0" anchor="ctr">
            <a:noAutofit/>
          </a:bodyPr>
          <a:lstStyle/>
          <a:p>
            <a:r>
              <a:rPr lang="en-US" sz="950" b="1">
                <a:solidFill>
                  <a:srgbClr val="344054"/>
                </a:solidFill>
                <a:latin typeface="Segoe UI" panose="020B0502040204020203" pitchFamily="34" charset="0"/>
              </a:rPr>
              <a:t>After correction</a:t>
            </a:r>
          </a:p>
        </p:txBody>
      </p:sp>
      <p:sp>
        <p:nvSpPr>
          <p:cNvPr id="23" name="Rectangle: Rounded Corners 22">
            <a:extLst>
              <a:ext uri="{FF2B5EF4-FFF2-40B4-BE49-F238E27FC236}">
                <a16:creationId xmlns:a16="http://schemas.microsoft.com/office/drawing/2014/main" id="{D05F5555-0E9C-4431-5765-963C25E36B8E}"/>
              </a:ext>
            </a:extLst>
          </p:cNvPr>
          <p:cNvSpPr/>
          <p:nvPr/>
        </p:nvSpPr>
        <p:spPr>
          <a:xfrm>
            <a:off x="3632200" y="5511800"/>
            <a:ext cx="2679700" cy="228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3778A91B-A7DD-1EF5-069D-7FF522EDC389}"/>
              </a:ext>
            </a:extLst>
          </p:cNvPr>
          <p:cNvSpPr txBox="1"/>
          <p:nvPr/>
        </p:nvSpPr>
        <p:spPr>
          <a:xfrm>
            <a:off x="6477000" y="5435600"/>
            <a:ext cx="3810000" cy="381000"/>
          </a:xfrm>
          <a:prstGeom prst="rect">
            <a:avLst/>
          </a:prstGeom>
          <a:noFill/>
        </p:spPr>
        <p:txBody>
          <a:bodyPr vert="horz" wrap="square" lIns="50800" tIns="25400" rIns="50800" bIns="25400" rtlCol="0" anchor="ctr">
            <a:noAutofit/>
          </a:bodyPr>
          <a:lstStyle/>
          <a:p>
            <a:r>
              <a:rPr lang="en-US" sz="950" b="1">
                <a:solidFill>
                  <a:srgbClr val="0E9F6E"/>
                </a:solidFill>
                <a:latin typeface="Segoe UI" panose="020B0502040204020203" pitchFamily="34" charset="0"/>
              </a:rPr>
              <a:t>27,952 vs 27,132 actual - within 3%</a:t>
            </a:r>
          </a:p>
        </p:txBody>
      </p:sp>
      <p:sp>
        <p:nvSpPr>
          <p:cNvPr id="25" name="TextBox 24">
            <a:extLst>
              <a:ext uri="{FF2B5EF4-FFF2-40B4-BE49-F238E27FC236}">
                <a16:creationId xmlns:a16="http://schemas.microsoft.com/office/drawing/2014/main" id="{151D44E2-71A0-2662-F261-1654CA3B1438}"/>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6" name="TextBox 25">
            <a:extLst>
              <a:ext uri="{FF2B5EF4-FFF2-40B4-BE49-F238E27FC236}">
                <a16:creationId xmlns:a16="http://schemas.microsoft.com/office/drawing/2014/main" id="{56ECC2B9-7E9E-3398-5971-23276FFF20EB}"/>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9</a:t>
            </a:r>
          </a:p>
        </p:txBody>
      </p:sp>
    </p:spTree>
    <p:extLst>
      <p:ext uri="{BB962C8B-B14F-4D97-AF65-F5344CB8AC3E}">
        <p14:creationId xmlns:p14="http://schemas.microsoft.com/office/powerpoint/2010/main" val="4661774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7989811-5C2C-E165-F2E5-AEF480CC4922}"/>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CURRENT USER EXPERIENCE</a:t>
            </a:r>
          </a:p>
        </p:txBody>
      </p:sp>
      <p:sp>
        <p:nvSpPr>
          <p:cNvPr id="3" name="TextBox 2">
            <a:extLst>
              <a:ext uri="{FF2B5EF4-FFF2-40B4-BE49-F238E27FC236}">
                <a16:creationId xmlns:a16="http://schemas.microsoft.com/office/drawing/2014/main" id="{6AC17017-CBF6-5D2D-AE59-78C878903992}"/>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The dashboard is now a management briefing</a:t>
            </a:r>
          </a:p>
        </p:txBody>
      </p:sp>
      <p:sp>
        <p:nvSpPr>
          <p:cNvPr id="4" name="TextBox 3">
            <a:extLst>
              <a:ext uri="{FF2B5EF4-FFF2-40B4-BE49-F238E27FC236}">
                <a16:creationId xmlns:a16="http://schemas.microsoft.com/office/drawing/2014/main" id="{7FEC38A5-214A-5B20-0E13-441AA5E75C14}"/>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Every window ends on the last synced demand date, so stale data never masquerades as a run of zero sales.</a:t>
            </a:r>
          </a:p>
        </p:txBody>
      </p:sp>
      <p:sp>
        <p:nvSpPr>
          <p:cNvPr id="5" name="Rectangle: Rounded Corners 4">
            <a:extLst>
              <a:ext uri="{FF2B5EF4-FFF2-40B4-BE49-F238E27FC236}">
                <a16:creationId xmlns:a16="http://schemas.microsoft.com/office/drawing/2014/main" id="{7B82073D-586B-61F9-194D-7732FC8D0281}"/>
              </a:ext>
            </a:extLst>
          </p:cNvPr>
          <p:cNvSpPr/>
          <p:nvPr/>
        </p:nvSpPr>
        <p:spPr>
          <a:xfrm>
            <a:off x="609600" y="18161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23868686-1AF1-93F4-2499-6F2BC00A4FBD}"/>
              </a:ext>
            </a:extLst>
          </p:cNvPr>
          <p:cNvSpPr/>
          <p:nvPr/>
        </p:nvSpPr>
        <p:spPr>
          <a:xfrm>
            <a:off x="609600" y="1816100"/>
            <a:ext cx="88900" cy="990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ACE4019-5538-A3AA-009F-F9896352D845}"/>
              </a:ext>
            </a:extLst>
          </p:cNvPr>
          <p:cNvSpPr txBox="1"/>
          <p:nvPr/>
        </p:nvSpPr>
        <p:spPr>
          <a:xfrm>
            <a:off x="838200" y="19431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Revenue</a:t>
            </a:r>
          </a:p>
        </p:txBody>
      </p:sp>
      <p:sp>
        <p:nvSpPr>
          <p:cNvPr id="8" name="TextBox 7">
            <a:extLst>
              <a:ext uri="{FF2B5EF4-FFF2-40B4-BE49-F238E27FC236}">
                <a16:creationId xmlns:a16="http://schemas.microsoft.com/office/drawing/2014/main" id="{C6C8F7FC-B0A4-2090-02F2-27913A4A48F9}"/>
              </a:ext>
            </a:extLst>
          </p:cNvPr>
          <p:cNvSpPr txBox="1"/>
          <p:nvPr/>
        </p:nvSpPr>
        <p:spPr>
          <a:xfrm>
            <a:off x="838200" y="22479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LKR</a:t>
            </a:r>
          </a:p>
        </p:txBody>
      </p:sp>
      <p:sp>
        <p:nvSpPr>
          <p:cNvPr id="9" name="Rectangle: Rounded Corners 8">
            <a:extLst>
              <a:ext uri="{FF2B5EF4-FFF2-40B4-BE49-F238E27FC236}">
                <a16:creationId xmlns:a16="http://schemas.microsoft.com/office/drawing/2014/main" id="{1EDFDF83-D4C5-71B0-2DB3-CE3F71319094}"/>
              </a:ext>
            </a:extLst>
          </p:cNvPr>
          <p:cNvSpPr/>
          <p:nvPr/>
        </p:nvSpPr>
        <p:spPr>
          <a:xfrm>
            <a:off x="3302000" y="18161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2799E4C0-1B05-4C12-6CBB-2D3FD40F0479}"/>
              </a:ext>
            </a:extLst>
          </p:cNvPr>
          <p:cNvSpPr/>
          <p:nvPr/>
        </p:nvSpPr>
        <p:spPr>
          <a:xfrm>
            <a:off x="3302000" y="1816100"/>
            <a:ext cx="88900" cy="990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D527D76-569D-111C-4A09-60097627DED5}"/>
              </a:ext>
            </a:extLst>
          </p:cNvPr>
          <p:cNvSpPr txBox="1"/>
          <p:nvPr/>
        </p:nvSpPr>
        <p:spPr>
          <a:xfrm>
            <a:off x="3530600" y="19431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Units sold</a:t>
            </a:r>
          </a:p>
        </p:txBody>
      </p:sp>
      <p:sp>
        <p:nvSpPr>
          <p:cNvPr id="12" name="TextBox 11">
            <a:extLst>
              <a:ext uri="{FF2B5EF4-FFF2-40B4-BE49-F238E27FC236}">
                <a16:creationId xmlns:a16="http://schemas.microsoft.com/office/drawing/2014/main" id="{54AB167E-A61D-5AA8-942C-94A1951D98A4}"/>
              </a:ext>
            </a:extLst>
          </p:cNvPr>
          <p:cNvSpPr txBox="1"/>
          <p:nvPr/>
        </p:nvSpPr>
        <p:spPr>
          <a:xfrm>
            <a:off x="3530600" y="22479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30 days</a:t>
            </a:r>
          </a:p>
        </p:txBody>
      </p:sp>
      <p:sp>
        <p:nvSpPr>
          <p:cNvPr id="13" name="Rectangle: Rounded Corners 12">
            <a:extLst>
              <a:ext uri="{FF2B5EF4-FFF2-40B4-BE49-F238E27FC236}">
                <a16:creationId xmlns:a16="http://schemas.microsoft.com/office/drawing/2014/main" id="{614B130D-7998-93F9-4C4A-A6E366CCE6EC}"/>
              </a:ext>
            </a:extLst>
          </p:cNvPr>
          <p:cNvSpPr/>
          <p:nvPr/>
        </p:nvSpPr>
        <p:spPr>
          <a:xfrm>
            <a:off x="5994400" y="18161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7965D102-D268-8B52-0C1B-9D417117F459}"/>
              </a:ext>
            </a:extLst>
          </p:cNvPr>
          <p:cNvSpPr/>
          <p:nvPr/>
        </p:nvSpPr>
        <p:spPr>
          <a:xfrm>
            <a:off x="5994400" y="1816100"/>
            <a:ext cx="88900" cy="990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5858712-8D7D-5BDF-5943-823F024FFEF5}"/>
              </a:ext>
            </a:extLst>
          </p:cNvPr>
          <p:cNvSpPr txBox="1"/>
          <p:nvPr/>
        </p:nvSpPr>
        <p:spPr>
          <a:xfrm>
            <a:off x="6223000" y="19431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Orders</a:t>
            </a:r>
          </a:p>
        </p:txBody>
      </p:sp>
      <p:sp>
        <p:nvSpPr>
          <p:cNvPr id="16" name="TextBox 15">
            <a:extLst>
              <a:ext uri="{FF2B5EF4-FFF2-40B4-BE49-F238E27FC236}">
                <a16:creationId xmlns:a16="http://schemas.microsoft.com/office/drawing/2014/main" id="{075510CE-0A91-6E65-987E-B8A46AF736D2}"/>
              </a:ext>
            </a:extLst>
          </p:cNvPr>
          <p:cNvSpPr txBox="1"/>
          <p:nvPr/>
        </p:nvSpPr>
        <p:spPr>
          <a:xfrm>
            <a:off x="6223000" y="22479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30 days</a:t>
            </a:r>
          </a:p>
        </p:txBody>
      </p:sp>
      <p:sp>
        <p:nvSpPr>
          <p:cNvPr id="17" name="Rectangle: Rounded Corners 16">
            <a:extLst>
              <a:ext uri="{FF2B5EF4-FFF2-40B4-BE49-F238E27FC236}">
                <a16:creationId xmlns:a16="http://schemas.microsoft.com/office/drawing/2014/main" id="{16B8744A-CEB0-2147-C484-B5467E0F53E6}"/>
              </a:ext>
            </a:extLst>
          </p:cNvPr>
          <p:cNvSpPr/>
          <p:nvPr/>
        </p:nvSpPr>
        <p:spPr>
          <a:xfrm>
            <a:off x="8686800" y="18161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Rounded Corners 17">
            <a:extLst>
              <a:ext uri="{FF2B5EF4-FFF2-40B4-BE49-F238E27FC236}">
                <a16:creationId xmlns:a16="http://schemas.microsoft.com/office/drawing/2014/main" id="{8B51B982-CE90-8924-3F3B-13B4AB660BA9}"/>
              </a:ext>
            </a:extLst>
          </p:cNvPr>
          <p:cNvSpPr/>
          <p:nvPr/>
        </p:nvSpPr>
        <p:spPr>
          <a:xfrm>
            <a:off x="8686800" y="1816100"/>
            <a:ext cx="88900" cy="990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9D12A1-A446-63A0-09A1-17B013224A19}"/>
              </a:ext>
            </a:extLst>
          </p:cNvPr>
          <p:cNvSpPr txBox="1"/>
          <p:nvPr/>
        </p:nvSpPr>
        <p:spPr>
          <a:xfrm>
            <a:off x="8915400" y="19431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Average order value</a:t>
            </a:r>
          </a:p>
        </p:txBody>
      </p:sp>
      <p:sp>
        <p:nvSpPr>
          <p:cNvPr id="20" name="TextBox 19">
            <a:extLst>
              <a:ext uri="{FF2B5EF4-FFF2-40B4-BE49-F238E27FC236}">
                <a16:creationId xmlns:a16="http://schemas.microsoft.com/office/drawing/2014/main" id="{F811F6E3-24FE-E31D-0B2F-EB6090C1BCB3}"/>
              </a:ext>
            </a:extLst>
          </p:cNvPr>
          <p:cNvSpPr txBox="1"/>
          <p:nvPr/>
        </p:nvSpPr>
        <p:spPr>
          <a:xfrm>
            <a:off x="8915400" y="22479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LKR</a:t>
            </a:r>
          </a:p>
        </p:txBody>
      </p:sp>
      <p:sp>
        <p:nvSpPr>
          <p:cNvPr id="21" name="Rectangle: Rounded Corners 20">
            <a:extLst>
              <a:ext uri="{FF2B5EF4-FFF2-40B4-BE49-F238E27FC236}">
                <a16:creationId xmlns:a16="http://schemas.microsoft.com/office/drawing/2014/main" id="{7D0B8C89-B7AF-CAC6-EACC-FC2A8603CD7D}"/>
              </a:ext>
            </a:extLst>
          </p:cNvPr>
          <p:cNvSpPr/>
          <p:nvPr/>
        </p:nvSpPr>
        <p:spPr>
          <a:xfrm>
            <a:off x="609600" y="30353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9A18EDD0-87C3-49D8-0F73-C4F4D3467B61}"/>
              </a:ext>
            </a:extLst>
          </p:cNvPr>
          <p:cNvSpPr/>
          <p:nvPr/>
        </p:nvSpPr>
        <p:spPr>
          <a:xfrm>
            <a:off x="609600" y="3035300"/>
            <a:ext cx="88900" cy="990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ADABA1D5-2E7D-85E7-1EE0-8C398A548F03}"/>
              </a:ext>
            </a:extLst>
          </p:cNvPr>
          <p:cNvSpPr txBox="1"/>
          <p:nvPr/>
        </p:nvSpPr>
        <p:spPr>
          <a:xfrm>
            <a:off x="838200" y="31623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Stock on hand</a:t>
            </a:r>
          </a:p>
        </p:txBody>
      </p:sp>
      <p:sp>
        <p:nvSpPr>
          <p:cNvPr id="24" name="TextBox 23">
            <a:extLst>
              <a:ext uri="{FF2B5EF4-FFF2-40B4-BE49-F238E27FC236}">
                <a16:creationId xmlns:a16="http://schemas.microsoft.com/office/drawing/2014/main" id="{BE7206E5-F48F-AB25-7B08-44DA4C870D9D}"/>
              </a:ext>
            </a:extLst>
          </p:cNvPr>
          <p:cNvSpPr txBox="1"/>
          <p:nvPr/>
        </p:nvSpPr>
        <p:spPr>
          <a:xfrm>
            <a:off x="838200" y="34671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retail</a:t>
            </a:r>
          </a:p>
        </p:txBody>
      </p:sp>
      <p:sp>
        <p:nvSpPr>
          <p:cNvPr id="25" name="Rectangle: Rounded Corners 24">
            <a:extLst>
              <a:ext uri="{FF2B5EF4-FFF2-40B4-BE49-F238E27FC236}">
                <a16:creationId xmlns:a16="http://schemas.microsoft.com/office/drawing/2014/main" id="{F7B76EE0-6885-5C15-7AA4-A82576CBB307}"/>
              </a:ext>
            </a:extLst>
          </p:cNvPr>
          <p:cNvSpPr/>
          <p:nvPr/>
        </p:nvSpPr>
        <p:spPr>
          <a:xfrm>
            <a:off x="3302000" y="30353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017FF170-B165-42DA-918F-E5CBC6F6A9A0}"/>
              </a:ext>
            </a:extLst>
          </p:cNvPr>
          <p:cNvSpPr/>
          <p:nvPr/>
        </p:nvSpPr>
        <p:spPr>
          <a:xfrm>
            <a:off x="3302000" y="3035300"/>
            <a:ext cx="88900" cy="990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8A6F437C-D14E-5615-9F7B-FB39342421D6}"/>
              </a:ext>
            </a:extLst>
          </p:cNvPr>
          <p:cNvSpPr txBox="1"/>
          <p:nvPr/>
        </p:nvSpPr>
        <p:spPr>
          <a:xfrm>
            <a:off x="3530600" y="31623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Days of cover</a:t>
            </a:r>
          </a:p>
        </p:txBody>
      </p:sp>
      <p:sp>
        <p:nvSpPr>
          <p:cNvPr id="28" name="TextBox 27">
            <a:extLst>
              <a:ext uri="{FF2B5EF4-FFF2-40B4-BE49-F238E27FC236}">
                <a16:creationId xmlns:a16="http://schemas.microsoft.com/office/drawing/2014/main" id="{86349D05-98C4-8224-C8CF-6E04CC7B485C}"/>
              </a:ext>
            </a:extLst>
          </p:cNvPr>
          <p:cNvSpPr txBox="1"/>
          <p:nvPr/>
        </p:nvSpPr>
        <p:spPr>
          <a:xfrm>
            <a:off x="3530600" y="34671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demand-led</a:t>
            </a:r>
          </a:p>
        </p:txBody>
      </p:sp>
      <p:sp>
        <p:nvSpPr>
          <p:cNvPr id="29" name="Rectangle: Rounded Corners 28">
            <a:extLst>
              <a:ext uri="{FF2B5EF4-FFF2-40B4-BE49-F238E27FC236}">
                <a16:creationId xmlns:a16="http://schemas.microsoft.com/office/drawing/2014/main" id="{1CA8D285-8145-044A-4110-39E25290879D}"/>
              </a:ext>
            </a:extLst>
          </p:cNvPr>
          <p:cNvSpPr/>
          <p:nvPr/>
        </p:nvSpPr>
        <p:spPr>
          <a:xfrm>
            <a:off x="5994400" y="30353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9D08F2A5-EC16-7DD9-ED28-8294BA873750}"/>
              </a:ext>
            </a:extLst>
          </p:cNvPr>
          <p:cNvSpPr/>
          <p:nvPr/>
        </p:nvSpPr>
        <p:spPr>
          <a:xfrm>
            <a:off x="5994400" y="3035300"/>
            <a:ext cx="88900" cy="990600"/>
          </a:xfrm>
          <a:prstGeom prst="roundRect">
            <a:avLst/>
          </a:prstGeom>
          <a:solidFill>
            <a:srgbClr val="E5484D"/>
          </a:solidFill>
          <a:ln w="12700">
            <a:solidFill>
              <a:srgbClr val="E548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B4D75302-3DBE-F754-DD97-0BC57DA39DD1}"/>
              </a:ext>
            </a:extLst>
          </p:cNvPr>
          <p:cNvSpPr txBox="1"/>
          <p:nvPr/>
        </p:nvSpPr>
        <p:spPr>
          <a:xfrm>
            <a:off x="6223000" y="31623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Lines out of stock</a:t>
            </a:r>
          </a:p>
        </p:txBody>
      </p:sp>
      <p:sp>
        <p:nvSpPr>
          <p:cNvPr id="32" name="TextBox 31">
            <a:extLst>
              <a:ext uri="{FF2B5EF4-FFF2-40B4-BE49-F238E27FC236}">
                <a16:creationId xmlns:a16="http://schemas.microsoft.com/office/drawing/2014/main" id="{77C5768D-7FE3-3651-CB45-97C29B117D21}"/>
              </a:ext>
            </a:extLst>
          </p:cNvPr>
          <p:cNvSpPr txBox="1"/>
          <p:nvPr/>
        </p:nvSpPr>
        <p:spPr>
          <a:xfrm>
            <a:off x="6223000" y="34671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exceptions</a:t>
            </a:r>
          </a:p>
        </p:txBody>
      </p:sp>
      <p:sp>
        <p:nvSpPr>
          <p:cNvPr id="33" name="Rectangle: Rounded Corners 32">
            <a:extLst>
              <a:ext uri="{FF2B5EF4-FFF2-40B4-BE49-F238E27FC236}">
                <a16:creationId xmlns:a16="http://schemas.microsoft.com/office/drawing/2014/main" id="{5B9DE0A0-93D8-A453-58DA-0A233635C66F}"/>
              </a:ext>
            </a:extLst>
          </p:cNvPr>
          <p:cNvSpPr/>
          <p:nvPr/>
        </p:nvSpPr>
        <p:spPr>
          <a:xfrm>
            <a:off x="8686800" y="3035300"/>
            <a:ext cx="2286000" cy="990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Rounded Corners 33">
            <a:extLst>
              <a:ext uri="{FF2B5EF4-FFF2-40B4-BE49-F238E27FC236}">
                <a16:creationId xmlns:a16="http://schemas.microsoft.com/office/drawing/2014/main" id="{94D968D2-61BA-587A-F2A4-207E6C809164}"/>
              </a:ext>
            </a:extLst>
          </p:cNvPr>
          <p:cNvSpPr/>
          <p:nvPr/>
        </p:nvSpPr>
        <p:spPr>
          <a:xfrm>
            <a:off x="8686800" y="3035300"/>
            <a:ext cx="88900" cy="990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D584BE30-AF60-76C8-9678-5110214621CA}"/>
              </a:ext>
            </a:extLst>
          </p:cNvPr>
          <p:cNvSpPr txBox="1"/>
          <p:nvPr/>
        </p:nvSpPr>
        <p:spPr>
          <a:xfrm>
            <a:off x="8915400" y="3162300"/>
            <a:ext cx="18796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Reorder alerts</a:t>
            </a:r>
          </a:p>
        </p:txBody>
      </p:sp>
      <p:sp>
        <p:nvSpPr>
          <p:cNvPr id="36" name="TextBox 35">
            <a:extLst>
              <a:ext uri="{FF2B5EF4-FFF2-40B4-BE49-F238E27FC236}">
                <a16:creationId xmlns:a16="http://schemas.microsoft.com/office/drawing/2014/main" id="{E36261DE-013E-1ED3-4C8E-CE5A8614D4F6}"/>
              </a:ext>
            </a:extLst>
          </p:cNvPr>
          <p:cNvSpPr txBox="1"/>
          <p:nvPr/>
        </p:nvSpPr>
        <p:spPr>
          <a:xfrm>
            <a:off x="8915400" y="3467100"/>
            <a:ext cx="18796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pending</a:t>
            </a:r>
          </a:p>
        </p:txBody>
      </p:sp>
      <p:sp>
        <p:nvSpPr>
          <p:cNvPr id="37" name="Rectangle: Rounded Corners 36">
            <a:extLst>
              <a:ext uri="{FF2B5EF4-FFF2-40B4-BE49-F238E27FC236}">
                <a16:creationId xmlns:a16="http://schemas.microsoft.com/office/drawing/2014/main" id="{1BBA2108-B537-9319-C21B-77A971A533A0}"/>
              </a:ext>
            </a:extLst>
          </p:cNvPr>
          <p:cNvSpPr/>
          <p:nvPr/>
        </p:nvSpPr>
        <p:spPr>
          <a:xfrm>
            <a:off x="609600" y="4318000"/>
            <a:ext cx="3505200" cy="15875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Rounded Corners 37">
            <a:extLst>
              <a:ext uri="{FF2B5EF4-FFF2-40B4-BE49-F238E27FC236}">
                <a16:creationId xmlns:a16="http://schemas.microsoft.com/office/drawing/2014/main" id="{57EF6E02-0AE7-98D8-4C0F-BA443840FC55}"/>
              </a:ext>
            </a:extLst>
          </p:cNvPr>
          <p:cNvSpPr/>
          <p:nvPr/>
        </p:nvSpPr>
        <p:spPr>
          <a:xfrm>
            <a:off x="609600" y="4318000"/>
            <a:ext cx="3505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48B89724-6F5A-6251-9BAF-C8A6430E4F29}"/>
              </a:ext>
            </a:extLst>
          </p:cNvPr>
          <p:cNvSpPr txBox="1"/>
          <p:nvPr/>
        </p:nvSpPr>
        <p:spPr>
          <a:xfrm>
            <a:off x="838200" y="45720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TRADE</a:t>
            </a:r>
          </a:p>
        </p:txBody>
      </p:sp>
      <p:sp>
        <p:nvSpPr>
          <p:cNvPr id="40" name="TextBox 39">
            <a:extLst>
              <a:ext uri="{FF2B5EF4-FFF2-40B4-BE49-F238E27FC236}">
                <a16:creationId xmlns:a16="http://schemas.microsoft.com/office/drawing/2014/main" id="{B0A6AED9-8423-3ABB-32AF-F7814614326D}"/>
              </a:ext>
            </a:extLst>
          </p:cNvPr>
          <p:cNvSpPr txBox="1"/>
          <p:nvPr/>
        </p:nvSpPr>
        <p:spPr>
          <a:xfrm>
            <a:off x="838200" y="5092700"/>
            <a:ext cx="3048000" cy="635000"/>
          </a:xfrm>
          <a:prstGeom prst="rect">
            <a:avLst/>
          </a:prstGeom>
          <a:noFill/>
        </p:spPr>
        <p:txBody>
          <a:bodyPr vert="horz" wrap="square" lIns="50800" tIns="25400" rIns="50800" bIns="25400" rtlCol="0" anchor="t">
            <a:noAutofit/>
          </a:bodyPr>
          <a:lstStyle/>
          <a:p>
            <a:r>
              <a:rPr lang="en-US" sz="950">
                <a:solidFill>
                  <a:srgbClr val="344054"/>
                </a:solidFill>
                <a:latin typeface="Segoe UI" panose="020B0502040204020203" pitchFamily="34" charset="0"/>
              </a:rPr>
              <a:t>Units + revenue per week</a:t>
            </a:r>
          </a:p>
          <a:p>
            <a:r>
              <a:rPr lang="en-US" sz="950">
                <a:solidFill>
                  <a:srgbClr val="344054"/>
                </a:solidFill>
                <a:latin typeface="Segoe UI" panose="020B0502040204020203" pitchFamily="34" charset="0"/>
              </a:rPr>
              <a:t>Revenue by category / warehouse</a:t>
            </a:r>
          </a:p>
          <a:p>
            <a:r>
              <a:rPr lang="en-US" sz="950">
                <a:solidFill>
                  <a:srgbClr val="344054"/>
                </a:solidFill>
                <a:latin typeface="Segoe UI" panose="020B0502040204020203" pitchFamily="34" charset="0"/>
              </a:rPr>
              <a:t>Top movers by units</a:t>
            </a:r>
          </a:p>
        </p:txBody>
      </p:sp>
      <p:sp>
        <p:nvSpPr>
          <p:cNvPr id="41" name="Rectangle: Rounded Corners 40">
            <a:extLst>
              <a:ext uri="{FF2B5EF4-FFF2-40B4-BE49-F238E27FC236}">
                <a16:creationId xmlns:a16="http://schemas.microsoft.com/office/drawing/2014/main" id="{61AEEE43-361C-D17B-0E3D-C3ABDD5FE69D}"/>
              </a:ext>
            </a:extLst>
          </p:cNvPr>
          <p:cNvSpPr/>
          <p:nvPr/>
        </p:nvSpPr>
        <p:spPr>
          <a:xfrm>
            <a:off x="4343400" y="4318000"/>
            <a:ext cx="3505200" cy="15875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Rounded Corners 41">
            <a:extLst>
              <a:ext uri="{FF2B5EF4-FFF2-40B4-BE49-F238E27FC236}">
                <a16:creationId xmlns:a16="http://schemas.microsoft.com/office/drawing/2014/main" id="{1DAEC3FF-D68F-C832-778D-11A80CE4AB41}"/>
              </a:ext>
            </a:extLst>
          </p:cNvPr>
          <p:cNvSpPr/>
          <p:nvPr/>
        </p:nvSpPr>
        <p:spPr>
          <a:xfrm>
            <a:off x="4343400" y="4318000"/>
            <a:ext cx="35052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B6E23D78-A2D8-1150-CE64-05C1E2B0B2E8}"/>
              </a:ext>
            </a:extLst>
          </p:cNvPr>
          <p:cNvSpPr txBox="1"/>
          <p:nvPr/>
        </p:nvSpPr>
        <p:spPr>
          <a:xfrm>
            <a:off x="4572000" y="45720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STOCK HEALTH</a:t>
            </a:r>
          </a:p>
        </p:txBody>
      </p:sp>
      <p:sp>
        <p:nvSpPr>
          <p:cNvPr id="44" name="TextBox 43">
            <a:extLst>
              <a:ext uri="{FF2B5EF4-FFF2-40B4-BE49-F238E27FC236}">
                <a16:creationId xmlns:a16="http://schemas.microsoft.com/office/drawing/2014/main" id="{3512FA6F-E582-9BB2-2C07-A40DCDE46019}"/>
              </a:ext>
            </a:extLst>
          </p:cNvPr>
          <p:cNvSpPr txBox="1"/>
          <p:nvPr/>
        </p:nvSpPr>
        <p:spPr>
          <a:xfrm>
            <a:off x="4572000" y="5092700"/>
            <a:ext cx="3048000" cy="635000"/>
          </a:xfrm>
          <a:prstGeom prst="rect">
            <a:avLst/>
          </a:prstGeom>
          <a:noFill/>
        </p:spPr>
        <p:txBody>
          <a:bodyPr vert="horz" wrap="square" lIns="50800" tIns="25400" rIns="50800" bIns="25400" rtlCol="0" anchor="t">
            <a:noAutofit/>
          </a:bodyPr>
          <a:lstStyle/>
          <a:p>
            <a:r>
              <a:rPr lang="en-US" sz="950">
                <a:solidFill>
                  <a:srgbClr val="344054"/>
                </a:solidFill>
                <a:latin typeface="Segoe UI" panose="020B0502040204020203" pitchFamily="34" charset="0"/>
              </a:rPr>
              <a:t>Fixed cover bands</a:t>
            </a:r>
          </a:p>
          <a:p>
            <a:r>
              <a:rPr lang="en-US" sz="950">
                <a:solidFill>
                  <a:srgbClr val="344054"/>
                </a:solidFill>
                <a:latin typeface="Segoe UI" panose="020B0502040204020203" pitchFamily="34" charset="0"/>
              </a:rPr>
              <a:t>Out-of-stock exceptions</a:t>
            </a:r>
          </a:p>
          <a:p>
            <a:r>
              <a:rPr lang="en-US" sz="950">
                <a:solidFill>
                  <a:srgbClr val="344054"/>
                </a:solidFill>
                <a:latin typeface="Segoe UI" panose="020B0502040204020203" pitchFamily="34" charset="0"/>
              </a:rPr>
              <a:t>Retail value, clearly labelled</a:t>
            </a:r>
          </a:p>
        </p:txBody>
      </p:sp>
      <p:sp>
        <p:nvSpPr>
          <p:cNvPr id="45" name="Rectangle: Rounded Corners 44">
            <a:extLst>
              <a:ext uri="{FF2B5EF4-FFF2-40B4-BE49-F238E27FC236}">
                <a16:creationId xmlns:a16="http://schemas.microsoft.com/office/drawing/2014/main" id="{C08E1658-6018-2AE4-B09A-36167B135C37}"/>
              </a:ext>
            </a:extLst>
          </p:cNvPr>
          <p:cNvSpPr/>
          <p:nvPr/>
        </p:nvSpPr>
        <p:spPr>
          <a:xfrm>
            <a:off x="8077200" y="4318000"/>
            <a:ext cx="3505200" cy="15875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FA234E76-390C-3B08-9C53-E55413591695}"/>
              </a:ext>
            </a:extLst>
          </p:cNvPr>
          <p:cNvSpPr/>
          <p:nvPr/>
        </p:nvSpPr>
        <p:spPr>
          <a:xfrm>
            <a:off x="8077200" y="4318000"/>
            <a:ext cx="35052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6F7D5B37-521F-24E7-C83C-7D0230A38438}"/>
              </a:ext>
            </a:extLst>
          </p:cNvPr>
          <p:cNvSpPr txBox="1"/>
          <p:nvPr/>
        </p:nvSpPr>
        <p:spPr>
          <a:xfrm>
            <a:off x="8305800" y="45720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FORECAST HEALTH</a:t>
            </a:r>
          </a:p>
        </p:txBody>
      </p:sp>
      <p:sp>
        <p:nvSpPr>
          <p:cNvPr id="48" name="TextBox 47">
            <a:extLst>
              <a:ext uri="{FF2B5EF4-FFF2-40B4-BE49-F238E27FC236}">
                <a16:creationId xmlns:a16="http://schemas.microsoft.com/office/drawing/2014/main" id="{E0DE177B-3665-5B32-10B7-8379F373FACD}"/>
              </a:ext>
            </a:extLst>
          </p:cNvPr>
          <p:cNvSpPr txBox="1"/>
          <p:nvPr/>
        </p:nvSpPr>
        <p:spPr>
          <a:xfrm>
            <a:off x="8305800" y="5092700"/>
            <a:ext cx="3048000" cy="635000"/>
          </a:xfrm>
          <a:prstGeom prst="rect">
            <a:avLst/>
          </a:prstGeom>
          <a:noFill/>
        </p:spPr>
        <p:txBody>
          <a:bodyPr vert="horz" wrap="square" lIns="50800" tIns="25400" rIns="50800" bIns="25400" rtlCol="0" anchor="t">
            <a:noAutofit/>
          </a:bodyPr>
          <a:lstStyle/>
          <a:p>
            <a:r>
              <a:rPr lang="en-US" sz="950">
                <a:solidFill>
                  <a:srgbClr val="344054"/>
                </a:solidFill>
                <a:latin typeface="Segoe UI" panose="020B0502040204020203" pitchFamily="34" charset="0"/>
              </a:rPr>
              <a:t>Latest run and status</a:t>
            </a:r>
          </a:p>
          <a:p>
            <a:r>
              <a:rPr lang="en-US" sz="950">
                <a:solidFill>
                  <a:srgbClr val="344054"/>
                </a:solidFill>
                <a:latin typeface="Segoe UI" panose="020B0502040204020203" pitchFamily="34" charset="0"/>
              </a:rPr>
              <a:t>Predictions + horizon</a:t>
            </a:r>
          </a:p>
          <a:p>
            <a:r>
              <a:rPr lang="en-US" sz="950">
                <a:solidFill>
                  <a:srgbClr val="344054"/>
                </a:solidFill>
                <a:latin typeface="Segoe UI" panose="020B0502040204020203" pitchFamily="34" charset="0"/>
              </a:rPr>
              <a:t>Accuracy stays blank until scored</a:t>
            </a:r>
          </a:p>
        </p:txBody>
      </p:sp>
      <p:sp>
        <p:nvSpPr>
          <p:cNvPr id="49" name="TextBox 48">
            <a:extLst>
              <a:ext uri="{FF2B5EF4-FFF2-40B4-BE49-F238E27FC236}">
                <a16:creationId xmlns:a16="http://schemas.microsoft.com/office/drawing/2014/main" id="{861A573D-EA0C-0C71-5634-DB2C33C054CF}"/>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50" name="TextBox 49">
            <a:extLst>
              <a:ext uri="{FF2B5EF4-FFF2-40B4-BE49-F238E27FC236}">
                <a16:creationId xmlns:a16="http://schemas.microsoft.com/office/drawing/2014/main" id="{754638C7-3165-3042-4954-5DB4A675F70B}"/>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10</a:t>
            </a:r>
          </a:p>
        </p:txBody>
      </p:sp>
    </p:spTree>
    <p:extLst>
      <p:ext uri="{BB962C8B-B14F-4D97-AF65-F5344CB8AC3E}">
        <p14:creationId xmlns:p14="http://schemas.microsoft.com/office/powerpoint/2010/main" val="28724908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D03D2A1-1048-180D-58FE-35D853735B27}"/>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CURRENT USER EXPERIENCE</a:t>
            </a:r>
          </a:p>
        </p:txBody>
      </p:sp>
      <p:sp>
        <p:nvSpPr>
          <p:cNvPr id="3" name="TextBox 2">
            <a:extLst>
              <a:ext uri="{FF2B5EF4-FFF2-40B4-BE49-F238E27FC236}">
                <a16:creationId xmlns:a16="http://schemas.microsoft.com/office/drawing/2014/main" id="{209A2E4E-F7E4-741F-3FD6-FDE5A46F6395}"/>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The forecast page answers: what happens next?</a:t>
            </a:r>
          </a:p>
        </p:txBody>
      </p:sp>
      <p:sp>
        <p:nvSpPr>
          <p:cNvPr id="4" name="TextBox 3">
            <a:extLst>
              <a:ext uri="{FF2B5EF4-FFF2-40B4-BE49-F238E27FC236}">
                <a16:creationId xmlns:a16="http://schemas.microsoft.com/office/drawing/2014/main" id="{AED8C81A-007F-CC72-6104-C8173701DFA1}"/>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Plain language, a comparison window, a likely range and visible confidence replace technical codes.</a:t>
            </a:r>
          </a:p>
        </p:txBody>
      </p:sp>
      <p:sp>
        <p:nvSpPr>
          <p:cNvPr id="5" name="Rectangle: Rounded Corners 4">
            <a:extLst>
              <a:ext uri="{FF2B5EF4-FFF2-40B4-BE49-F238E27FC236}">
                <a16:creationId xmlns:a16="http://schemas.microsoft.com/office/drawing/2014/main" id="{57630B97-BB30-5376-A6DE-E4485D637CE5}"/>
              </a:ext>
            </a:extLst>
          </p:cNvPr>
          <p:cNvSpPr/>
          <p:nvPr/>
        </p:nvSpPr>
        <p:spPr>
          <a:xfrm>
            <a:off x="609600" y="1778000"/>
            <a:ext cx="2514600" cy="1498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DEB73B92-6C6A-52A0-DDF4-F05F1C0844A6}"/>
              </a:ext>
            </a:extLst>
          </p:cNvPr>
          <p:cNvSpPr/>
          <p:nvPr/>
        </p:nvSpPr>
        <p:spPr>
          <a:xfrm>
            <a:off x="609600" y="1778000"/>
            <a:ext cx="88900" cy="1498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50E0EDD-2DD3-2932-C85A-C55CABCEE1C8}"/>
              </a:ext>
            </a:extLst>
          </p:cNvPr>
          <p:cNvSpPr txBox="1"/>
          <p:nvPr/>
        </p:nvSpPr>
        <p:spPr>
          <a:xfrm>
            <a:off x="838200" y="19050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EXPECTED UNITS</a:t>
            </a:r>
          </a:p>
        </p:txBody>
      </p:sp>
      <p:sp>
        <p:nvSpPr>
          <p:cNvPr id="8" name="TextBox 7">
            <a:extLst>
              <a:ext uri="{FF2B5EF4-FFF2-40B4-BE49-F238E27FC236}">
                <a16:creationId xmlns:a16="http://schemas.microsoft.com/office/drawing/2014/main" id="{22D49E19-B332-ADCB-A657-D6CEFCC4D411}"/>
              </a:ext>
            </a:extLst>
          </p:cNvPr>
          <p:cNvSpPr txBox="1"/>
          <p:nvPr/>
        </p:nvSpPr>
        <p:spPr>
          <a:xfrm>
            <a:off x="838200" y="22098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31,365</a:t>
            </a:r>
          </a:p>
        </p:txBody>
      </p:sp>
      <p:sp>
        <p:nvSpPr>
          <p:cNvPr id="9" name="TextBox 8">
            <a:extLst>
              <a:ext uri="{FF2B5EF4-FFF2-40B4-BE49-F238E27FC236}">
                <a16:creationId xmlns:a16="http://schemas.microsoft.com/office/drawing/2014/main" id="{C2FB069D-E280-6152-5324-D5D188D87088}"/>
              </a:ext>
            </a:extLst>
          </p:cNvPr>
          <p:cNvSpPr txBox="1"/>
          <p:nvPr/>
        </p:nvSpPr>
        <p:spPr>
          <a:xfrm>
            <a:off x="838200" y="2692400"/>
            <a:ext cx="2108200" cy="4826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+3% versus the preceding 30 days</a:t>
            </a:r>
          </a:p>
        </p:txBody>
      </p:sp>
      <p:sp>
        <p:nvSpPr>
          <p:cNvPr id="10" name="Rectangle: Rounded Corners 9">
            <a:extLst>
              <a:ext uri="{FF2B5EF4-FFF2-40B4-BE49-F238E27FC236}">
                <a16:creationId xmlns:a16="http://schemas.microsoft.com/office/drawing/2014/main" id="{4FDA1CAE-C6B0-7CE6-3C8B-AEB5F1B53487}"/>
              </a:ext>
            </a:extLst>
          </p:cNvPr>
          <p:cNvSpPr/>
          <p:nvPr/>
        </p:nvSpPr>
        <p:spPr>
          <a:xfrm>
            <a:off x="3429000" y="1778000"/>
            <a:ext cx="2514600" cy="1498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8974562-1D7E-B368-F527-4A8F564A175E}"/>
              </a:ext>
            </a:extLst>
          </p:cNvPr>
          <p:cNvSpPr/>
          <p:nvPr/>
        </p:nvSpPr>
        <p:spPr>
          <a:xfrm>
            <a:off x="3429000" y="1778000"/>
            <a:ext cx="88900" cy="1498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BDF1988-3605-AB7F-94C4-BEAF2BF5BC20}"/>
              </a:ext>
            </a:extLst>
          </p:cNvPr>
          <p:cNvSpPr txBox="1"/>
          <p:nvPr/>
        </p:nvSpPr>
        <p:spPr>
          <a:xfrm>
            <a:off x="3657600" y="19050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PREVIOUS WINDOW</a:t>
            </a:r>
          </a:p>
        </p:txBody>
      </p:sp>
      <p:sp>
        <p:nvSpPr>
          <p:cNvPr id="13" name="TextBox 12">
            <a:extLst>
              <a:ext uri="{FF2B5EF4-FFF2-40B4-BE49-F238E27FC236}">
                <a16:creationId xmlns:a16="http://schemas.microsoft.com/office/drawing/2014/main" id="{267968C3-532F-799A-5BA4-9DC280017BB4}"/>
              </a:ext>
            </a:extLst>
          </p:cNvPr>
          <p:cNvSpPr txBox="1"/>
          <p:nvPr/>
        </p:nvSpPr>
        <p:spPr>
          <a:xfrm>
            <a:off x="3657600" y="22098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30,445</a:t>
            </a:r>
          </a:p>
        </p:txBody>
      </p:sp>
      <p:sp>
        <p:nvSpPr>
          <p:cNvPr id="14" name="TextBox 13">
            <a:extLst>
              <a:ext uri="{FF2B5EF4-FFF2-40B4-BE49-F238E27FC236}">
                <a16:creationId xmlns:a16="http://schemas.microsoft.com/office/drawing/2014/main" id="{B3297680-7751-B8A2-90D9-2E2E85215D28}"/>
              </a:ext>
            </a:extLst>
          </p:cNvPr>
          <p:cNvSpPr txBox="1"/>
          <p:nvPr/>
        </p:nvSpPr>
        <p:spPr>
          <a:xfrm>
            <a:off x="3657600" y="2692400"/>
            <a:ext cx="2108200" cy="4826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Observed sales in the same-length window</a:t>
            </a:r>
          </a:p>
        </p:txBody>
      </p:sp>
      <p:sp>
        <p:nvSpPr>
          <p:cNvPr id="15" name="Rectangle: Rounded Corners 14">
            <a:extLst>
              <a:ext uri="{FF2B5EF4-FFF2-40B4-BE49-F238E27FC236}">
                <a16:creationId xmlns:a16="http://schemas.microsoft.com/office/drawing/2014/main" id="{2BCF07BE-D43A-A528-5969-0DA1302B4C60}"/>
              </a:ext>
            </a:extLst>
          </p:cNvPr>
          <p:cNvSpPr/>
          <p:nvPr/>
        </p:nvSpPr>
        <p:spPr>
          <a:xfrm>
            <a:off x="6248400" y="1778000"/>
            <a:ext cx="2514600" cy="1498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0B34F84F-1EC9-F88A-1EA3-CEFD10A60122}"/>
              </a:ext>
            </a:extLst>
          </p:cNvPr>
          <p:cNvSpPr/>
          <p:nvPr/>
        </p:nvSpPr>
        <p:spPr>
          <a:xfrm>
            <a:off x="6248400" y="1778000"/>
            <a:ext cx="88900" cy="1498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21EA6B1-8FD6-AE68-425B-180A37BB59A3}"/>
              </a:ext>
            </a:extLst>
          </p:cNvPr>
          <p:cNvSpPr txBox="1"/>
          <p:nvPr/>
        </p:nvSpPr>
        <p:spPr>
          <a:xfrm>
            <a:off x="6477000" y="19050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LIKELY RANGE</a:t>
            </a:r>
          </a:p>
        </p:txBody>
      </p:sp>
      <p:sp>
        <p:nvSpPr>
          <p:cNvPr id="18" name="TextBox 17">
            <a:extLst>
              <a:ext uri="{FF2B5EF4-FFF2-40B4-BE49-F238E27FC236}">
                <a16:creationId xmlns:a16="http://schemas.microsoft.com/office/drawing/2014/main" id="{DD7A5B3C-9B0F-4B5B-EF71-F0F8AE4C5712}"/>
              </a:ext>
            </a:extLst>
          </p:cNvPr>
          <p:cNvSpPr txBox="1"/>
          <p:nvPr/>
        </p:nvSpPr>
        <p:spPr>
          <a:xfrm>
            <a:off x="6477000" y="2209800"/>
            <a:ext cx="2108200" cy="431800"/>
          </a:xfrm>
          <a:prstGeom prst="rect">
            <a:avLst/>
          </a:prstGeom>
          <a:noFill/>
        </p:spPr>
        <p:txBody>
          <a:bodyPr vert="horz" wrap="square" lIns="50800" tIns="25400" rIns="50800" bIns="25400" rtlCol="0" anchor="t">
            <a:noAutofit/>
          </a:bodyPr>
          <a:lstStyle/>
          <a:p>
            <a:r>
              <a:rPr lang="en-US" sz="1600" b="1">
                <a:solidFill>
                  <a:srgbClr val="0B1536"/>
                </a:solidFill>
                <a:latin typeface="Segoe UI" panose="020B0502040204020203" pitchFamily="34" charset="0"/>
              </a:rPr>
              <a:t>19,314-44,287</a:t>
            </a:r>
          </a:p>
        </p:txBody>
      </p:sp>
      <p:sp>
        <p:nvSpPr>
          <p:cNvPr id="19" name="TextBox 18">
            <a:extLst>
              <a:ext uri="{FF2B5EF4-FFF2-40B4-BE49-F238E27FC236}">
                <a16:creationId xmlns:a16="http://schemas.microsoft.com/office/drawing/2014/main" id="{504AEBD3-7E46-CD8E-288D-0A9F6B7044D0}"/>
              </a:ext>
            </a:extLst>
          </p:cNvPr>
          <p:cNvSpPr txBox="1"/>
          <p:nvPr/>
        </p:nvSpPr>
        <p:spPr>
          <a:xfrm>
            <a:off x="6477000" y="2692400"/>
            <a:ext cx="2108200" cy="4826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Use the range when confidence is low</a:t>
            </a:r>
          </a:p>
        </p:txBody>
      </p:sp>
      <p:sp>
        <p:nvSpPr>
          <p:cNvPr id="20" name="Rectangle: Rounded Corners 19">
            <a:extLst>
              <a:ext uri="{FF2B5EF4-FFF2-40B4-BE49-F238E27FC236}">
                <a16:creationId xmlns:a16="http://schemas.microsoft.com/office/drawing/2014/main" id="{25455413-6EE0-6208-FD5C-CE36148F2718}"/>
              </a:ext>
            </a:extLst>
          </p:cNvPr>
          <p:cNvSpPr/>
          <p:nvPr/>
        </p:nvSpPr>
        <p:spPr>
          <a:xfrm>
            <a:off x="9067800" y="1778000"/>
            <a:ext cx="2514600" cy="14986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5F442EF2-60D9-7338-96FD-9F5D2D286AAF}"/>
              </a:ext>
            </a:extLst>
          </p:cNvPr>
          <p:cNvSpPr/>
          <p:nvPr/>
        </p:nvSpPr>
        <p:spPr>
          <a:xfrm>
            <a:off x="9067800" y="1778000"/>
            <a:ext cx="88900" cy="1498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91E6C24-C429-735B-1481-679EB7A5D8B0}"/>
              </a:ext>
            </a:extLst>
          </p:cNvPr>
          <p:cNvSpPr txBox="1"/>
          <p:nvPr/>
        </p:nvSpPr>
        <p:spPr>
          <a:xfrm>
            <a:off x="9296400" y="19050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COVERAGE</a:t>
            </a:r>
          </a:p>
        </p:txBody>
      </p:sp>
      <p:sp>
        <p:nvSpPr>
          <p:cNvPr id="23" name="TextBox 22">
            <a:extLst>
              <a:ext uri="{FF2B5EF4-FFF2-40B4-BE49-F238E27FC236}">
                <a16:creationId xmlns:a16="http://schemas.microsoft.com/office/drawing/2014/main" id="{01553F59-E6DB-F1BB-A0FD-F946EE639CE9}"/>
              </a:ext>
            </a:extLst>
          </p:cNvPr>
          <p:cNvSpPr txBox="1"/>
          <p:nvPr/>
        </p:nvSpPr>
        <p:spPr>
          <a:xfrm>
            <a:off x="9296400" y="2209800"/>
            <a:ext cx="2108200" cy="431800"/>
          </a:xfrm>
          <a:prstGeom prst="rect">
            <a:avLst/>
          </a:prstGeom>
          <a:noFill/>
        </p:spPr>
        <p:txBody>
          <a:bodyPr vert="horz" wrap="square" lIns="50800" tIns="25400" rIns="50800" bIns="25400" rtlCol="0" anchor="t">
            <a:noAutofit/>
          </a:bodyPr>
          <a:lstStyle/>
          <a:p>
            <a:r>
              <a:rPr lang="en-US" sz="1700" b="1">
                <a:solidFill>
                  <a:srgbClr val="0B1536"/>
                </a:solidFill>
                <a:latin typeface="Segoe UI" panose="020B0502040204020203" pitchFamily="34" charset="0"/>
              </a:rPr>
              <a:t>533 products</a:t>
            </a:r>
          </a:p>
        </p:txBody>
      </p:sp>
      <p:sp>
        <p:nvSpPr>
          <p:cNvPr id="24" name="TextBox 23">
            <a:extLst>
              <a:ext uri="{FF2B5EF4-FFF2-40B4-BE49-F238E27FC236}">
                <a16:creationId xmlns:a16="http://schemas.microsoft.com/office/drawing/2014/main" id="{193F4CA8-F754-AA11-E580-7057540E714B}"/>
              </a:ext>
            </a:extLst>
          </p:cNvPr>
          <p:cNvSpPr txBox="1"/>
          <p:nvPr/>
        </p:nvSpPr>
        <p:spPr>
          <a:xfrm>
            <a:off x="9296400" y="2692400"/>
            <a:ext cx="2108200" cy="4826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Overall confidence: Low</a:t>
            </a:r>
          </a:p>
        </p:txBody>
      </p:sp>
      <p:sp>
        <p:nvSpPr>
          <p:cNvPr id="25" name="Rectangle: Rounded Corners 24">
            <a:extLst>
              <a:ext uri="{FF2B5EF4-FFF2-40B4-BE49-F238E27FC236}">
                <a16:creationId xmlns:a16="http://schemas.microsoft.com/office/drawing/2014/main" id="{74BA650C-EBBD-6EE5-8825-EB512AA973D7}"/>
              </a:ext>
            </a:extLst>
          </p:cNvPr>
          <p:cNvSpPr/>
          <p:nvPr/>
        </p:nvSpPr>
        <p:spPr>
          <a:xfrm>
            <a:off x="609600" y="3683000"/>
            <a:ext cx="7010400" cy="22098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66491229-0AEF-070F-9D80-7D9A77EF9AE7}"/>
              </a:ext>
            </a:extLst>
          </p:cNvPr>
          <p:cNvSpPr txBox="1"/>
          <p:nvPr/>
        </p:nvSpPr>
        <p:spPr>
          <a:xfrm>
            <a:off x="838200" y="3886200"/>
            <a:ext cx="4445000" cy="279400"/>
          </a:xfrm>
          <a:prstGeom prst="rect">
            <a:avLst/>
          </a:prstGeom>
          <a:noFill/>
        </p:spPr>
        <p:txBody>
          <a:bodyPr vert="horz" wrap="square" lIns="50800" tIns="25400" rIns="50800" bIns="25400" rtlCol="0" anchor="ctr">
            <a:noAutofit/>
          </a:bodyPr>
          <a:lstStyle/>
          <a:p>
            <a:r>
              <a:rPr lang="en-US" sz="900" b="1">
                <a:solidFill>
                  <a:srgbClr val="667085"/>
                </a:solidFill>
                <a:latin typeface="Segoe UI" panose="020B0502040204020203" pitchFamily="34" charset="0"/>
              </a:rPr>
              <a:t>SALES SO FAR, AND WHAT COMES NEXT</a:t>
            </a:r>
          </a:p>
        </p:txBody>
      </p:sp>
      <p:cxnSp>
        <p:nvCxnSpPr>
          <p:cNvPr id="27" name="Straight Connector 26">
            <a:extLst>
              <a:ext uri="{FF2B5EF4-FFF2-40B4-BE49-F238E27FC236}">
                <a16:creationId xmlns:a16="http://schemas.microsoft.com/office/drawing/2014/main" id="{CA27B0E4-026A-D981-515D-FB82C7356B6E}"/>
              </a:ext>
            </a:extLst>
          </p:cNvPr>
          <p:cNvCxnSpPr/>
          <p:nvPr/>
        </p:nvCxnSpPr>
        <p:spPr>
          <a:xfrm flipV="1">
            <a:off x="1003300" y="4889500"/>
            <a:ext cx="1054100" cy="457200"/>
          </a:xfrm>
          <a:prstGeom prst="line">
            <a:avLst/>
          </a:prstGeom>
          <a:ln w="31750">
            <a:solidFill>
              <a:srgbClr val="1769E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D755A7B-8DFD-196C-4DE2-54973787302D}"/>
              </a:ext>
            </a:extLst>
          </p:cNvPr>
          <p:cNvCxnSpPr/>
          <p:nvPr/>
        </p:nvCxnSpPr>
        <p:spPr>
          <a:xfrm>
            <a:off x="2057400" y="4889500"/>
            <a:ext cx="1054100" cy="203200"/>
          </a:xfrm>
          <a:prstGeom prst="line">
            <a:avLst/>
          </a:prstGeom>
          <a:ln w="31750">
            <a:solidFill>
              <a:srgbClr val="1769E0"/>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73BC6EA-4995-063A-2591-828992E3F234}"/>
              </a:ext>
            </a:extLst>
          </p:cNvPr>
          <p:cNvCxnSpPr/>
          <p:nvPr/>
        </p:nvCxnSpPr>
        <p:spPr>
          <a:xfrm flipV="1">
            <a:off x="3111500" y="4648200"/>
            <a:ext cx="1054100" cy="444500"/>
          </a:xfrm>
          <a:prstGeom prst="line">
            <a:avLst/>
          </a:prstGeom>
          <a:ln w="31750">
            <a:solidFill>
              <a:srgbClr val="1769E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B51B32-B408-283D-B335-1AB5F03D7F7D}"/>
              </a:ext>
            </a:extLst>
          </p:cNvPr>
          <p:cNvCxnSpPr/>
          <p:nvPr/>
        </p:nvCxnSpPr>
        <p:spPr>
          <a:xfrm>
            <a:off x="4165600" y="4648200"/>
            <a:ext cx="1054100" cy="279400"/>
          </a:xfrm>
          <a:prstGeom prst="line">
            <a:avLst/>
          </a:prstGeom>
          <a:ln w="31750">
            <a:solidFill>
              <a:srgbClr val="1769E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9F0C9CD6-E763-120C-44EB-D3EE6F5D8255}"/>
              </a:ext>
            </a:extLst>
          </p:cNvPr>
          <p:cNvCxnSpPr/>
          <p:nvPr/>
        </p:nvCxnSpPr>
        <p:spPr>
          <a:xfrm flipV="1">
            <a:off x="5219700" y="4762500"/>
            <a:ext cx="1790700" cy="165100"/>
          </a:xfrm>
          <a:prstGeom prst="line">
            <a:avLst/>
          </a:prstGeom>
          <a:ln w="38100">
            <a:solidFill>
              <a:srgbClr val="6D3EF2"/>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BD791EA-9707-6C02-F37A-BA7B5A1EAD2F}"/>
              </a:ext>
            </a:extLst>
          </p:cNvPr>
          <p:cNvSpPr txBox="1"/>
          <p:nvPr/>
        </p:nvSpPr>
        <p:spPr>
          <a:xfrm>
            <a:off x="1041400" y="5562600"/>
            <a:ext cx="1905000" cy="228600"/>
          </a:xfrm>
          <a:prstGeom prst="rect">
            <a:avLst/>
          </a:prstGeom>
          <a:noFill/>
        </p:spPr>
        <p:txBody>
          <a:bodyPr vert="horz" wrap="square" lIns="50800" tIns="25400" rIns="50800" bIns="25400" rtlCol="0" anchor="ctr">
            <a:noAutofit/>
          </a:bodyPr>
          <a:lstStyle/>
          <a:p>
            <a:r>
              <a:rPr lang="en-US" sz="850" b="1">
                <a:solidFill>
                  <a:srgbClr val="1769E0"/>
                </a:solidFill>
                <a:latin typeface="Segoe UI" panose="020B0502040204020203" pitchFamily="34" charset="0"/>
              </a:rPr>
              <a:t>Actual weekly sales</a:t>
            </a:r>
          </a:p>
        </p:txBody>
      </p:sp>
      <p:sp>
        <p:nvSpPr>
          <p:cNvPr id="33" name="TextBox 32">
            <a:extLst>
              <a:ext uri="{FF2B5EF4-FFF2-40B4-BE49-F238E27FC236}">
                <a16:creationId xmlns:a16="http://schemas.microsoft.com/office/drawing/2014/main" id="{65D4C4A9-756D-A70A-94A1-C2BA433F5D7F}"/>
              </a:ext>
            </a:extLst>
          </p:cNvPr>
          <p:cNvSpPr txBox="1"/>
          <p:nvPr/>
        </p:nvSpPr>
        <p:spPr>
          <a:xfrm>
            <a:off x="4318000" y="5562600"/>
            <a:ext cx="2921000" cy="228600"/>
          </a:xfrm>
          <a:prstGeom prst="rect">
            <a:avLst/>
          </a:prstGeom>
          <a:noFill/>
        </p:spPr>
        <p:txBody>
          <a:bodyPr vert="horz" wrap="square" lIns="50800" tIns="25400" rIns="50800" bIns="25400" rtlCol="0" anchor="ctr">
            <a:noAutofit/>
          </a:bodyPr>
          <a:lstStyle/>
          <a:p>
            <a:pPr algn="r"/>
            <a:r>
              <a:rPr lang="en-US" sz="850" b="1">
                <a:solidFill>
                  <a:srgbClr val="6D3EF2"/>
                </a:solidFill>
                <a:latin typeface="Segoe UI" panose="020B0502040204020203" pitchFamily="34" charset="0"/>
              </a:rPr>
              <a:t>Expected weekly average + range</a:t>
            </a:r>
          </a:p>
        </p:txBody>
      </p:sp>
      <p:sp>
        <p:nvSpPr>
          <p:cNvPr id="34" name="Rectangle: Rounded Corners 33">
            <a:extLst>
              <a:ext uri="{FF2B5EF4-FFF2-40B4-BE49-F238E27FC236}">
                <a16:creationId xmlns:a16="http://schemas.microsoft.com/office/drawing/2014/main" id="{AD13357C-A4FF-F8CC-48D2-B4E8201D27C0}"/>
              </a:ext>
            </a:extLst>
          </p:cNvPr>
          <p:cNvSpPr/>
          <p:nvPr/>
        </p:nvSpPr>
        <p:spPr>
          <a:xfrm>
            <a:off x="7924800" y="3683000"/>
            <a:ext cx="3657600" cy="22098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Rounded Corners 34">
            <a:extLst>
              <a:ext uri="{FF2B5EF4-FFF2-40B4-BE49-F238E27FC236}">
                <a16:creationId xmlns:a16="http://schemas.microsoft.com/office/drawing/2014/main" id="{301EAF67-32D7-2BC2-9C13-C285219F82FC}"/>
              </a:ext>
            </a:extLst>
          </p:cNvPr>
          <p:cNvSpPr/>
          <p:nvPr/>
        </p:nvSpPr>
        <p:spPr>
          <a:xfrm>
            <a:off x="7924800" y="3683000"/>
            <a:ext cx="3657600" cy="101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4E385A61-211A-B693-5773-F0E6963D5643}"/>
              </a:ext>
            </a:extLst>
          </p:cNvPr>
          <p:cNvSpPr txBox="1"/>
          <p:nvPr/>
        </p:nvSpPr>
        <p:spPr>
          <a:xfrm>
            <a:off x="8153400" y="3937000"/>
            <a:ext cx="32004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THE TABLE SPEAKS BUSINESS</a:t>
            </a:r>
          </a:p>
        </p:txBody>
      </p:sp>
      <p:sp>
        <p:nvSpPr>
          <p:cNvPr id="37" name="TextBox 36">
            <a:extLst>
              <a:ext uri="{FF2B5EF4-FFF2-40B4-BE49-F238E27FC236}">
                <a16:creationId xmlns:a16="http://schemas.microsoft.com/office/drawing/2014/main" id="{3535E291-390D-F68C-0EF1-5BDE4127D4AD}"/>
              </a:ext>
            </a:extLst>
          </p:cNvPr>
          <p:cNvSpPr txBox="1"/>
          <p:nvPr/>
        </p:nvSpPr>
        <p:spPr>
          <a:xfrm>
            <a:off x="8153400" y="4457700"/>
            <a:ext cx="3200400" cy="1257300"/>
          </a:xfrm>
          <a:prstGeom prst="rect">
            <a:avLst/>
          </a:prstGeom>
          <a:noFill/>
        </p:spPr>
        <p:txBody>
          <a:bodyPr vert="horz" wrap="square" lIns="50800" tIns="25400" rIns="50800" bIns="25400" rtlCol="0" anchor="t">
            <a:noAutofit/>
          </a:bodyPr>
          <a:lstStyle/>
          <a:p>
            <a:r>
              <a:rPr lang="en-US" sz="920">
                <a:solidFill>
                  <a:srgbClr val="344054"/>
                </a:solidFill>
                <a:latin typeface="Segoe UI" panose="020B0502040204020203" pitchFamily="34" charset="0"/>
              </a:rPr>
              <a:t>Expected to sell</a:t>
            </a:r>
          </a:p>
          <a:p>
            <a:r>
              <a:rPr lang="en-US" sz="920">
                <a:solidFill>
                  <a:srgbClr val="344054"/>
                </a:solidFill>
                <a:latin typeface="Segoe UI" panose="020B0502040204020203" pitchFamily="34" charset="0"/>
              </a:rPr>
              <a:t>Over the next N days</a:t>
            </a:r>
          </a:p>
          <a:p>
            <a:r>
              <a:rPr lang="en-US" sz="920">
                <a:solidFill>
                  <a:srgbClr val="344054"/>
                </a:solidFill>
                <a:latin typeface="Segoe UI" panose="020B0502040204020203" pitchFamily="34" charset="0"/>
              </a:rPr>
              <a:t>How sure</a:t>
            </a:r>
          </a:p>
          <a:p>
            <a:r>
              <a:rPr lang="en-US" sz="920">
                <a:solidFill>
                  <a:srgbClr val="344054"/>
                </a:solidFill>
                <a:latin typeface="Segoe UI" panose="020B0502040204020203" pitchFamily="34" charset="0"/>
              </a:rPr>
              <a:t>Based on</a:t>
            </a:r>
          </a:p>
          <a:p>
            <a:r>
              <a:rPr lang="en-US" sz="920">
                <a:solidFill>
                  <a:srgbClr val="344054"/>
                </a:solidFill>
                <a:latin typeface="Segoe UI" panose="020B0502040204020203" pitchFamily="34" charset="0"/>
              </a:rPr>
              <a:t>How it turned out</a:t>
            </a:r>
          </a:p>
          <a:p>
            <a:endParaRPr lang="en-US" sz="920">
              <a:solidFill>
                <a:srgbClr val="344054"/>
              </a:solidFill>
              <a:latin typeface="Segoe UI" panose="020B0502040204020203" pitchFamily="34" charset="0"/>
            </a:endParaRPr>
          </a:p>
          <a:p>
            <a:r>
              <a:rPr lang="en-US" sz="920">
                <a:solidFill>
                  <a:srgbClr val="344054"/>
                </a:solidFill>
                <a:latin typeface="Segoe UI" panose="020B0502040204020203" pitchFamily="34" charset="0"/>
              </a:rPr>
              <a:t>Latest run by default</a:t>
            </a:r>
          </a:p>
        </p:txBody>
      </p:sp>
      <p:sp>
        <p:nvSpPr>
          <p:cNvPr id="38" name="Rectangle: Rounded Corners 37">
            <a:extLst>
              <a:ext uri="{FF2B5EF4-FFF2-40B4-BE49-F238E27FC236}">
                <a16:creationId xmlns:a16="http://schemas.microsoft.com/office/drawing/2014/main" id="{05C03BEA-F81E-8491-B120-DE8626AEBD6C}"/>
              </a:ext>
            </a:extLst>
          </p:cNvPr>
          <p:cNvSpPr/>
          <p:nvPr/>
        </p:nvSpPr>
        <p:spPr>
          <a:xfrm>
            <a:off x="4089400" y="6045200"/>
            <a:ext cx="4013200" cy="330200"/>
          </a:xfrm>
          <a:prstGeom prst="roundRect">
            <a:avLst/>
          </a:prstGeom>
          <a:solidFill>
            <a:srgbClr val="FFF2D9"/>
          </a:solidFill>
          <a:ln w="12700">
            <a:solidFill>
              <a:srgbClr val="FFF2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30A81DBE-897D-67C8-F57C-B427A59A6585}"/>
              </a:ext>
            </a:extLst>
          </p:cNvPr>
          <p:cNvSpPr txBox="1"/>
          <p:nvPr/>
        </p:nvSpPr>
        <p:spPr>
          <a:xfrm>
            <a:off x="4089400" y="6045200"/>
            <a:ext cx="4013200" cy="330200"/>
          </a:xfrm>
          <a:prstGeom prst="rect">
            <a:avLst/>
          </a:prstGeom>
          <a:noFill/>
        </p:spPr>
        <p:txBody>
          <a:bodyPr vert="horz" wrap="square" lIns="50800" tIns="25400" rIns="50800" bIns="25400" rtlCol="0" anchor="ctr">
            <a:noAutofit/>
          </a:bodyPr>
          <a:lstStyle/>
          <a:p>
            <a:pPr algn="ctr"/>
            <a:r>
              <a:rPr lang="en-US" sz="850" b="1">
                <a:solidFill>
                  <a:srgbClr val="E58A00"/>
                </a:solidFill>
                <a:latin typeface="Segoe UI" panose="020B0502040204020203" pitchFamily="34" charset="0"/>
              </a:rPr>
              <a:t>Generated-data evidence - not production demand</a:t>
            </a:r>
          </a:p>
        </p:txBody>
      </p:sp>
      <p:sp>
        <p:nvSpPr>
          <p:cNvPr id="40" name="TextBox 39">
            <a:extLst>
              <a:ext uri="{FF2B5EF4-FFF2-40B4-BE49-F238E27FC236}">
                <a16:creationId xmlns:a16="http://schemas.microsoft.com/office/drawing/2014/main" id="{C82FDD73-D2C1-9020-962C-E9E9BF1256A7}"/>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41" name="TextBox 40">
            <a:extLst>
              <a:ext uri="{FF2B5EF4-FFF2-40B4-BE49-F238E27FC236}">
                <a16:creationId xmlns:a16="http://schemas.microsoft.com/office/drawing/2014/main" id="{38B878DE-1D50-6271-50F1-AA44C916B7AE}"/>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11</a:t>
            </a:r>
          </a:p>
        </p:txBody>
      </p:sp>
    </p:spTree>
    <p:extLst>
      <p:ext uri="{BB962C8B-B14F-4D97-AF65-F5344CB8AC3E}">
        <p14:creationId xmlns:p14="http://schemas.microsoft.com/office/powerpoint/2010/main" val="29711830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210990-2E5C-C80D-63D3-48B66EF9BE4D}"/>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PROCESS INFOGRAPHIC</a:t>
            </a:r>
          </a:p>
        </p:txBody>
      </p:sp>
      <p:sp>
        <p:nvSpPr>
          <p:cNvPr id="3" name="TextBox 2">
            <a:extLst>
              <a:ext uri="{FF2B5EF4-FFF2-40B4-BE49-F238E27FC236}">
                <a16:creationId xmlns:a16="http://schemas.microsoft.com/office/drawing/2014/main" id="{C0C0E528-8D61-9A4F-0CB8-239372560915}"/>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How one forecast is produced and governed</a:t>
            </a:r>
          </a:p>
        </p:txBody>
      </p:sp>
      <p:sp>
        <p:nvSpPr>
          <p:cNvPr id="4" name="TextBox 3">
            <a:extLst>
              <a:ext uri="{FF2B5EF4-FFF2-40B4-BE49-F238E27FC236}">
                <a16:creationId xmlns:a16="http://schemas.microsoft.com/office/drawing/2014/main" id="{63820420-75E8-4ECE-8AE3-3540901687CD}"/>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Selection happens before inference; scoring happens only after the predicted horizon has finished.</a:t>
            </a:r>
          </a:p>
        </p:txBody>
      </p:sp>
      <p:cxnSp>
        <p:nvCxnSpPr>
          <p:cNvPr id="5" name="Straight Connector 4">
            <a:extLst>
              <a:ext uri="{FF2B5EF4-FFF2-40B4-BE49-F238E27FC236}">
                <a16:creationId xmlns:a16="http://schemas.microsoft.com/office/drawing/2014/main" id="{1DD48A1E-6D42-A76E-DD07-47FA12331946}"/>
              </a:ext>
            </a:extLst>
          </p:cNvPr>
          <p:cNvCxnSpPr/>
          <p:nvPr/>
        </p:nvCxnSpPr>
        <p:spPr>
          <a:xfrm>
            <a:off x="2108200" y="3403600"/>
            <a:ext cx="190500" cy="0"/>
          </a:xfrm>
          <a:prstGeom prst="line">
            <a:avLst/>
          </a:prstGeom>
          <a:ln w="2794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6" name="Rectangle: Rounded Corners 5">
            <a:extLst>
              <a:ext uri="{FF2B5EF4-FFF2-40B4-BE49-F238E27FC236}">
                <a16:creationId xmlns:a16="http://schemas.microsoft.com/office/drawing/2014/main" id="{E635F2D2-6D95-AF7E-A8F8-02672837D368}"/>
              </a:ext>
            </a:extLst>
          </p:cNvPr>
          <p:cNvSpPr/>
          <p:nvPr/>
        </p:nvSpPr>
        <p:spPr>
          <a:xfrm>
            <a:off x="431800" y="1943100"/>
            <a:ext cx="1676400" cy="29210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2612A446-0A27-7CDA-13CB-7A335B5EC2F0}"/>
              </a:ext>
            </a:extLst>
          </p:cNvPr>
          <p:cNvSpPr/>
          <p:nvPr/>
        </p:nvSpPr>
        <p:spPr>
          <a:xfrm>
            <a:off x="1054100" y="21463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99DFE25-CDF1-B05B-545F-C1AE5FBAC44E}"/>
              </a:ext>
            </a:extLst>
          </p:cNvPr>
          <p:cNvSpPr txBox="1"/>
          <p:nvPr/>
        </p:nvSpPr>
        <p:spPr>
          <a:xfrm>
            <a:off x="1054100" y="21463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1</a:t>
            </a:r>
          </a:p>
        </p:txBody>
      </p:sp>
      <p:sp>
        <p:nvSpPr>
          <p:cNvPr id="9" name="TextBox 8">
            <a:extLst>
              <a:ext uri="{FF2B5EF4-FFF2-40B4-BE49-F238E27FC236}">
                <a16:creationId xmlns:a16="http://schemas.microsoft.com/office/drawing/2014/main" id="{5DB6B93F-61E1-4BF7-6E7F-20FC39810BF7}"/>
              </a:ext>
            </a:extLst>
          </p:cNvPr>
          <p:cNvSpPr txBox="1"/>
          <p:nvPr/>
        </p:nvSpPr>
        <p:spPr>
          <a:xfrm>
            <a:off x="533400" y="2667000"/>
            <a:ext cx="1473200" cy="393700"/>
          </a:xfrm>
          <a:prstGeom prst="rect">
            <a:avLst/>
          </a:prstGeom>
          <a:noFill/>
        </p:spPr>
        <p:txBody>
          <a:bodyPr vert="horz" wrap="square" lIns="50800" tIns="25400" rIns="50800" bIns="25400" rtlCol="0" anchor="t">
            <a:noAutofit/>
          </a:bodyPr>
          <a:lstStyle/>
          <a:p>
            <a:pPr algn="ctr"/>
            <a:r>
              <a:rPr lang="en-US" sz="1100" b="1">
                <a:solidFill>
                  <a:srgbClr val="1769E0"/>
                </a:solidFill>
                <a:latin typeface="Segoe UI" panose="020B0502040204020203" pitchFamily="34" charset="0"/>
              </a:rPr>
              <a:t>GRAIN</a:t>
            </a:r>
          </a:p>
        </p:txBody>
      </p:sp>
      <p:sp>
        <p:nvSpPr>
          <p:cNvPr id="10" name="TextBox 9">
            <a:extLst>
              <a:ext uri="{FF2B5EF4-FFF2-40B4-BE49-F238E27FC236}">
                <a16:creationId xmlns:a16="http://schemas.microsoft.com/office/drawing/2014/main" id="{F357534D-44D4-ACAF-B825-F3685E9BCD65}"/>
              </a:ext>
            </a:extLst>
          </p:cNvPr>
          <p:cNvSpPr txBox="1"/>
          <p:nvPr/>
        </p:nvSpPr>
        <p:spPr>
          <a:xfrm>
            <a:off x="584200" y="3162300"/>
            <a:ext cx="1371600" cy="1549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Configured source</a:t>
            </a:r>
          </a:p>
          <a:p>
            <a:pPr algn="ctr"/>
            <a:r>
              <a:rPr lang="en-US" sz="900">
                <a:solidFill>
                  <a:srgbClr val="344054"/>
                </a:solidFill>
                <a:latin typeface="Segoe UI" panose="020B0502040204020203" pitchFamily="34" charset="0"/>
              </a:rPr>
              <a:t>Warehouse today</a:t>
            </a:r>
          </a:p>
        </p:txBody>
      </p:sp>
      <p:cxnSp>
        <p:nvCxnSpPr>
          <p:cNvPr id="11" name="Straight Connector 10">
            <a:extLst>
              <a:ext uri="{FF2B5EF4-FFF2-40B4-BE49-F238E27FC236}">
                <a16:creationId xmlns:a16="http://schemas.microsoft.com/office/drawing/2014/main" id="{F1542482-3DBD-A47F-8CA0-4FF408179788}"/>
              </a:ext>
            </a:extLst>
          </p:cNvPr>
          <p:cNvCxnSpPr/>
          <p:nvPr/>
        </p:nvCxnSpPr>
        <p:spPr>
          <a:xfrm>
            <a:off x="4013200" y="3403600"/>
            <a:ext cx="190500" cy="0"/>
          </a:xfrm>
          <a:prstGeom prst="line">
            <a:avLst/>
          </a:prstGeom>
          <a:ln w="27940">
            <a:solidFill>
              <a:srgbClr val="078A99"/>
            </a:solidFill>
            <a:tailEnd type="arrow"/>
          </a:ln>
        </p:spPr>
        <p:style>
          <a:lnRef idx="2">
            <a:schemeClr val="accent1"/>
          </a:lnRef>
          <a:fillRef idx="0">
            <a:schemeClr val="accent1"/>
          </a:fillRef>
          <a:effectRef idx="1">
            <a:schemeClr val="accent1"/>
          </a:effectRef>
          <a:fontRef idx="minor">
            <a:schemeClr val="tx1"/>
          </a:fontRef>
        </p:style>
      </p:cxnSp>
      <p:sp>
        <p:nvSpPr>
          <p:cNvPr id="12" name="Rectangle: Rounded Corners 11">
            <a:extLst>
              <a:ext uri="{FF2B5EF4-FFF2-40B4-BE49-F238E27FC236}">
                <a16:creationId xmlns:a16="http://schemas.microsoft.com/office/drawing/2014/main" id="{0A65D4FC-F804-2FB7-8BD3-A847DCFF0225}"/>
              </a:ext>
            </a:extLst>
          </p:cNvPr>
          <p:cNvSpPr/>
          <p:nvPr/>
        </p:nvSpPr>
        <p:spPr>
          <a:xfrm>
            <a:off x="2336800" y="1943100"/>
            <a:ext cx="1676400" cy="2921000"/>
          </a:xfrm>
          <a:prstGeom prst="roundRect">
            <a:avLst/>
          </a:prstGeom>
          <a:solidFill>
            <a:srgbClr val="FFFFFF"/>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4E950953-26BD-DB77-AD24-D03AD85FE18F}"/>
              </a:ext>
            </a:extLst>
          </p:cNvPr>
          <p:cNvSpPr/>
          <p:nvPr/>
        </p:nvSpPr>
        <p:spPr>
          <a:xfrm>
            <a:off x="2959100" y="21463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F4093C9-7249-FFF7-C98F-AD1FF0DB4E2B}"/>
              </a:ext>
            </a:extLst>
          </p:cNvPr>
          <p:cNvSpPr txBox="1"/>
          <p:nvPr/>
        </p:nvSpPr>
        <p:spPr>
          <a:xfrm>
            <a:off x="2959100" y="21463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2</a:t>
            </a:r>
          </a:p>
        </p:txBody>
      </p:sp>
      <p:sp>
        <p:nvSpPr>
          <p:cNvPr id="15" name="TextBox 14">
            <a:extLst>
              <a:ext uri="{FF2B5EF4-FFF2-40B4-BE49-F238E27FC236}">
                <a16:creationId xmlns:a16="http://schemas.microsoft.com/office/drawing/2014/main" id="{D95048FF-C6CB-C4E5-224A-1FE23A2B2B8E}"/>
              </a:ext>
            </a:extLst>
          </p:cNvPr>
          <p:cNvSpPr txBox="1"/>
          <p:nvPr/>
        </p:nvSpPr>
        <p:spPr>
          <a:xfrm>
            <a:off x="2438400" y="2667000"/>
            <a:ext cx="1473200" cy="393700"/>
          </a:xfrm>
          <a:prstGeom prst="rect">
            <a:avLst/>
          </a:prstGeom>
          <a:noFill/>
        </p:spPr>
        <p:txBody>
          <a:bodyPr vert="horz" wrap="square" lIns="50800" tIns="25400" rIns="50800" bIns="25400" rtlCol="0" anchor="t">
            <a:noAutofit/>
          </a:bodyPr>
          <a:lstStyle/>
          <a:p>
            <a:pPr algn="ctr"/>
            <a:r>
              <a:rPr lang="en-US" sz="1100" b="1">
                <a:solidFill>
                  <a:srgbClr val="078A99"/>
                </a:solidFill>
                <a:latin typeface="Segoe UI" panose="020B0502040204020203" pitchFamily="34" charset="0"/>
              </a:rPr>
              <a:t>DENSE SERIES</a:t>
            </a:r>
          </a:p>
        </p:txBody>
      </p:sp>
      <p:sp>
        <p:nvSpPr>
          <p:cNvPr id="16" name="TextBox 15">
            <a:extLst>
              <a:ext uri="{FF2B5EF4-FFF2-40B4-BE49-F238E27FC236}">
                <a16:creationId xmlns:a16="http://schemas.microsoft.com/office/drawing/2014/main" id="{9DA5D062-CD02-8CDB-2934-E081F921BD5E}"/>
              </a:ext>
            </a:extLst>
          </p:cNvPr>
          <p:cNvSpPr txBox="1"/>
          <p:nvPr/>
        </p:nvSpPr>
        <p:spPr>
          <a:xfrm>
            <a:off x="2489200" y="3162300"/>
            <a:ext cx="1371600" cy="1549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180 daily values</a:t>
            </a:r>
          </a:p>
          <a:p>
            <a:pPr algn="ctr"/>
            <a:r>
              <a:rPr lang="en-US" sz="900">
                <a:solidFill>
                  <a:srgbClr val="344054"/>
                </a:solidFill>
                <a:latin typeface="Segoe UI" panose="020B0502040204020203" pitchFamily="34" charset="0"/>
              </a:rPr>
              <a:t>Zero days restored</a:t>
            </a:r>
          </a:p>
        </p:txBody>
      </p:sp>
      <p:cxnSp>
        <p:nvCxnSpPr>
          <p:cNvPr id="17" name="Straight Connector 16">
            <a:extLst>
              <a:ext uri="{FF2B5EF4-FFF2-40B4-BE49-F238E27FC236}">
                <a16:creationId xmlns:a16="http://schemas.microsoft.com/office/drawing/2014/main" id="{9435A5C2-7C89-2108-0970-54978171E534}"/>
              </a:ext>
            </a:extLst>
          </p:cNvPr>
          <p:cNvCxnSpPr/>
          <p:nvPr/>
        </p:nvCxnSpPr>
        <p:spPr>
          <a:xfrm>
            <a:off x="5918200" y="3403600"/>
            <a:ext cx="190500" cy="0"/>
          </a:xfrm>
          <a:prstGeom prst="line">
            <a:avLst/>
          </a:prstGeom>
          <a:ln w="2794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3D3A3973-A3A0-6806-07BD-84041A846A16}"/>
              </a:ext>
            </a:extLst>
          </p:cNvPr>
          <p:cNvSpPr/>
          <p:nvPr/>
        </p:nvSpPr>
        <p:spPr>
          <a:xfrm>
            <a:off x="4241800" y="1943100"/>
            <a:ext cx="1676400" cy="29210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6F43ADC-72A0-868C-5035-03BF559B489B}"/>
              </a:ext>
            </a:extLst>
          </p:cNvPr>
          <p:cNvSpPr/>
          <p:nvPr/>
        </p:nvSpPr>
        <p:spPr>
          <a:xfrm>
            <a:off x="4864100" y="2146300"/>
            <a:ext cx="431800" cy="4318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0BE60FC5-9827-7272-AE7F-E5D151838BA1}"/>
              </a:ext>
            </a:extLst>
          </p:cNvPr>
          <p:cNvSpPr txBox="1"/>
          <p:nvPr/>
        </p:nvSpPr>
        <p:spPr>
          <a:xfrm>
            <a:off x="4864100" y="21463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3</a:t>
            </a:r>
          </a:p>
        </p:txBody>
      </p:sp>
      <p:sp>
        <p:nvSpPr>
          <p:cNvPr id="21" name="TextBox 20">
            <a:extLst>
              <a:ext uri="{FF2B5EF4-FFF2-40B4-BE49-F238E27FC236}">
                <a16:creationId xmlns:a16="http://schemas.microsoft.com/office/drawing/2014/main" id="{22C9B52D-E6F1-627C-0A5E-1A2680B83B8C}"/>
              </a:ext>
            </a:extLst>
          </p:cNvPr>
          <p:cNvSpPr txBox="1"/>
          <p:nvPr/>
        </p:nvSpPr>
        <p:spPr>
          <a:xfrm>
            <a:off x="4343400" y="2667000"/>
            <a:ext cx="1473200" cy="393700"/>
          </a:xfrm>
          <a:prstGeom prst="rect">
            <a:avLst/>
          </a:prstGeom>
          <a:noFill/>
        </p:spPr>
        <p:txBody>
          <a:bodyPr vert="horz" wrap="square" lIns="50800" tIns="25400" rIns="50800" bIns="25400" rtlCol="0" anchor="t">
            <a:noAutofit/>
          </a:bodyPr>
          <a:lstStyle/>
          <a:p>
            <a:pPr algn="ctr"/>
            <a:r>
              <a:rPr lang="en-US" sz="1100" b="1">
                <a:solidFill>
                  <a:srgbClr val="1769E0"/>
                </a:solidFill>
                <a:latin typeface="Segoe UI" panose="020B0502040204020203" pitchFamily="34" charset="0"/>
              </a:rPr>
              <a:t>MATURITY</a:t>
            </a:r>
          </a:p>
        </p:txBody>
      </p:sp>
      <p:sp>
        <p:nvSpPr>
          <p:cNvPr id="22" name="TextBox 21">
            <a:extLst>
              <a:ext uri="{FF2B5EF4-FFF2-40B4-BE49-F238E27FC236}">
                <a16:creationId xmlns:a16="http://schemas.microsoft.com/office/drawing/2014/main" id="{404937B4-C66A-7A09-87C8-435D3B005CAB}"/>
              </a:ext>
            </a:extLst>
          </p:cNvPr>
          <p:cNvSpPr txBox="1"/>
          <p:nvPr/>
        </p:nvSpPr>
        <p:spPr>
          <a:xfrm>
            <a:off x="4394200" y="3162300"/>
            <a:ext cx="1371600" cy="1549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Own history or</a:t>
            </a:r>
          </a:p>
          <a:p>
            <a:pPr algn="ctr"/>
            <a:r>
              <a:rPr lang="en-US" sz="900">
                <a:solidFill>
                  <a:srgbClr val="344054"/>
                </a:solidFill>
                <a:latin typeface="Segoe UI" panose="020B0502040204020203" pitchFamily="34" charset="0"/>
              </a:rPr>
              <a:t>peer fallback</a:t>
            </a:r>
          </a:p>
        </p:txBody>
      </p:sp>
      <p:cxnSp>
        <p:nvCxnSpPr>
          <p:cNvPr id="23" name="Straight Connector 22">
            <a:extLst>
              <a:ext uri="{FF2B5EF4-FFF2-40B4-BE49-F238E27FC236}">
                <a16:creationId xmlns:a16="http://schemas.microsoft.com/office/drawing/2014/main" id="{E67C6AB0-F9ED-E24B-2A41-A3734914975D}"/>
              </a:ext>
            </a:extLst>
          </p:cNvPr>
          <p:cNvCxnSpPr/>
          <p:nvPr/>
        </p:nvCxnSpPr>
        <p:spPr>
          <a:xfrm>
            <a:off x="7823200" y="3403600"/>
            <a:ext cx="190500" cy="0"/>
          </a:xfrm>
          <a:prstGeom prst="line">
            <a:avLst/>
          </a:prstGeom>
          <a:ln w="2794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24" name="Rectangle: Rounded Corners 23">
            <a:extLst>
              <a:ext uri="{FF2B5EF4-FFF2-40B4-BE49-F238E27FC236}">
                <a16:creationId xmlns:a16="http://schemas.microsoft.com/office/drawing/2014/main" id="{CB40AA7D-35D0-2025-9A67-255F8B90B33B}"/>
              </a:ext>
            </a:extLst>
          </p:cNvPr>
          <p:cNvSpPr/>
          <p:nvPr/>
        </p:nvSpPr>
        <p:spPr>
          <a:xfrm>
            <a:off x="6146800" y="1943100"/>
            <a:ext cx="1676400" cy="29210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AFB9CF4A-5F99-5FD9-6854-E27BB90031E2}"/>
              </a:ext>
            </a:extLst>
          </p:cNvPr>
          <p:cNvSpPr/>
          <p:nvPr/>
        </p:nvSpPr>
        <p:spPr>
          <a:xfrm>
            <a:off x="6769100" y="21463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0262B0A-C209-EF67-792B-8641B95260EA}"/>
              </a:ext>
            </a:extLst>
          </p:cNvPr>
          <p:cNvSpPr txBox="1"/>
          <p:nvPr/>
        </p:nvSpPr>
        <p:spPr>
          <a:xfrm>
            <a:off x="6769100" y="21463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4</a:t>
            </a:r>
          </a:p>
        </p:txBody>
      </p:sp>
      <p:sp>
        <p:nvSpPr>
          <p:cNvPr id="27" name="TextBox 26">
            <a:extLst>
              <a:ext uri="{FF2B5EF4-FFF2-40B4-BE49-F238E27FC236}">
                <a16:creationId xmlns:a16="http://schemas.microsoft.com/office/drawing/2014/main" id="{1D9AB0F9-F8D3-8EB5-802E-6AEBFDB32E78}"/>
              </a:ext>
            </a:extLst>
          </p:cNvPr>
          <p:cNvSpPr txBox="1"/>
          <p:nvPr/>
        </p:nvSpPr>
        <p:spPr>
          <a:xfrm>
            <a:off x="6248400" y="2667000"/>
            <a:ext cx="1473200" cy="393700"/>
          </a:xfrm>
          <a:prstGeom prst="rect">
            <a:avLst/>
          </a:prstGeom>
          <a:noFill/>
        </p:spPr>
        <p:txBody>
          <a:bodyPr vert="horz" wrap="square" lIns="50800" tIns="25400" rIns="50800" bIns="25400" rtlCol="0" anchor="t">
            <a:noAutofit/>
          </a:bodyPr>
          <a:lstStyle/>
          <a:p>
            <a:pPr algn="ctr"/>
            <a:r>
              <a:rPr lang="en-US" sz="1100" b="1">
                <a:solidFill>
                  <a:srgbClr val="6D3EF2"/>
                </a:solidFill>
                <a:latin typeface="Segoe UI" panose="020B0502040204020203" pitchFamily="34" charset="0"/>
              </a:rPr>
              <a:t>SELECT</a:t>
            </a:r>
          </a:p>
        </p:txBody>
      </p:sp>
      <p:sp>
        <p:nvSpPr>
          <p:cNvPr id="28" name="TextBox 27">
            <a:extLst>
              <a:ext uri="{FF2B5EF4-FFF2-40B4-BE49-F238E27FC236}">
                <a16:creationId xmlns:a16="http://schemas.microsoft.com/office/drawing/2014/main" id="{FCEE0DD3-9EC7-CC4E-5076-AE5FE3230683}"/>
              </a:ext>
            </a:extLst>
          </p:cNvPr>
          <p:cNvSpPr txBox="1"/>
          <p:nvPr/>
        </p:nvSpPr>
        <p:spPr>
          <a:xfrm>
            <a:off x="6299200" y="3162300"/>
            <a:ext cx="1371600" cy="1549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Scored winner or</a:t>
            </a:r>
          </a:p>
          <a:p>
            <a:pPr algn="ctr"/>
            <a:r>
              <a:rPr lang="en-US" sz="900">
                <a:solidFill>
                  <a:srgbClr val="344054"/>
                </a:solidFill>
                <a:latin typeface="Segoe UI" panose="020B0502040204020203" pitchFamily="34" charset="0"/>
              </a:rPr>
              <a:t>configured default</a:t>
            </a:r>
          </a:p>
        </p:txBody>
      </p:sp>
      <p:cxnSp>
        <p:nvCxnSpPr>
          <p:cNvPr id="29" name="Straight Connector 28">
            <a:extLst>
              <a:ext uri="{FF2B5EF4-FFF2-40B4-BE49-F238E27FC236}">
                <a16:creationId xmlns:a16="http://schemas.microsoft.com/office/drawing/2014/main" id="{7781C3D0-C0C0-F7B0-7693-8AD99EAF0115}"/>
              </a:ext>
            </a:extLst>
          </p:cNvPr>
          <p:cNvCxnSpPr/>
          <p:nvPr/>
        </p:nvCxnSpPr>
        <p:spPr>
          <a:xfrm>
            <a:off x="9728200" y="3403600"/>
            <a:ext cx="190500" cy="0"/>
          </a:xfrm>
          <a:prstGeom prst="line">
            <a:avLst/>
          </a:prstGeom>
          <a:ln w="2794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30" name="Rectangle: Rounded Corners 29">
            <a:extLst>
              <a:ext uri="{FF2B5EF4-FFF2-40B4-BE49-F238E27FC236}">
                <a16:creationId xmlns:a16="http://schemas.microsoft.com/office/drawing/2014/main" id="{CAAE5DE5-3080-1318-F075-FCE44123C402}"/>
              </a:ext>
            </a:extLst>
          </p:cNvPr>
          <p:cNvSpPr/>
          <p:nvPr/>
        </p:nvSpPr>
        <p:spPr>
          <a:xfrm>
            <a:off x="8051800" y="1943100"/>
            <a:ext cx="1676400" cy="29210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3F61FD7F-C893-AD9B-7FAE-5752E4AA6EF6}"/>
              </a:ext>
            </a:extLst>
          </p:cNvPr>
          <p:cNvSpPr/>
          <p:nvPr/>
        </p:nvSpPr>
        <p:spPr>
          <a:xfrm>
            <a:off x="8674100" y="2146300"/>
            <a:ext cx="431800" cy="4318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A0347BCF-9E67-C96A-AA03-BD170A1FF0B5}"/>
              </a:ext>
            </a:extLst>
          </p:cNvPr>
          <p:cNvSpPr txBox="1"/>
          <p:nvPr/>
        </p:nvSpPr>
        <p:spPr>
          <a:xfrm>
            <a:off x="8674100" y="21463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5</a:t>
            </a:r>
          </a:p>
        </p:txBody>
      </p:sp>
      <p:sp>
        <p:nvSpPr>
          <p:cNvPr id="33" name="TextBox 32">
            <a:extLst>
              <a:ext uri="{FF2B5EF4-FFF2-40B4-BE49-F238E27FC236}">
                <a16:creationId xmlns:a16="http://schemas.microsoft.com/office/drawing/2014/main" id="{5D99B711-1F25-8240-8024-AEE1B0CD2987}"/>
              </a:ext>
            </a:extLst>
          </p:cNvPr>
          <p:cNvSpPr txBox="1"/>
          <p:nvPr/>
        </p:nvSpPr>
        <p:spPr>
          <a:xfrm>
            <a:off x="8153400" y="2667000"/>
            <a:ext cx="1473200" cy="393700"/>
          </a:xfrm>
          <a:prstGeom prst="rect">
            <a:avLst/>
          </a:prstGeom>
          <a:noFill/>
        </p:spPr>
        <p:txBody>
          <a:bodyPr vert="horz" wrap="square" lIns="50800" tIns="25400" rIns="50800" bIns="25400" rtlCol="0" anchor="t">
            <a:noAutofit/>
          </a:bodyPr>
          <a:lstStyle/>
          <a:p>
            <a:pPr algn="ctr"/>
            <a:r>
              <a:rPr lang="en-US" sz="1100" b="1">
                <a:solidFill>
                  <a:srgbClr val="6D3EF2"/>
                </a:solidFill>
                <a:latin typeface="Segoe UI" panose="020B0502040204020203" pitchFamily="34" charset="0"/>
              </a:rPr>
              <a:t>INFER</a:t>
            </a:r>
          </a:p>
        </p:txBody>
      </p:sp>
      <p:sp>
        <p:nvSpPr>
          <p:cNvPr id="34" name="TextBox 33">
            <a:extLst>
              <a:ext uri="{FF2B5EF4-FFF2-40B4-BE49-F238E27FC236}">
                <a16:creationId xmlns:a16="http://schemas.microsoft.com/office/drawing/2014/main" id="{9F5CA4A7-929A-13A8-3BFF-E2FA2B7ED5C0}"/>
              </a:ext>
            </a:extLst>
          </p:cNvPr>
          <p:cNvSpPr txBox="1"/>
          <p:nvPr/>
        </p:nvSpPr>
        <p:spPr>
          <a:xfrm>
            <a:off x="8204200" y="3162300"/>
            <a:ext cx="1371600" cy="1549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EWMA / seasonal</a:t>
            </a:r>
          </a:p>
          <a:p>
            <a:pPr algn="ctr"/>
            <a:r>
              <a:rPr lang="en-US" sz="900">
                <a:solidFill>
                  <a:srgbClr val="344054"/>
                </a:solidFill>
                <a:latin typeface="Segoe UI" panose="020B0502040204020203" pitchFamily="34" charset="0"/>
              </a:rPr>
              <a:t>TFT / DeepAR</a:t>
            </a:r>
          </a:p>
        </p:txBody>
      </p:sp>
      <p:sp>
        <p:nvSpPr>
          <p:cNvPr id="35" name="Rectangle: Rounded Corners 34">
            <a:extLst>
              <a:ext uri="{FF2B5EF4-FFF2-40B4-BE49-F238E27FC236}">
                <a16:creationId xmlns:a16="http://schemas.microsoft.com/office/drawing/2014/main" id="{F6F60715-0BCE-9915-BF03-51AE04509E71}"/>
              </a:ext>
            </a:extLst>
          </p:cNvPr>
          <p:cNvSpPr/>
          <p:nvPr/>
        </p:nvSpPr>
        <p:spPr>
          <a:xfrm>
            <a:off x="9956800" y="1943100"/>
            <a:ext cx="1676400" cy="29210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F573C8E1-7454-73E6-5540-1017F321A020}"/>
              </a:ext>
            </a:extLst>
          </p:cNvPr>
          <p:cNvSpPr/>
          <p:nvPr/>
        </p:nvSpPr>
        <p:spPr>
          <a:xfrm>
            <a:off x="10579100" y="2146300"/>
            <a:ext cx="431800" cy="4318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3604A94A-7333-0839-8D96-E689CCE232CA}"/>
              </a:ext>
            </a:extLst>
          </p:cNvPr>
          <p:cNvSpPr txBox="1"/>
          <p:nvPr/>
        </p:nvSpPr>
        <p:spPr>
          <a:xfrm>
            <a:off x="10579100" y="2146300"/>
            <a:ext cx="431800" cy="431800"/>
          </a:xfrm>
          <a:prstGeom prst="rect">
            <a:avLst/>
          </a:prstGeom>
          <a:noFill/>
        </p:spPr>
        <p:txBody>
          <a:bodyPr vert="horz" wrap="square" lIns="50800" tIns="25400" rIns="50800" bIns="25400" rtlCol="0" anchor="ctr">
            <a:noAutofit/>
          </a:bodyPr>
          <a:lstStyle/>
          <a:p>
            <a:pPr algn="ctr"/>
            <a:r>
              <a:rPr lang="en-US" sz="900" b="1">
                <a:solidFill>
                  <a:srgbClr val="FFFFFF"/>
                </a:solidFill>
                <a:latin typeface="Segoe UI" panose="020B0502040204020203" pitchFamily="34" charset="0"/>
              </a:rPr>
              <a:t>6</a:t>
            </a:r>
          </a:p>
        </p:txBody>
      </p:sp>
      <p:sp>
        <p:nvSpPr>
          <p:cNvPr id="38" name="TextBox 37">
            <a:extLst>
              <a:ext uri="{FF2B5EF4-FFF2-40B4-BE49-F238E27FC236}">
                <a16:creationId xmlns:a16="http://schemas.microsoft.com/office/drawing/2014/main" id="{944DCF57-E309-91AF-9364-EBC1BFA14D24}"/>
              </a:ext>
            </a:extLst>
          </p:cNvPr>
          <p:cNvSpPr txBox="1"/>
          <p:nvPr/>
        </p:nvSpPr>
        <p:spPr>
          <a:xfrm>
            <a:off x="10058400" y="2667000"/>
            <a:ext cx="1473200" cy="393700"/>
          </a:xfrm>
          <a:prstGeom prst="rect">
            <a:avLst/>
          </a:prstGeom>
          <a:noFill/>
        </p:spPr>
        <p:txBody>
          <a:bodyPr vert="horz" wrap="square" lIns="50800" tIns="25400" rIns="50800" bIns="25400" rtlCol="0" anchor="t">
            <a:noAutofit/>
          </a:bodyPr>
          <a:lstStyle/>
          <a:p>
            <a:pPr algn="ctr"/>
            <a:r>
              <a:rPr lang="en-US" sz="1100" b="1">
                <a:solidFill>
                  <a:srgbClr val="0E9F6E"/>
                </a:solidFill>
                <a:latin typeface="Segoe UI" panose="020B0502040204020203" pitchFamily="34" charset="0"/>
              </a:rPr>
              <a:t>EXPLAIN</a:t>
            </a:r>
          </a:p>
        </p:txBody>
      </p:sp>
      <p:sp>
        <p:nvSpPr>
          <p:cNvPr id="39" name="TextBox 38">
            <a:extLst>
              <a:ext uri="{FF2B5EF4-FFF2-40B4-BE49-F238E27FC236}">
                <a16:creationId xmlns:a16="http://schemas.microsoft.com/office/drawing/2014/main" id="{AD76658D-D277-920E-7972-955AA314630C}"/>
              </a:ext>
            </a:extLst>
          </p:cNvPr>
          <p:cNvSpPr txBox="1"/>
          <p:nvPr/>
        </p:nvSpPr>
        <p:spPr>
          <a:xfrm>
            <a:off x="10109200" y="3162300"/>
            <a:ext cx="1371600" cy="1549400"/>
          </a:xfrm>
          <a:prstGeom prst="rect">
            <a:avLst/>
          </a:prstGeom>
          <a:noFill/>
        </p:spPr>
        <p:txBody>
          <a:bodyPr vert="horz" wrap="square" lIns="50800" tIns="25400" rIns="50800" bIns="25400" rtlCol="0" anchor="t">
            <a:noAutofit/>
          </a:bodyPr>
          <a:lstStyle/>
          <a:p>
            <a:pPr algn="ctr"/>
            <a:r>
              <a:rPr lang="en-US" sz="900">
                <a:solidFill>
                  <a:srgbClr val="344054"/>
                </a:solidFill>
                <a:latin typeface="Segoe UI" panose="020B0502040204020203" pitchFamily="34" charset="0"/>
              </a:rPr>
              <a:t>Quantity, range</a:t>
            </a:r>
          </a:p>
          <a:p>
            <a:pPr algn="ctr"/>
            <a:r>
              <a:rPr lang="en-US" sz="900">
                <a:solidFill>
                  <a:srgbClr val="344054"/>
                </a:solidFill>
                <a:latin typeface="Segoe UI" panose="020B0502040204020203" pitchFamily="34" charset="0"/>
              </a:rPr>
              <a:t>confidence, source</a:t>
            </a:r>
          </a:p>
        </p:txBody>
      </p:sp>
      <p:cxnSp>
        <p:nvCxnSpPr>
          <p:cNvPr id="40" name="Straight Connector 39">
            <a:extLst>
              <a:ext uri="{FF2B5EF4-FFF2-40B4-BE49-F238E27FC236}">
                <a16:creationId xmlns:a16="http://schemas.microsoft.com/office/drawing/2014/main" id="{4B56FDED-F5EC-8A25-3A04-BD59DB871A53}"/>
              </a:ext>
            </a:extLst>
          </p:cNvPr>
          <p:cNvCxnSpPr/>
          <p:nvPr/>
        </p:nvCxnSpPr>
        <p:spPr>
          <a:xfrm flipH="1">
            <a:off x="1397000" y="5080000"/>
            <a:ext cx="9398000" cy="0"/>
          </a:xfrm>
          <a:prstGeom prst="line">
            <a:avLst/>
          </a:prstGeom>
          <a:ln w="25400">
            <a:solidFill>
              <a:srgbClr val="E58A00"/>
            </a:solidFill>
            <a:prstDash val="dash"/>
            <a:tailEnd type="arrow"/>
          </a:ln>
        </p:spPr>
        <p:style>
          <a:lnRef idx="2">
            <a:schemeClr val="accent1"/>
          </a:lnRef>
          <a:fillRef idx="0">
            <a:schemeClr val="accent1"/>
          </a:fillRef>
          <a:effectRef idx="1">
            <a:schemeClr val="accent1"/>
          </a:effectRef>
          <a:fontRef idx="minor">
            <a:schemeClr val="tx1"/>
          </a:fontRef>
        </p:style>
      </p:cxnSp>
      <p:sp>
        <p:nvSpPr>
          <p:cNvPr id="41" name="Rectangle: Rounded Corners 40">
            <a:extLst>
              <a:ext uri="{FF2B5EF4-FFF2-40B4-BE49-F238E27FC236}">
                <a16:creationId xmlns:a16="http://schemas.microsoft.com/office/drawing/2014/main" id="{52A6AA01-03FA-3242-3E3A-855F6F20B245}"/>
              </a:ext>
            </a:extLst>
          </p:cNvPr>
          <p:cNvSpPr/>
          <p:nvPr/>
        </p:nvSpPr>
        <p:spPr>
          <a:xfrm>
            <a:off x="2273300" y="5397500"/>
            <a:ext cx="7645400" cy="457200"/>
          </a:xfrm>
          <a:prstGeom prst="roundRect">
            <a:avLst/>
          </a:prstGeom>
          <a:solidFill>
            <a:srgbClr val="FFF2D9"/>
          </a:solidFill>
          <a:ln w="12700">
            <a:solidFill>
              <a:srgbClr val="FFF2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950B80FE-71DB-EE8A-996D-160E9256D880}"/>
              </a:ext>
            </a:extLst>
          </p:cNvPr>
          <p:cNvSpPr txBox="1"/>
          <p:nvPr/>
        </p:nvSpPr>
        <p:spPr>
          <a:xfrm>
            <a:off x="2273300" y="5397500"/>
            <a:ext cx="7645400" cy="457200"/>
          </a:xfrm>
          <a:prstGeom prst="rect">
            <a:avLst/>
          </a:prstGeom>
          <a:noFill/>
        </p:spPr>
        <p:txBody>
          <a:bodyPr vert="horz" wrap="square" lIns="50800" tIns="25400" rIns="50800" bIns="25400" rtlCol="0" anchor="ctr">
            <a:noAutofit/>
          </a:bodyPr>
          <a:lstStyle/>
          <a:p>
            <a:pPr algn="ctr"/>
            <a:r>
              <a:rPr lang="en-US" sz="930" b="1">
                <a:solidFill>
                  <a:srgbClr val="E58A00"/>
                </a:solidFill>
                <a:latin typeface="Segoe UI" panose="020B0502040204020203" pitchFamily="34" charset="0"/>
              </a:rPr>
              <a:t>After horizon: actuals -&gt; WAPE / MAE / bias -&gt; next model selection</a:t>
            </a:r>
          </a:p>
        </p:txBody>
      </p:sp>
      <p:sp>
        <p:nvSpPr>
          <p:cNvPr id="43" name="Rectangle: Rounded Corners 42">
            <a:extLst>
              <a:ext uri="{FF2B5EF4-FFF2-40B4-BE49-F238E27FC236}">
                <a16:creationId xmlns:a16="http://schemas.microsoft.com/office/drawing/2014/main" id="{2B9B4ED3-FA79-8E9F-B8ED-C39656E914C9}"/>
              </a:ext>
            </a:extLst>
          </p:cNvPr>
          <p:cNvSpPr/>
          <p:nvPr/>
        </p:nvSpPr>
        <p:spPr>
          <a:xfrm>
            <a:off x="3352800" y="5981700"/>
            <a:ext cx="5486400" cy="355600"/>
          </a:xfrm>
          <a:prstGeom prst="roundRect">
            <a:avLst/>
          </a:prstGeom>
          <a:solidFill>
            <a:srgbClr val="E1F7EF"/>
          </a:solidFill>
          <a:ln w="12700">
            <a:solidFill>
              <a:srgbClr val="E1F7E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49E46991-1168-1057-DBEA-BBF23548BF0E}"/>
              </a:ext>
            </a:extLst>
          </p:cNvPr>
          <p:cNvSpPr txBox="1"/>
          <p:nvPr/>
        </p:nvSpPr>
        <p:spPr>
          <a:xfrm>
            <a:off x="3352800" y="5981700"/>
            <a:ext cx="5486400" cy="355600"/>
          </a:xfrm>
          <a:prstGeom prst="rect">
            <a:avLst/>
          </a:prstGeom>
          <a:noFill/>
        </p:spPr>
        <p:txBody>
          <a:bodyPr vert="horz" wrap="square" lIns="50800" tIns="25400" rIns="50800" bIns="25400" rtlCol="0" anchor="ctr">
            <a:noAutofit/>
          </a:bodyPr>
          <a:lstStyle/>
          <a:p>
            <a:pPr algn="ctr"/>
            <a:r>
              <a:rPr lang="en-US" sz="870" b="1">
                <a:solidFill>
                  <a:srgbClr val="0E9F6E"/>
                </a:solidFill>
                <a:latin typeface="Segoe UI" panose="020B0502040204020203" pitchFamily="34" charset="0"/>
              </a:rPr>
              <a:t>Neural refusal is recorded as the baseline that actually ran</a:t>
            </a:r>
          </a:p>
        </p:txBody>
      </p:sp>
      <p:sp>
        <p:nvSpPr>
          <p:cNvPr id="45" name="TextBox 44">
            <a:extLst>
              <a:ext uri="{FF2B5EF4-FFF2-40B4-BE49-F238E27FC236}">
                <a16:creationId xmlns:a16="http://schemas.microsoft.com/office/drawing/2014/main" id="{66D60AE7-D8FF-A25F-CD82-72F17DD6D136}"/>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46" name="TextBox 45">
            <a:extLst>
              <a:ext uri="{FF2B5EF4-FFF2-40B4-BE49-F238E27FC236}">
                <a16:creationId xmlns:a16="http://schemas.microsoft.com/office/drawing/2014/main" id="{628DC609-66EE-83BB-3C46-C1890C3A6ABB}"/>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12</a:t>
            </a:r>
          </a:p>
        </p:txBody>
      </p:sp>
    </p:spTree>
    <p:extLst>
      <p:ext uri="{BB962C8B-B14F-4D97-AF65-F5344CB8AC3E}">
        <p14:creationId xmlns:p14="http://schemas.microsoft.com/office/powerpoint/2010/main" val="23238654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634A40E-AEE8-6677-A340-C4CDD9973EE3}"/>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MODEL GOVERNANCE</a:t>
            </a:r>
          </a:p>
        </p:txBody>
      </p:sp>
      <p:sp>
        <p:nvSpPr>
          <p:cNvPr id="3" name="TextBox 2">
            <a:extLst>
              <a:ext uri="{FF2B5EF4-FFF2-40B4-BE49-F238E27FC236}">
                <a16:creationId xmlns:a16="http://schemas.microsoft.com/office/drawing/2014/main" id="{21D78FB5-1A78-6A35-2012-474567F3E1AB}"/>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EWMA remains the evidence-based default</a:t>
            </a:r>
          </a:p>
        </p:txBody>
      </p:sp>
      <p:sp>
        <p:nvSpPr>
          <p:cNvPr id="4" name="TextBox 3">
            <a:extLst>
              <a:ext uri="{FF2B5EF4-FFF2-40B4-BE49-F238E27FC236}">
                <a16:creationId xmlns:a16="http://schemas.microsoft.com/office/drawing/2014/main" id="{2065DA32-D0CA-D353-57BD-0DBE5E61E569}"/>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Lower WAPE is better. Saved evaluations are from generated BuyAbans history and prove the pipeline, not real-world accuracy.</a:t>
            </a:r>
          </a:p>
        </p:txBody>
      </p:sp>
      <p:sp>
        <p:nvSpPr>
          <p:cNvPr id="5" name="Rectangle: Rounded Corners 4">
            <a:extLst>
              <a:ext uri="{FF2B5EF4-FFF2-40B4-BE49-F238E27FC236}">
                <a16:creationId xmlns:a16="http://schemas.microsoft.com/office/drawing/2014/main" id="{F76B408F-FC5E-4784-FC2A-BCAF054D06DE}"/>
              </a:ext>
            </a:extLst>
          </p:cNvPr>
          <p:cNvSpPr/>
          <p:nvPr/>
        </p:nvSpPr>
        <p:spPr>
          <a:xfrm>
            <a:off x="609600" y="1752600"/>
            <a:ext cx="6667500" cy="39624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FBC93AE1-428B-5200-BBED-08659A63393F}"/>
              </a:ext>
            </a:extLst>
          </p:cNvPr>
          <p:cNvSpPr/>
          <p:nvPr/>
        </p:nvSpPr>
        <p:spPr>
          <a:xfrm>
            <a:off x="609600" y="1752600"/>
            <a:ext cx="66675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5076F9A-0C2F-8E64-8760-2D0DCF2C3E8B}"/>
              </a:ext>
            </a:extLst>
          </p:cNvPr>
          <p:cNvSpPr txBox="1"/>
          <p:nvPr/>
        </p:nvSpPr>
        <p:spPr>
          <a:xfrm>
            <a:off x="838200" y="2006600"/>
            <a:ext cx="62103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LATEST SAVED 30-DAY CROSS-MODEL EVALUATION</a:t>
            </a:r>
          </a:p>
        </p:txBody>
      </p:sp>
      <p:sp>
        <p:nvSpPr>
          <p:cNvPr id="8" name="TextBox 7">
            <a:extLst>
              <a:ext uri="{FF2B5EF4-FFF2-40B4-BE49-F238E27FC236}">
                <a16:creationId xmlns:a16="http://schemas.microsoft.com/office/drawing/2014/main" id="{DB180EB8-9B1B-68B7-9580-902874756C14}"/>
              </a:ext>
            </a:extLst>
          </p:cNvPr>
          <p:cNvSpPr txBox="1"/>
          <p:nvPr/>
        </p:nvSpPr>
        <p:spPr>
          <a:xfrm>
            <a:off x="838200" y="2527300"/>
            <a:ext cx="6210300" cy="3009900"/>
          </a:xfrm>
          <a:prstGeom prst="rect">
            <a:avLst/>
          </a:prstGeom>
          <a:noFill/>
        </p:spPr>
        <p:txBody>
          <a:bodyPr vert="horz" wrap="square" lIns="50800" tIns="25400" rIns="50800" bIns="25400" rtlCol="0" anchor="t">
            <a:noAutofit/>
          </a:bodyPr>
          <a:lstStyle/>
          <a:p>
            <a:endParaRPr lang="en-US" sz="1050">
              <a:solidFill>
                <a:srgbClr val="344054"/>
              </a:solidFill>
              <a:latin typeface="Segoe UI" panose="020B0502040204020203" pitchFamily="34" charset="0"/>
            </a:endParaRPr>
          </a:p>
        </p:txBody>
      </p:sp>
      <p:sp>
        <p:nvSpPr>
          <p:cNvPr id="9" name="TextBox 8">
            <a:extLst>
              <a:ext uri="{FF2B5EF4-FFF2-40B4-BE49-F238E27FC236}">
                <a16:creationId xmlns:a16="http://schemas.microsoft.com/office/drawing/2014/main" id="{894D065D-9FA0-FF15-1124-89B9A717C2A7}"/>
              </a:ext>
            </a:extLst>
          </p:cNvPr>
          <p:cNvSpPr txBox="1"/>
          <p:nvPr/>
        </p:nvSpPr>
        <p:spPr>
          <a:xfrm>
            <a:off x="876300" y="2603500"/>
            <a:ext cx="1460500" cy="279400"/>
          </a:xfrm>
          <a:prstGeom prst="rect">
            <a:avLst/>
          </a:prstGeom>
          <a:noFill/>
        </p:spPr>
        <p:txBody>
          <a:bodyPr vert="horz" wrap="square" lIns="50800" tIns="25400" rIns="50800" bIns="25400" rtlCol="0" anchor="ctr">
            <a:noAutofit/>
          </a:bodyPr>
          <a:lstStyle/>
          <a:p>
            <a:pPr algn="r"/>
            <a:r>
              <a:rPr lang="en-US" sz="950" b="1">
                <a:solidFill>
                  <a:srgbClr val="344054"/>
                </a:solidFill>
                <a:latin typeface="Segoe UI" panose="020B0502040204020203" pitchFamily="34" charset="0"/>
              </a:rPr>
              <a:t>EWMA</a:t>
            </a:r>
          </a:p>
        </p:txBody>
      </p:sp>
      <p:sp>
        <p:nvSpPr>
          <p:cNvPr id="10" name="Rectangle: Rounded Corners 9">
            <a:extLst>
              <a:ext uri="{FF2B5EF4-FFF2-40B4-BE49-F238E27FC236}">
                <a16:creationId xmlns:a16="http://schemas.microsoft.com/office/drawing/2014/main" id="{F4A00B2B-3703-6A74-64DB-9F24A4503429}"/>
              </a:ext>
            </a:extLst>
          </p:cNvPr>
          <p:cNvSpPr/>
          <p:nvPr/>
        </p:nvSpPr>
        <p:spPr>
          <a:xfrm>
            <a:off x="2463800" y="2628900"/>
            <a:ext cx="3708400" cy="228600"/>
          </a:xfrm>
          <a:prstGeom prst="roundRect">
            <a:avLst/>
          </a:prstGeom>
          <a:solidFill>
            <a:srgbClr val="F4F7FB"/>
          </a:solidFill>
          <a:ln w="12700">
            <a:solidFill>
              <a:srgbClr val="F4F7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1761B408-5505-7978-BB2B-0A2AC1BD45DB}"/>
              </a:ext>
            </a:extLst>
          </p:cNvPr>
          <p:cNvSpPr/>
          <p:nvPr/>
        </p:nvSpPr>
        <p:spPr>
          <a:xfrm>
            <a:off x="2463800" y="2628900"/>
            <a:ext cx="609600" cy="228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D8B75607-E13A-0B84-DF0B-38474D14D598}"/>
              </a:ext>
            </a:extLst>
          </p:cNvPr>
          <p:cNvSpPr txBox="1"/>
          <p:nvPr/>
        </p:nvSpPr>
        <p:spPr>
          <a:xfrm>
            <a:off x="6286500" y="2603500"/>
            <a:ext cx="698500" cy="279400"/>
          </a:xfrm>
          <a:prstGeom prst="rect">
            <a:avLst/>
          </a:prstGeom>
          <a:noFill/>
        </p:spPr>
        <p:txBody>
          <a:bodyPr vert="horz" wrap="square" lIns="50800" tIns="25400" rIns="50800" bIns="25400" rtlCol="0" anchor="ctr">
            <a:noAutofit/>
          </a:bodyPr>
          <a:lstStyle/>
          <a:p>
            <a:pPr algn="r"/>
            <a:r>
              <a:rPr lang="en-US" sz="950" b="1">
                <a:solidFill>
                  <a:srgbClr val="0B1536"/>
                </a:solidFill>
                <a:latin typeface="Segoe UI" panose="020B0502040204020203" pitchFamily="34" charset="0"/>
              </a:rPr>
              <a:t>19.6%</a:t>
            </a:r>
          </a:p>
        </p:txBody>
      </p:sp>
      <p:sp>
        <p:nvSpPr>
          <p:cNvPr id="13" name="TextBox 12">
            <a:extLst>
              <a:ext uri="{FF2B5EF4-FFF2-40B4-BE49-F238E27FC236}">
                <a16:creationId xmlns:a16="http://schemas.microsoft.com/office/drawing/2014/main" id="{181BFF67-8892-C26C-F1A6-E5CEC97574FA}"/>
              </a:ext>
            </a:extLst>
          </p:cNvPr>
          <p:cNvSpPr txBox="1"/>
          <p:nvPr/>
        </p:nvSpPr>
        <p:spPr>
          <a:xfrm>
            <a:off x="876300" y="3238500"/>
            <a:ext cx="1460500" cy="279400"/>
          </a:xfrm>
          <a:prstGeom prst="rect">
            <a:avLst/>
          </a:prstGeom>
          <a:noFill/>
        </p:spPr>
        <p:txBody>
          <a:bodyPr vert="horz" wrap="square" lIns="50800" tIns="25400" rIns="50800" bIns="25400" rtlCol="0" anchor="ctr">
            <a:noAutofit/>
          </a:bodyPr>
          <a:lstStyle/>
          <a:p>
            <a:pPr algn="r"/>
            <a:r>
              <a:rPr lang="en-US" sz="950" b="1">
                <a:solidFill>
                  <a:srgbClr val="344054"/>
                </a:solidFill>
                <a:latin typeface="Segoe UI" panose="020B0502040204020203" pitchFamily="34" charset="0"/>
              </a:rPr>
              <a:t>Seasonal naive</a:t>
            </a:r>
          </a:p>
        </p:txBody>
      </p:sp>
      <p:sp>
        <p:nvSpPr>
          <p:cNvPr id="14" name="Rectangle: Rounded Corners 13">
            <a:extLst>
              <a:ext uri="{FF2B5EF4-FFF2-40B4-BE49-F238E27FC236}">
                <a16:creationId xmlns:a16="http://schemas.microsoft.com/office/drawing/2014/main" id="{ABBCA747-923E-6401-5353-F71962669DD5}"/>
              </a:ext>
            </a:extLst>
          </p:cNvPr>
          <p:cNvSpPr/>
          <p:nvPr/>
        </p:nvSpPr>
        <p:spPr>
          <a:xfrm>
            <a:off x="2463800" y="3263900"/>
            <a:ext cx="3708400" cy="228600"/>
          </a:xfrm>
          <a:prstGeom prst="roundRect">
            <a:avLst/>
          </a:prstGeom>
          <a:solidFill>
            <a:srgbClr val="F4F7FB"/>
          </a:solidFill>
          <a:ln w="12700">
            <a:solidFill>
              <a:srgbClr val="F4F7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AD872ADE-4733-7318-705B-D41855252379}"/>
              </a:ext>
            </a:extLst>
          </p:cNvPr>
          <p:cNvSpPr/>
          <p:nvPr/>
        </p:nvSpPr>
        <p:spPr>
          <a:xfrm>
            <a:off x="2463800" y="3263900"/>
            <a:ext cx="850900" cy="228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28EE13-9D1C-791F-C203-2171AAF6FC25}"/>
              </a:ext>
            </a:extLst>
          </p:cNvPr>
          <p:cNvSpPr txBox="1"/>
          <p:nvPr/>
        </p:nvSpPr>
        <p:spPr>
          <a:xfrm>
            <a:off x="6286500" y="3238500"/>
            <a:ext cx="698500" cy="279400"/>
          </a:xfrm>
          <a:prstGeom prst="rect">
            <a:avLst/>
          </a:prstGeom>
          <a:noFill/>
        </p:spPr>
        <p:txBody>
          <a:bodyPr vert="horz" wrap="square" lIns="50800" tIns="25400" rIns="50800" bIns="25400" rtlCol="0" anchor="ctr">
            <a:noAutofit/>
          </a:bodyPr>
          <a:lstStyle/>
          <a:p>
            <a:pPr algn="r"/>
            <a:r>
              <a:rPr lang="en-US" sz="950" b="1">
                <a:solidFill>
                  <a:srgbClr val="0B1536"/>
                </a:solidFill>
                <a:latin typeface="Segoe UI" panose="020B0502040204020203" pitchFamily="34" charset="0"/>
              </a:rPr>
              <a:t>27.6%</a:t>
            </a:r>
          </a:p>
        </p:txBody>
      </p:sp>
      <p:sp>
        <p:nvSpPr>
          <p:cNvPr id="17" name="TextBox 16">
            <a:extLst>
              <a:ext uri="{FF2B5EF4-FFF2-40B4-BE49-F238E27FC236}">
                <a16:creationId xmlns:a16="http://schemas.microsoft.com/office/drawing/2014/main" id="{3C6321AC-100A-9E17-C895-8A9FCC921059}"/>
              </a:ext>
            </a:extLst>
          </p:cNvPr>
          <p:cNvSpPr txBox="1"/>
          <p:nvPr/>
        </p:nvSpPr>
        <p:spPr>
          <a:xfrm>
            <a:off x="876300" y="3873500"/>
            <a:ext cx="1460500" cy="279400"/>
          </a:xfrm>
          <a:prstGeom prst="rect">
            <a:avLst/>
          </a:prstGeom>
          <a:noFill/>
        </p:spPr>
        <p:txBody>
          <a:bodyPr vert="horz" wrap="square" lIns="50800" tIns="25400" rIns="50800" bIns="25400" rtlCol="0" anchor="ctr">
            <a:noAutofit/>
          </a:bodyPr>
          <a:lstStyle/>
          <a:p>
            <a:pPr algn="r"/>
            <a:r>
              <a:rPr lang="en-US" sz="950" b="1">
                <a:solidFill>
                  <a:srgbClr val="344054"/>
                </a:solidFill>
                <a:latin typeface="Segoe UI" panose="020B0502040204020203" pitchFamily="34" charset="0"/>
              </a:rPr>
              <a:t>DeepAR</a:t>
            </a:r>
          </a:p>
        </p:txBody>
      </p:sp>
      <p:sp>
        <p:nvSpPr>
          <p:cNvPr id="18" name="Rectangle: Rounded Corners 17">
            <a:extLst>
              <a:ext uri="{FF2B5EF4-FFF2-40B4-BE49-F238E27FC236}">
                <a16:creationId xmlns:a16="http://schemas.microsoft.com/office/drawing/2014/main" id="{77B7C6CB-295E-1A40-702C-C5F93AF3F10E}"/>
              </a:ext>
            </a:extLst>
          </p:cNvPr>
          <p:cNvSpPr/>
          <p:nvPr/>
        </p:nvSpPr>
        <p:spPr>
          <a:xfrm>
            <a:off x="2463800" y="3898900"/>
            <a:ext cx="3708400" cy="228600"/>
          </a:xfrm>
          <a:prstGeom prst="roundRect">
            <a:avLst/>
          </a:prstGeom>
          <a:solidFill>
            <a:srgbClr val="F4F7FB"/>
          </a:solidFill>
          <a:ln w="12700">
            <a:solidFill>
              <a:srgbClr val="F4F7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Rounded Corners 18">
            <a:extLst>
              <a:ext uri="{FF2B5EF4-FFF2-40B4-BE49-F238E27FC236}">
                <a16:creationId xmlns:a16="http://schemas.microsoft.com/office/drawing/2014/main" id="{FDAD55E1-D5D3-D867-2F9F-1A8BBB9A4D16}"/>
              </a:ext>
            </a:extLst>
          </p:cNvPr>
          <p:cNvSpPr/>
          <p:nvPr/>
        </p:nvSpPr>
        <p:spPr>
          <a:xfrm>
            <a:off x="2463800" y="3898900"/>
            <a:ext cx="901700" cy="228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D9F60D67-44EF-A53D-A0B2-698FD4BBAFE0}"/>
              </a:ext>
            </a:extLst>
          </p:cNvPr>
          <p:cNvSpPr txBox="1"/>
          <p:nvPr/>
        </p:nvSpPr>
        <p:spPr>
          <a:xfrm>
            <a:off x="6286500" y="3873500"/>
            <a:ext cx="698500" cy="279400"/>
          </a:xfrm>
          <a:prstGeom prst="rect">
            <a:avLst/>
          </a:prstGeom>
          <a:noFill/>
        </p:spPr>
        <p:txBody>
          <a:bodyPr vert="horz" wrap="square" lIns="50800" tIns="25400" rIns="50800" bIns="25400" rtlCol="0" anchor="ctr">
            <a:noAutofit/>
          </a:bodyPr>
          <a:lstStyle/>
          <a:p>
            <a:pPr algn="r"/>
            <a:r>
              <a:rPr lang="en-US" sz="950" b="1">
                <a:solidFill>
                  <a:srgbClr val="0B1536"/>
                </a:solidFill>
                <a:latin typeface="Segoe UI" panose="020B0502040204020203" pitchFamily="34" charset="0"/>
              </a:rPr>
              <a:t>29.2%</a:t>
            </a:r>
          </a:p>
        </p:txBody>
      </p:sp>
      <p:sp>
        <p:nvSpPr>
          <p:cNvPr id="21" name="TextBox 20">
            <a:extLst>
              <a:ext uri="{FF2B5EF4-FFF2-40B4-BE49-F238E27FC236}">
                <a16:creationId xmlns:a16="http://schemas.microsoft.com/office/drawing/2014/main" id="{229F57A3-0664-7071-CD32-0B4BD37BCAE1}"/>
              </a:ext>
            </a:extLst>
          </p:cNvPr>
          <p:cNvSpPr txBox="1"/>
          <p:nvPr/>
        </p:nvSpPr>
        <p:spPr>
          <a:xfrm>
            <a:off x="876300" y="4508500"/>
            <a:ext cx="1460500" cy="279400"/>
          </a:xfrm>
          <a:prstGeom prst="rect">
            <a:avLst/>
          </a:prstGeom>
          <a:noFill/>
        </p:spPr>
        <p:txBody>
          <a:bodyPr vert="horz" wrap="square" lIns="50800" tIns="25400" rIns="50800" bIns="25400" rtlCol="0" anchor="ctr">
            <a:noAutofit/>
          </a:bodyPr>
          <a:lstStyle/>
          <a:p>
            <a:pPr algn="r"/>
            <a:r>
              <a:rPr lang="en-US" sz="950" b="1">
                <a:solidFill>
                  <a:srgbClr val="344054"/>
                </a:solidFill>
                <a:latin typeface="Segoe UI" panose="020B0502040204020203" pitchFamily="34" charset="0"/>
              </a:rPr>
              <a:t>TFT</a:t>
            </a:r>
          </a:p>
        </p:txBody>
      </p:sp>
      <p:sp>
        <p:nvSpPr>
          <p:cNvPr id="22" name="Rectangle: Rounded Corners 21">
            <a:extLst>
              <a:ext uri="{FF2B5EF4-FFF2-40B4-BE49-F238E27FC236}">
                <a16:creationId xmlns:a16="http://schemas.microsoft.com/office/drawing/2014/main" id="{1DE4213E-3149-4B9A-0971-17B270900359}"/>
              </a:ext>
            </a:extLst>
          </p:cNvPr>
          <p:cNvSpPr/>
          <p:nvPr/>
        </p:nvSpPr>
        <p:spPr>
          <a:xfrm>
            <a:off x="2463800" y="4533900"/>
            <a:ext cx="3708400" cy="228600"/>
          </a:xfrm>
          <a:prstGeom prst="roundRect">
            <a:avLst/>
          </a:prstGeom>
          <a:solidFill>
            <a:srgbClr val="F4F7FB"/>
          </a:solidFill>
          <a:ln w="12700">
            <a:solidFill>
              <a:srgbClr val="F4F7F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2CFD8B2D-6E82-E756-76F0-447107E6D9FD}"/>
              </a:ext>
            </a:extLst>
          </p:cNvPr>
          <p:cNvSpPr/>
          <p:nvPr/>
        </p:nvSpPr>
        <p:spPr>
          <a:xfrm>
            <a:off x="2463800" y="4533900"/>
            <a:ext cx="3454400" cy="228600"/>
          </a:xfrm>
          <a:prstGeom prst="roundRect">
            <a:avLst/>
          </a:prstGeom>
          <a:solidFill>
            <a:srgbClr val="E5484D"/>
          </a:solidFill>
          <a:ln w="12700">
            <a:solidFill>
              <a:srgbClr val="E548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4D6670AC-8E20-F064-D861-C9437154A4EC}"/>
              </a:ext>
            </a:extLst>
          </p:cNvPr>
          <p:cNvSpPr txBox="1"/>
          <p:nvPr/>
        </p:nvSpPr>
        <p:spPr>
          <a:xfrm>
            <a:off x="6286500" y="4508500"/>
            <a:ext cx="698500" cy="279400"/>
          </a:xfrm>
          <a:prstGeom prst="rect">
            <a:avLst/>
          </a:prstGeom>
          <a:noFill/>
        </p:spPr>
        <p:txBody>
          <a:bodyPr vert="horz" wrap="square" lIns="50800" tIns="25400" rIns="50800" bIns="25400" rtlCol="0" anchor="ctr">
            <a:noAutofit/>
          </a:bodyPr>
          <a:lstStyle/>
          <a:p>
            <a:pPr algn="r"/>
            <a:r>
              <a:rPr lang="en-US" sz="950" b="1">
                <a:solidFill>
                  <a:srgbClr val="0B1536"/>
                </a:solidFill>
                <a:latin typeface="Segoe UI" panose="020B0502040204020203" pitchFamily="34" charset="0"/>
              </a:rPr>
              <a:t>111.9%</a:t>
            </a:r>
          </a:p>
        </p:txBody>
      </p:sp>
      <p:sp>
        <p:nvSpPr>
          <p:cNvPr id="25" name="TextBox 24">
            <a:extLst>
              <a:ext uri="{FF2B5EF4-FFF2-40B4-BE49-F238E27FC236}">
                <a16:creationId xmlns:a16="http://schemas.microsoft.com/office/drawing/2014/main" id="{7C8536B8-F81B-1D3D-1B33-931332B9466A}"/>
              </a:ext>
            </a:extLst>
          </p:cNvPr>
          <p:cNvSpPr txBox="1"/>
          <p:nvPr/>
        </p:nvSpPr>
        <p:spPr>
          <a:xfrm>
            <a:off x="939800" y="5156200"/>
            <a:ext cx="5816600" cy="304800"/>
          </a:xfrm>
          <a:prstGeom prst="rect">
            <a:avLst/>
          </a:prstGeom>
          <a:noFill/>
        </p:spPr>
        <p:txBody>
          <a:bodyPr vert="horz" wrap="square" lIns="50800" tIns="25400" rIns="50800" bIns="25400" rtlCol="0" anchor="ctr">
            <a:noAutofit/>
          </a:bodyPr>
          <a:lstStyle/>
          <a:p>
            <a:pPr algn="ctr"/>
            <a:r>
              <a:rPr lang="en-US" sz="900" b="1">
                <a:solidFill>
                  <a:srgbClr val="667085"/>
                </a:solidFill>
                <a:latin typeface="Segoe UI" panose="020B0502040204020203" pitchFamily="34" charset="0"/>
              </a:rPr>
              <a:t>Actual: 26,592 units | EWMA predicted: 28,753</a:t>
            </a:r>
          </a:p>
        </p:txBody>
      </p:sp>
      <p:sp>
        <p:nvSpPr>
          <p:cNvPr id="26" name="Rectangle: Rounded Corners 25">
            <a:extLst>
              <a:ext uri="{FF2B5EF4-FFF2-40B4-BE49-F238E27FC236}">
                <a16:creationId xmlns:a16="http://schemas.microsoft.com/office/drawing/2014/main" id="{83825AD3-5605-D846-658A-F2C36008948F}"/>
              </a:ext>
            </a:extLst>
          </p:cNvPr>
          <p:cNvSpPr/>
          <p:nvPr/>
        </p:nvSpPr>
        <p:spPr>
          <a:xfrm>
            <a:off x="7620000" y="1752600"/>
            <a:ext cx="3962400" cy="3962400"/>
          </a:xfrm>
          <a:prstGeom prst="roundRect">
            <a:avLst/>
          </a:prstGeom>
          <a:solidFill>
            <a:srgbClr val="EEE9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510D4457-AD40-620B-5C99-9A64FAC09A80}"/>
              </a:ext>
            </a:extLst>
          </p:cNvPr>
          <p:cNvSpPr/>
          <p:nvPr/>
        </p:nvSpPr>
        <p:spPr>
          <a:xfrm>
            <a:off x="7620000" y="1752600"/>
            <a:ext cx="39624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47AA4554-4E3E-A654-60F2-A3F041E1792D}"/>
              </a:ext>
            </a:extLst>
          </p:cNvPr>
          <p:cNvSpPr txBox="1"/>
          <p:nvPr/>
        </p:nvSpPr>
        <p:spPr>
          <a:xfrm>
            <a:off x="7848600" y="2006600"/>
            <a:ext cx="35052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NEURAL TRAINING ARTIFACTS</a:t>
            </a:r>
          </a:p>
        </p:txBody>
      </p:sp>
      <p:sp>
        <p:nvSpPr>
          <p:cNvPr id="29" name="TextBox 28">
            <a:extLst>
              <a:ext uri="{FF2B5EF4-FFF2-40B4-BE49-F238E27FC236}">
                <a16:creationId xmlns:a16="http://schemas.microsoft.com/office/drawing/2014/main" id="{A6C93C31-77FF-DC2A-B4C1-8298A7B29147}"/>
              </a:ext>
            </a:extLst>
          </p:cNvPr>
          <p:cNvSpPr txBox="1"/>
          <p:nvPr/>
        </p:nvSpPr>
        <p:spPr>
          <a:xfrm>
            <a:off x="7848600" y="2527300"/>
            <a:ext cx="3505200" cy="3009900"/>
          </a:xfrm>
          <a:prstGeom prst="rect">
            <a:avLst/>
          </a:prstGeom>
          <a:noFill/>
        </p:spPr>
        <p:txBody>
          <a:bodyPr vert="horz" wrap="square" lIns="50800" tIns="25400" rIns="50800" bIns="25400" rtlCol="0" anchor="t">
            <a:noAutofit/>
          </a:bodyPr>
          <a:lstStyle/>
          <a:p>
            <a:r>
              <a:rPr lang="en-US" sz="1020">
                <a:solidFill>
                  <a:srgbClr val="344054"/>
                </a:solidFill>
                <a:latin typeface="Segoe UI" panose="020B0502040204020203" pitchFamily="34" charset="0"/>
              </a:rPr>
              <a:t>365-day holdout</a:t>
            </a:r>
          </a:p>
          <a:p>
            <a:r>
              <a:rPr lang="en-US" sz="1020">
                <a:solidFill>
                  <a:srgbClr val="344054"/>
                </a:solidFill>
                <a:latin typeface="Segoe UI" panose="020B0502040204020203" pitchFamily="34" charset="0"/>
              </a:rPr>
              <a:t>TFT WAPE 98.3% | bias -2.4%</a:t>
            </a:r>
          </a:p>
          <a:p>
            <a:r>
              <a:rPr lang="en-US" sz="1020">
                <a:solidFill>
                  <a:srgbClr val="344054"/>
                </a:solidFill>
                <a:latin typeface="Segoe UI" panose="020B0502040204020203" pitchFamily="34" charset="0"/>
              </a:rPr>
              <a:t>DeepAR WAPE 102.0% | bias +12.6%</a:t>
            </a:r>
          </a:p>
          <a:p>
            <a:endParaRPr lang="en-US" sz="1020">
              <a:solidFill>
                <a:srgbClr val="344054"/>
              </a:solidFill>
              <a:latin typeface="Segoe UI" panose="020B0502040204020203" pitchFamily="34" charset="0"/>
            </a:endParaRPr>
          </a:p>
          <a:p>
            <a:r>
              <a:rPr lang="en-US" sz="1020">
                <a:solidFill>
                  <a:srgbClr val="344054"/>
                </a:solidFill>
                <a:latin typeface="Segoe UI" panose="020B0502040204020203" pitchFamily="34" charset="0"/>
              </a:rPr>
              <a:t>Checkpoints + dataset parameters regenerated on 04 Sep.</a:t>
            </a:r>
          </a:p>
          <a:p>
            <a:endParaRPr lang="en-US" sz="1020">
              <a:solidFill>
                <a:srgbClr val="344054"/>
              </a:solidFill>
              <a:latin typeface="Segoe UI" panose="020B0502040204020203" pitchFamily="34" charset="0"/>
            </a:endParaRPr>
          </a:p>
          <a:p>
            <a:r>
              <a:rPr lang="en-US" sz="1020">
                <a:solidFill>
                  <a:srgbClr val="344054"/>
                </a:solidFill>
                <a:latin typeface="Segoe UI" panose="020B0502040204020203" pitchFamily="34" charset="0"/>
              </a:rPr>
              <a:t>Do not switch without real scored history.</a:t>
            </a:r>
          </a:p>
        </p:txBody>
      </p:sp>
      <p:sp>
        <p:nvSpPr>
          <p:cNvPr id="30" name="Rectangle: Rounded Corners 29">
            <a:extLst>
              <a:ext uri="{FF2B5EF4-FFF2-40B4-BE49-F238E27FC236}">
                <a16:creationId xmlns:a16="http://schemas.microsoft.com/office/drawing/2014/main" id="{767A2F2F-1E77-18B9-32DF-0EB29A40A07F}"/>
              </a:ext>
            </a:extLst>
          </p:cNvPr>
          <p:cNvSpPr/>
          <p:nvPr/>
        </p:nvSpPr>
        <p:spPr>
          <a:xfrm>
            <a:off x="4533900" y="5956300"/>
            <a:ext cx="3124200" cy="3937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A94314F3-A058-FE2F-851A-89D0136230C2}"/>
              </a:ext>
            </a:extLst>
          </p:cNvPr>
          <p:cNvSpPr txBox="1"/>
          <p:nvPr/>
        </p:nvSpPr>
        <p:spPr>
          <a:xfrm>
            <a:off x="4533900" y="5956300"/>
            <a:ext cx="3124200" cy="393700"/>
          </a:xfrm>
          <a:prstGeom prst="rect">
            <a:avLst/>
          </a:prstGeom>
          <a:noFill/>
        </p:spPr>
        <p:txBody>
          <a:bodyPr vert="horz" wrap="square" lIns="50800" tIns="25400" rIns="50800" bIns="25400" rtlCol="0" anchor="ctr">
            <a:noAutofit/>
          </a:bodyPr>
          <a:lstStyle/>
          <a:p>
            <a:pPr algn="ctr"/>
            <a:r>
              <a:rPr lang="en-US" sz="950" b="1">
                <a:solidFill>
                  <a:srgbClr val="FFFFFF"/>
                </a:solidFill>
                <a:latin typeface="Segoe UI" panose="020B0502040204020203" pitchFamily="34" charset="0"/>
              </a:rPr>
              <a:t>CONFIGURED DEFAULT: EWMA</a:t>
            </a:r>
          </a:p>
        </p:txBody>
      </p:sp>
      <p:sp>
        <p:nvSpPr>
          <p:cNvPr id="32" name="TextBox 31">
            <a:extLst>
              <a:ext uri="{FF2B5EF4-FFF2-40B4-BE49-F238E27FC236}">
                <a16:creationId xmlns:a16="http://schemas.microsoft.com/office/drawing/2014/main" id="{39430166-3E0E-EF3D-339C-1EB47EB2E2C3}"/>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3" name="TextBox 32">
            <a:extLst>
              <a:ext uri="{FF2B5EF4-FFF2-40B4-BE49-F238E27FC236}">
                <a16:creationId xmlns:a16="http://schemas.microsoft.com/office/drawing/2014/main" id="{754C5467-6845-3BB0-1E97-1AC0A0483D57}"/>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13</a:t>
            </a:r>
          </a:p>
        </p:txBody>
      </p:sp>
    </p:spTree>
    <p:extLst>
      <p:ext uri="{BB962C8B-B14F-4D97-AF65-F5344CB8AC3E}">
        <p14:creationId xmlns:p14="http://schemas.microsoft.com/office/powerpoint/2010/main" val="5997460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572779-5E09-F404-9C3F-DC84C8CFF66E}"/>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PERFORMANCE &amp; SCALE</a:t>
            </a:r>
          </a:p>
        </p:txBody>
      </p:sp>
      <p:sp>
        <p:nvSpPr>
          <p:cNvPr id="3" name="TextBox 2">
            <a:extLst>
              <a:ext uri="{FF2B5EF4-FFF2-40B4-BE49-F238E27FC236}">
                <a16:creationId xmlns:a16="http://schemas.microsoft.com/office/drawing/2014/main" id="{5A48B824-0105-6E1A-A90F-62DBA4D598FE}"/>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The widened dataset is usable at operating scale</a:t>
            </a:r>
          </a:p>
        </p:txBody>
      </p:sp>
      <p:sp>
        <p:nvSpPr>
          <p:cNvPr id="4" name="TextBox 3">
            <a:extLst>
              <a:ext uri="{FF2B5EF4-FFF2-40B4-BE49-F238E27FC236}">
                <a16:creationId xmlns:a16="http://schemas.microsoft.com/office/drawing/2014/main" id="{F2ED03C5-2E88-212E-0BF9-43249F098313}"/>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Indexes, date-range corrections and worker limits were measured against the current four-year dataset.</a:t>
            </a:r>
          </a:p>
        </p:txBody>
      </p:sp>
      <p:sp>
        <p:nvSpPr>
          <p:cNvPr id="5" name="Rectangle: Rounded Corners 4">
            <a:extLst>
              <a:ext uri="{FF2B5EF4-FFF2-40B4-BE49-F238E27FC236}">
                <a16:creationId xmlns:a16="http://schemas.microsoft.com/office/drawing/2014/main" id="{1025923D-6B8E-E9E7-3A9E-01FE74EB2271}"/>
              </a:ext>
            </a:extLst>
          </p:cNvPr>
          <p:cNvSpPr/>
          <p:nvPr/>
        </p:nvSpPr>
        <p:spPr>
          <a:xfrm>
            <a:off x="6096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720884F1-3515-0646-7B1B-4F3C78180848}"/>
              </a:ext>
            </a:extLst>
          </p:cNvPr>
          <p:cNvSpPr/>
          <p:nvPr/>
        </p:nvSpPr>
        <p:spPr>
          <a:xfrm>
            <a:off x="609600" y="1841500"/>
            <a:ext cx="88900" cy="16002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D4F9798-B926-E91B-6B57-01920FE9CDBD}"/>
              </a:ext>
            </a:extLst>
          </p:cNvPr>
          <p:cNvSpPr txBox="1"/>
          <p:nvPr/>
        </p:nvSpPr>
        <p:spPr>
          <a:xfrm>
            <a:off x="8382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SYNCED DEMAND</a:t>
            </a:r>
          </a:p>
        </p:txBody>
      </p:sp>
      <p:sp>
        <p:nvSpPr>
          <p:cNvPr id="8" name="TextBox 7">
            <a:extLst>
              <a:ext uri="{FF2B5EF4-FFF2-40B4-BE49-F238E27FC236}">
                <a16:creationId xmlns:a16="http://schemas.microsoft.com/office/drawing/2014/main" id="{CE1439EA-87AD-F125-7D57-8E7B41D96DF4}"/>
              </a:ext>
            </a:extLst>
          </p:cNvPr>
          <p:cNvSpPr txBox="1"/>
          <p:nvPr/>
        </p:nvSpPr>
        <p:spPr>
          <a:xfrm>
            <a:off x="8382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1.826M units</a:t>
            </a:r>
          </a:p>
        </p:txBody>
      </p:sp>
      <p:sp>
        <p:nvSpPr>
          <p:cNvPr id="9" name="TextBox 8">
            <a:extLst>
              <a:ext uri="{FF2B5EF4-FFF2-40B4-BE49-F238E27FC236}">
                <a16:creationId xmlns:a16="http://schemas.microsoft.com/office/drawing/2014/main" id="{D46D8E59-97FC-533A-DB78-6F8F7E2E936F}"/>
              </a:ext>
            </a:extLst>
          </p:cNvPr>
          <p:cNvSpPr txBox="1"/>
          <p:nvPr/>
        </p:nvSpPr>
        <p:spPr>
          <a:xfrm>
            <a:off x="8382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Each grain reconciles to the same total</a:t>
            </a:r>
          </a:p>
        </p:txBody>
      </p:sp>
      <p:sp>
        <p:nvSpPr>
          <p:cNvPr id="10" name="Rectangle: Rounded Corners 9">
            <a:extLst>
              <a:ext uri="{FF2B5EF4-FFF2-40B4-BE49-F238E27FC236}">
                <a16:creationId xmlns:a16="http://schemas.microsoft.com/office/drawing/2014/main" id="{0A064774-0437-DBBA-3ACA-1B54B83840E7}"/>
              </a:ext>
            </a:extLst>
          </p:cNvPr>
          <p:cNvSpPr/>
          <p:nvPr/>
        </p:nvSpPr>
        <p:spPr>
          <a:xfrm>
            <a:off x="34290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BDFDA25D-0CE2-F792-45CE-17E4E5847C67}"/>
              </a:ext>
            </a:extLst>
          </p:cNvPr>
          <p:cNvSpPr/>
          <p:nvPr/>
        </p:nvSpPr>
        <p:spPr>
          <a:xfrm>
            <a:off x="3429000" y="1841500"/>
            <a:ext cx="88900" cy="16002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E04BA29A-A834-1A6C-FDB7-3EEBDAC7E5E5}"/>
              </a:ext>
            </a:extLst>
          </p:cNvPr>
          <p:cNvSpPr txBox="1"/>
          <p:nvPr/>
        </p:nvSpPr>
        <p:spPr>
          <a:xfrm>
            <a:off x="36576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FORECAST RUN</a:t>
            </a:r>
          </a:p>
        </p:txBody>
      </p:sp>
      <p:sp>
        <p:nvSpPr>
          <p:cNvPr id="13" name="TextBox 12">
            <a:extLst>
              <a:ext uri="{FF2B5EF4-FFF2-40B4-BE49-F238E27FC236}">
                <a16:creationId xmlns:a16="http://schemas.microsoft.com/office/drawing/2014/main" id="{12E9C5F2-4861-7661-4569-5150879E8587}"/>
              </a:ext>
            </a:extLst>
          </p:cNvPr>
          <p:cNvSpPr txBox="1"/>
          <p:nvPr/>
        </p:nvSpPr>
        <p:spPr>
          <a:xfrm>
            <a:off x="36576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2,300 rows</a:t>
            </a:r>
          </a:p>
        </p:txBody>
      </p:sp>
      <p:sp>
        <p:nvSpPr>
          <p:cNvPr id="14" name="TextBox 13">
            <a:extLst>
              <a:ext uri="{FF2B5EF4-FFF2-40B4-BE49-F238E27FC236}">
                <a16:creationId xmlns:a16="http://schemas.microsoft.com/office/drawing/2014/main" id="{D9CDFF43-C4E1-2FA6-AA48-85CAE4214B75}"/>
              </a:ext>
            </a:extLst>
          </p:cNvPr>
          <p:cNvSpPr txBox="1"/>
          <p:nvPr/>
        </p:nvSpPr>
        <p:spPr>
          <a:xfrm>
            <a:off x="36576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Completed in 2m22s across 2,259 request pairs</a:t>
            </a:r>
          </a:p>
        </p:txBody>
      </p:sp>
      <p:sp>
        <p:nvSpPr>
          <p:cNvPr id="15" name="Rectangle: Rounded Corners 14">
            <a:extLst>
              <a:ext uri="{FF2B5EF4-FFF2-40B4-BE49-F238E27FC236}">
                <a16:creationId xmlns:a16="http://schemas.microsoft.com/office/drawing/2014/main" id="{D49DAA3A-42E6-C67E-4345-46A3033DF3C3}"/>
              </a:ext>
            </a:extLst>
          </p:cNvPr>
          <p:cNvSpPr/>
          <p:nvPr/>
        </p:nvSpPr>
        <p:spPr>
          <a:xfrm>
            <a:off x="62484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C339E283-FF1E-3053-5DD5-0AB75FFFBE72}"/>
              </a:ext>
            </a:extLst>
          </p:cNvPr>
          <p:cNvSpPr/>
          <p:nvPr/>
        </p:nvSpPr>
        <p:spPr>
          <a:xfrm>
            <a:off x="6248400" y="1841500"/>
            <a:ext cx="88900" cy="16002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EE4D689-5442-DE04-0E20-22D13BAC740C}"/>
              </a:ext>
            </a:extLst>
          </p:cNvPr>
          <p:cNvSpPr txBox="1"/>
          <p:nvPr/>
        </p:nvSpPr>
        <p:spPr>
          <a:xfrm>
            <a:off x="64770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DASHBOARD</a:t>
            </a:r>
          </a:p>
        </p:txBody>
      </p:sp>
      <p:sp>
        <p:nvSpPr>
          <p:cNvPr id="18" name="TextBox 17">
            <a:extLst>
              <a:ext uri="{FF2B5EF4-FFF2-40B4-BE49-F238E27FC236}">
                <a16:creationId xmlns:a16="http://schemas.microsoft.com/office/drawing/2014/main" id="{42936F98-E886-49B3-F4CA-EFDE6E9BD726}"/>
              </a:ext>
            </a:extLst>
          </p:cNvPr>
          <p:cNvSpPr txBox="1"/>
          <p:nvPr/>
        </p:nvSpPr>
        <p:spPr>
          <a:xfrm>
            <a:off x="64770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2.5s</a:t>
            </a:r>
          </a:p>
        </p:txBody>
      </p:sp>
      <p:sp>
        <p:nvSpPr>
          <p:cNvPr id="19" name="TextBox 18">
            <a:extLst>
              <a:ext uri="{FF2B5EF4-FFF2-40B4-BE49-F238E27FC236}">
                <a16:creationId xmlns:a16="http://schemas.microsoft.com/office/drawing/2014/main" id="{3DC8B414-21C3-FDF9-D3CC-4606AE10E661}"/>
              </a:ext>
            </a:extLst>
          </p:cNvPr>
          <p:cNvSpPr txBox="1"/>
          <p:nvPr/>
        </p:nvSpPr>
        <p:spPr>
          <a:xfrm>
            <a:off x="64770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Reduced from 70.4s</a:t>
            </a:r>
          </a:p>
        </p:txBody>
      </p:sp>
      <p:sp>
        <p:nvSpPr>
          <p:cNvPr id="20" name="Rectangle: Rounded Corners 19">
            <a:extLst>
              <a:ext uri="{FF2B5EF4-FFF2-40B4-BE49-F238E27FC236}">
                <a16:creationId xmlns:a16="http://schemas.microsoft.com/office/drawing/2014/main" id="{7A4646E3-75FA-EC65-60F8-92D2B67CCE02}"/>
              </a:ext>
            </a:extLst>
          </p:cNvPr>
          <p:cNvSpPr/>
          <p:nvPr/>
        </p:nvSpPr>
        <p:spPr>
          <a:xfrm>
            <a:off x="90678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C5F7452E-E326-5C5C-F111-912BEFEDB164}"/>
              </a:ext>
            </a:extLst>
          </p:cNvPr>
          <p:cNvSpPr/>
          <p:nvPr/>
        </p:nvSpPr>
        <p:spPr>
          <a:xfrm>
            <a:off x="9067800" y="1841500"/>
            <a:ext cx="88900" cy="16002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EE1BF59-7B65-01CC-0656-9795E1DF6709}"/>
              </a:ext>
            </a:extLst>
          </p:cNvPr>
          <p:cNvSpPr txBox="1"/>
          <p:nvPr/>
        </p:nvSpPr>
        <p:spPr>
          <a:xfrm>
            <a:off x="92964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FORECAST PAGE</a:t>
            </a:r>
          </a:p>
        </p:txBody>
      </p:sp>
      <p:sp>
        <p:nvSpPr>
          <p:cNvPr id="23" name="TextBox 22">
            <a:extLst>
              <a:ext uri="{FF2B5EF4-FFF2-40B4-BE49-F238E27FC236}">
                <a16:creationId xmlns:a16="http://schemas.microsoft.com/office/drawing/2014/main" id="{99C80ABA-DF92-5C0C-1151-E283ACB683CB}"/>
              </a:ext>
            </a:extLst>
          </p:cNvPr>
          <p:cNvSpPr txBox="1"/>
          <p:nvPr/>
        </p:nvSpPr>
        <p:spPr>
          <a:xfrm>
            <a:off x="92964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0.9s</a:t>
            </a:r>
          </a:p>
        </p:txBody>
      </p:sp>
      <p:sp>
        <p:nvSpPr>
          <p:cNvPr id="24" name="TextBox 23">
            <a:extLst>
              <a:ext uri="{FF2B5EF4-FFF2-40B4-BE49-F238E27FC236}">
                <a16:creationId xmlns:a16="http://schemas.microsoft.com/office/drawing/2014/main" id="{39CBFEEC-76FC-6AC4-61CB-C33935CEED3F}"/>
              </a:ext>
            </a:extLst>
          </p:cNvPr>
          <p:cNvSpPr txBox="1"/>
          <p:nvPr/>
        </p:nvSpPr>
        <p:spPr>
          <a:xfrm>
            <a:off x="92964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Reduced from 19.5s</a:t>
            </a:r>
          </a:p>
        </p:txBody>
      </p:sp>
      <p:sp>
        <p:nvSpPr>
          <p:cNvPr id="25" name="Rectangle: Rounded Corners 24">
            <a:extLst>
              <a:ext uri="{FF2B5EF4-FFF2-40B4-BE49-F238E27FC236}">
                <a16:creationId xmlns:a16="http://schemas.microsoft.com/office/drawing/2014/main" id="{6EC15207-F23B-4633-ACAB-1311CCE1D2F2}"/>
              </a:ext>
            </a:extLst>
          </p:cNvPr>
          <p:cNvSpPr/>
          <p:nvPr/>
        </p:nvSpPr>
        <p:spPr>
          <a:xfrm>
            <a:off x="609600" y="3886200"/>
            <a:ext cx="5207000" cy="19177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95E64E78-1FA5-B357-6DAD-78315E14C7DE}"/>
              </a:ext>
            </a:extLst>
          </p:cNvPr>
          <p:cNvSpPr/>
          <p:nvPr/>
        </p:nvSpPr>
        <p:spPr>
          <a:xfrm>
            <a:off x="609600" y="3886200"/>
            <a:ext cx="52070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8F9742C-8495-216B-3EEF-ED97D7383AAC}"/>
              </a:ext>
            </a:extLst>
          </p:cNvPr>
          <p:cNvSpPr txBox="1"/>
          <p:nvPr/>
        </p:nvSpPr>
        <p:spPr>
          <a:xfrm>
            <a:off x="838200" y="4140200"/>
            <a:ext cx="474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WHY THE INDEXES MATTER</a:t>
            </a:r>
          </a:p>
        </p:txBody>
      </p:sp>
      <p:sp>
        <p:nvSpPr>
          <p:cNvPr id="28" name="TextBox 27">
            <a:extLst>
              <a:ext uri="{FF2B5EF4-FFF2-40B4-BE49-F238E27FC236}">
                <a16:creationId xmlns:a16="http://schemas.microsoft.com/office/drawing/2014/main" id="{67593E7E-FBCB-29DB-FD92-83FEDCB4092D}"/>
              </a:ext>
            </a:extLst>
          </p:cNvPr>
          <p:cNvSpPr txBox="1"/>
          <p:nvPr/>
        </p:nvSpPr>
        <p:spPr>
          <a:xfrm>
            <a:off x="838200" y="4660900"/>
            <a:ext cx="4749800" cy="9652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Back office: orders (created_at, status)</a:t>
            </a:r>
          </a:p>
          <a:p>
            <a:r>
              <a:rPr lang="en-US" sz="1000">
                <a:solidFill>
                  <a:srgbClr val="344054"/>
                </a:solidFill>
                <a:latin typeface="Segoe UI" panose="020B0502040204020203" pitchFamily="34" charset="0"/>
              </a:rPr>
              <a:t>App: daily demands (grain, sku_id)</a:t>
            </a:r>
          </a:p>
          <a:p>
            <a:endParaRPr lang="en-US" sz="1000">
              <a:solidFill>
                <a:srgbClr val="344054"/>
              </a:solidFill>
              <a:latin typeface="Segoe UI" panose="020B0502040204020203" pitchFamily="34" charset="0"/>
            </a:endParaRPr>
          </a:p>
          <a:p>
            <a:r>
              <a:rPr lang="en-US" sz="1000">
                <a:solidFill>
                  <a:srgbClr val="344054"/>
                </a:solidFill>
                <a:latin typeface="Segoe UI" panose="020B0502040204020203" pitchFamily="34" charset="0"/>
              </a:rPr>
              <a:t>Distinct-SKU query: 8.92s -&gt; 0.44s</a:t>
            </a:r>
          </a:p>
        </p:txBody>
      </p:sp>
      <p:sp>
        <p:nvSpPr>
          <p:cNvPr id="29" name="Rectangle: Rounded Corners 28">
            <a:extLst>
              <a:ext uri="{FF2B5EF4-FFF2-40B4-BE49-F238E27FC236}">
                <a16:creationId xmlns:a16="http://schemas.microsoft.com/office/drawing/2014/main" id="{06BC95D1-082D-6F4F-ABF9-E20BB6A3CACA}"/>
              </a:ext>
            </a:extLst>
          </p:cNvPr>
          <p:cNvSpPr/>
          <p:nvPr/>
        </p:nvSpPr>
        <p:spPr>
          <a:xfrm>
            <a:off x="6375400" y="3886200"/>
            <a:ext cx="5207000" cy="1917700"/>
          </a:xfrm>
          <a:prstGeom prst="roundRect">
            <a:avLst/>
          </a:prstGeom>
          <a:solidFill>
            <a:srgbClr val="FFF2D9"/>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87F028E7-BB11-C351-ABB3-AE71216E5681}"/>
              </a:ext>
            </a:extLst>
          </p:cNvPr>
          <p:cNvSpPr/>
          <p:nvPr/>
        </p:nvSpPr>
        <p:spPr>
          <a:xfrm>
            <a:off x="6375400" y="3886200"/>
            <a:ext cx="5207000" cy="101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3B1E8B6B-2B64-7E90-A206-16378BC3CD00}"/>
              </a:ext>
            </a:extLst>
          </p:cNvPr>
          <p:cNvSpPr txBox="1"/>
          <p:nvPr/>
        </p:nvSpPr>
        <p:spPr>
          <a:xfrm>
            <a:off x="6604000" y="4140200"/>
            <a:ext cx="474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WHY THE WORKER LIMIT MATTERS</a:t>
            </a:r>
          </a:p>
        </p:txBody>
      </p:sp>
      <p:sp>
        <p:nvSpPr>
          <p:cNvPr id="32" name="TextBox 31">
            <a:extLst>
              <a:ext uri="{FF2B5EF4-FFF2-40B4-BE49-F238E27FC236}">
                <a16:creationId xmlns:a16="http://schemas.microsoft.com/office/drawing/2014/main" id="{EFC59838-6BFB-8681-C61A-BD0413892A7B}"/>
              </a:ext>
            </a:extLst>
          </p:cNvPr>
          <p:cNvSpPr txBox="1"/>
          <p:nvPr/>
        </p:nvSpPr>
        <p:spPr>
          <a:xfrm>
            <a:off x="6604000" y="4660900"/>
            <a:ext cx="4749800" cy="9652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A 60-second listener silently killed a full run and left it at Processing.</a:t>
            </a:r>
          </a:p>
          <a:p>
            <a:endParaRPr lang="en-US" sz="1000">
              <a:solidFill>
                <a:srgbClr val="344054"/>
              </a:solidFill>
              <a:latin typeface="Segoe UI" panose="020B0502040204020203" pitchFamily="34" charset="0"/>
            </a:endParaRPr>
          </a:p>
          <a:p>
            <a:r>
              <a:rPr lang="en-US" sz="1000">
                <a:solidFill>
                  <a:srgbClr val="344054"/>
                </a:solidFill>
                <a:latin typeface="Segoe UI" panose="020B0502040204020203" pitchFamily="34" charset="0"/>
              </a:rPr>
              <a:t>Job + listener timeout: 1,800 seconds. Production needs stale-run alerts.</a:t>
            </a:r>
          </a:p>
        </p:txBody>
      </p:sp>
      <p:sp>
        <p:nvSpPr>
          <p:cNvPr id="33" name="TextBox 32">
            <a:extLst>
              <a:ext uri="{FF2B5EF4-FFF2-40B4-BE49-F238E27FC236}">
                <a16:creationId xmlns:a16="http://schemas.microsoft.com/office/drawing/2014/main" id="{5B8E36A4-161E-576F-D1F8-E7486444E1C6}"/>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4" name="TextBox 33">
            <a:extLst>
              <a:ext uri="{FF2B5EF4-FFF2-40B4-BE49-F238E27FC236}">
                <a16:creationId xmlns:a16="http://schemas.microsoft.com/office/drawing/2014/main" id="{FC0C2AE3-DBDA-91BB-BA48-1FDB336F6A0F}"/>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14</a:t>
            </a:r>
          </a:p>
        </p:txBody>
      </p:sp>
    </p:spTree>
    <p:extLst>
      <p:ext uri="{BB962C8B-B14F-4D97-AF65-F5344CB8AC3E}">
        <p14:creationId xmlns:p14="http://schemas.microsoft.com/office/powerpoint/2010/main" val="21553526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5A3CE0F-13E6-CA36-9E57-4ADB39C0AFE8}"/>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CRITICAL DATA GAP</a:t>
            </a:r>
          </a:p>
        </p:txBody>
      </p:sp>
      <p:sp>
        <p:nvSpPr>
          <p:cNvPr id="3" name="TextBox 2">
            <a:extLst>
              <a:ext uri="{FF2B5EF4-FFF2-40B4-BE49-F238E27FC236}">
                <a16:creationId xmlns:a16="http://schemas.microsoft.com/office/drawing/2014/main" id="{164A2FF3-8B3C-CBB6-ABCF-7B2A74B8DC10}"/>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Recommendation workflow exists; its stock input is not current</a:t>
            </a:r>
          </a:p>
        </p:txBody>
      </p:sp>
      <p:sp>
        <p:nvSpPr>
          <p:cNvPr id="4" name="TextBox 3">
            <a:extLst>
              <a:ext uri="{FF2B5EF4-FFF2-40B4-BE49-F238E27FC236}">
                <a16:creationId xmlns:a16="http://schemas.microsoft.com/office/drawing/2014/main" id="{44A26D97-5626-6EEF-87B4-0D06DBF9613E}"/>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Forecasts and current BuyAbans stock do not yet meet at a compatible location grain.</a:t>
            </a:r>
          </a:p>
        </p:txBody>
      </p:sp>
      <p:sp>
        <p:nvSpPr>
          <p:cNvPr id="5" name="Rectangle: Rounded Corners 4">
            <a:extLst>
              <a:ext uri="{FF2B5EF4-FFF2-40B4-BE49-F238E27FC236}">
                <a16:creationId xmlns:a16="http://schemas.microsoft.com/office/drawing/2014/main" id="{08B7EE8C-FAF6-EC83-1073-C3C32D38202A}"/>
              </a:ext>
            </a:extLst>
          </p:cNvPr>
          <p:cNvSpPr/>
          <p:nvPr/>
        </p:nvSpPr>
        <p:spPr>
          <a:xfrm>
            <a:off x="609600" y="1943100"/>
            <a:ext cx="3175000" cy="2413000"/>
          </a:xfrm>
          <a:prstGeom prst="roundRect">
            <a:avLst/>
          </a:prstGeom>
          <a:solidFill>
            <a:srgbClr val="E1F7E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D5C9ABA0-9E9F-87BA-F225-41CB5B7E11A6}"/>
              </a:ext>
            </a:extLst>
          </p:cNvPr>
          <p:cNvSpPr/>
          <p:nvPr/>
        </p:nvSpPr>
        <p:spPr>
          <a:xfrm>
            <a:off x="609600" y="1943100"/>
            <a:ext cx="3175000" cy="101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B3977E9-1BAE-E254-E14E-81F430E989F4}"/>
              </a:ext>
            </a:extLst>
          </p:cNvPr>
          <p:cNvSpPr txBox="1"/>
          <p:nvPr/>
        </p:nvSpPr>
        <p:spPr>
          <a:xfrm>
            <a:off x="838200" y="2197100"/>
            <a:ext cx="2717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CURRENT FORECAST POPULATION</a:t>
            </a:r>
          </a:p>
        </p:txBody>
      </p:sp>
      <p:sp>
        <p:nvSpPr>
          <p:cNvPr id="8" name="TextBox 7">
            <a:extLst>
              <a:ext uri="{FF2B5EF4-FFF2-40B4-BE49-F238E27FC236}">
                <a16:creationId xmlns:a16="http://schemas.microsoft.com/office/drawing/2014/main" id="{8DBFA016-0E57-5CF3-C4CB-0CD75FCA4778}"/>
              </a:ext>
            </a:extLst>
          </p:cNvPr>
          <p:cNvSpPr txBox="1"/>
          <p:nvPr/>
        </p:nvSpPr>
        <p:spPr>
          <a:xfrm>
            <a:off x="838200" y="2717800"/>
            <a:ext cx="2717800" cy="1460500"/>
          </a:xfrm>
          <a:prstGeom prst="rect">
            <a:avLst/>
          </a:prstGeom>
          <a:noFill/>
        </p:spPr>
        <p:txBody>
          <a:bodyPr vert="horz" wrap="square" lIns="50800" tIns="25400" rIns="50800" bIns="25400" rtlCol="0" anchor="t">
            <a:noAutofit/>
          </a:bodyPr>
          <a:lstStyle/>
          <a:p>
            <a:r>
              <a:rPr lang="en-US" sz="1100">
                <a:solidFill>
                  <a:srgbClr val="344054"/>
                </a:solidFill>
                <a:latin typeface="Segoe UI" panose="020B0502040204020203" pitchFamily="34" charset="0"/>
              </a:rPr>
              <a:t>2,300 fresh forecasts</a:t>
            </a:r>
          </a:p>
          <a:p>
            <a:r>
              <a:rPr lang="en-US" sz="1100">
                <a:solidFill>
                  <a:srgbClr val="344054"/>
                </a:solidFill>
                <a:latin typeface="Segoe UI" panose="020B0502040204020203" pitchFamily="34" charset="0"/>
              </a:rPr>
              <a:t>BuyAbans warehouse demand</a:t>
            </a:r>
          </a:p>
          <a:p>
            <a:r>
              <a:rPr lang="en-US" sz="1100">
                <a:solidFill>
                  <a:srgbClr val="344054"/>
                </a:solidFill>
                <a:latin typeface="Segoe UI" panose="020B0502040204020203" pitchFamily="34" charset="0"/>
              </a:rPr>
              <a:t>535 SKUs across locations</a:t>
            </a:r>
          </a:p>
        </p:txBody>
      </p:sp>
      <p:cxnSp>
        <p:nvCxnSpPr>
          <p:cNvPr id="9" name="Straight Connector 8">
            <a:extLst>
              <a:ext uri="{FF2B5EF4-FFF2-40B4-BE49-F238E27FC236}">
                <a16:creationId xmlns:a16="http://schemas.microsoft.com/office/drawing/2014/main" id="{3B7B4D29-AAA1-F2DD-27DE-11F864B4089D}"/>
              </a:ext>
            </a:extLst>
          </p:cNvPr>
          <p:cNvCxnSpPr/>
          <p:nvPr/>
        </p:nvCxnSpPr>
        <p:spPr>
          <a:xfrm>
            <a:off x="3835400" y="3149600"/>
            <a:ext cx="711200" cy="0"/>
          </a:xfrm>
          <a:prstGeom prst="line">
            <a:avLst/>
          </a:prstGeom>
          <a:ln w="38100">
            <a:solidFill>
              <a:srgbClr val="E5484D"/>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BF94C280-E2A8-3795-F21B-4647163A66D0}"/>
              </a:ext>
            </a:extLst>
          </p:cNvPr>
          <p:cNvSpPr/>
          <p:nvPr/>
        </p:nvSpPr>
        <p:spPr>
          <a:xfrm>
            <a:off x="4622800" y="1943100"/>
            <a:ext cx="2946400" cy="2413000"/>
          </a:xfrm>
          <a:prstGeom prst="roundRect">
            <a:avLst/>
          </a:prstGeom>
          <a:solidFill>
            <a:srgbClr val="FDE7E7"/>
          </a:solidFill>
          <a:ln w="12700">
            <a:solidFill>
              <a:srgbClr val="E5484D"/>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99446038-3A96-8A45-797D-FCDE7A8E8B26}"/>
              </a:ext>
            </a:extLst>
          </p:cNvPr>
          <p:cNvSpPr/>
          <p:nvPr/>
        </p:nvSpPr>
        <p:spPr>
          <a:xfrm>
            <a:off x="4622800" y="1943100"/>
            <a:ext cx="2946400" cy="101600"/>
          </a:xfrm>
          <a:prstGeom prst="roundRect">
            <a:avLst/>
          </a:prstGeom>
          <a:solidFill>
            <a:srgbClr val="E5484D"/>
          </a:solidFill>
          <a:ln w="12700">
            <a:solidFill>
              <a:srgbClr val="E548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6F894B1-1DE2-8065-A501-C2F986F4DC1D}"/>
              </a:ext>
            </a:extLst>
          </p:cNvPr>
          <p:cNvSpPr txBox="1"/>
          <p:nvPr/>
        </p:nvSpPr>
        <p:spPr>
          <a:xfrm>
            <a:off x="4851400" y="2197100"/>
            <a:ext cx="24892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MAPPING DECISION NEEDED</a:t>
            </a:r>
          </a:p>
        </p:txBody>
      </p:sp>
      <p:sp>
        <p:nvSpPr>
          <p:cNvPr id="13" name="TextBox 12">
            <a:extLst>
              <a:ext uri="{FF2B5EF4-FFF2-40B4-BE49-F238E27FC236}">
                <a16:creationId xmlns:a16="http://schemas.microsoft.com/office/drawing/2014/main" id="{F41B8BE3-9EA4-6F80-9B53-2383510BD6BD}"/>
              </a:ext>
            </a:extLst>
          </p:cNvPr>
          <p:cNvSpPr txBox="1"/>
          <p:nvPr/>
        </p:nvSpPr>
        <p:spPr>
          <a:xfrm>
            <a:off x="4851400" y="2717800"/>
            <a:ext cx="2489200" cy="1460500"/>
          </a:xfrm>
          <a:prstGeom prst="rect">
            <a:avLst/>
          </a:prstGeom>
          <a:noFill/>
        </p:spPr>
        <p:txBody>
          <a:bodyPr vert="horz" wrap="square" lIns="50800" tIns="25400" rIns="50800" bIns="25400" rtlCol="0" anchor="t">
            <a:noAutofit/>
          </a:bodyPr>
          <a:lstStyle/>
          <a:p>
            <a:r>
              <a:rPr lang="en-US" sz="1050">
                <a:solidFill>
                  <a:srgbClr val="344054"/>
                </a:solidFill>
                <a:latin typeface="Segoe UI" panose="020B0502040204020203" pitchFamily="34" charset="0"/>
              </a:rPr>
              <a:t>BuyAbans stock is per inventory source, not warehouse.</a:t>
            </a:r>
          </a:p>
          <a:p>
            <a:endParaRPr lang="en-US" sz="1050">
              <a:solidFill>
                <a:srgbClr val="344054"/>
              </a:solidFill>
              <a:latin typeface="Segoe UI" panose="020B0502040204020203" pitchFamily="34" charset="0"/>
            </a:endParaRPr>
          </a:p>
          <a:p>
            <a:r>
              <a:rPr lang="en-US" sz="1050">
                <a:solidFill>
                  <a:srgbClr val="344054"/>
                </a:solidFill>
                <a:latin typeface="Segoe UI" panose="020B0502040204020203" pitchFamily="34" charset="0"/>
              </a:rPr>
              <a:t>There is no honest mechanical mapping.</a:t>
            </a:r>
          </a:p>
        </p:txBody>
      </p:sp>
      <p:cxnSp>
        <p:nvCxnSpPr>
          <p:cNvPr id="14" name="Straight Connector 13">
            <a:extLst>
              <a:ext uri="{FF2B5EF4-FFF2-40B4-BE49-F238E27FC236}">
                <a16:creationId xmlns:a16="http://schemas.microsoft.com/office/drawing/2014/main" id="{59554116-1B8A-E0C7-627D-213A766CBD7F}"/>
              </a:ext>
            </a:extLst>
          </p:cNvPr>
          <p:cNvCxnSpPr/>
          <p:nvPr/>
        </p:nvCxnSpPr>
        <p:spPr>
          <a:xfrm>
            <a:off x="7620000" y="3149600"/>
            <a:ext cx="711200" cy="0"/>
          </a:xfrm>
          <a:prstGeom prst="line">
            <a:avLst/>
          </a:prstGeom>
          <a:ln w="38100">
            <a:solidFill>
              <a:srgbClr val="E5484D"/>
            </a:solidFill>
            <a:tailEnd type="arrow"/>
          </a:ln>
        </p:spPr>
        <p:style>
          <a:lnRef idx="2">
            <a:schemeClr val="accent1"/>
          </a:lnRef>
          <a:fillRef idx="0">
            <a:schemeClr val="accent1"/>
          </a:fillRef>
          <a:effectRef idx="1">
            <a:schemeClr val="accent1"/>
          </a:effectRef>
          <a:fontRef idx="minor">
            <a:schemeClr val="tx1"/>
          </a:fontRef>
        </p:style>
      </p:cxnSp>
      <p:sp>
        <p:nvSpPr>
          <p:cNvPr id="15" name="Rectangle: Rounded Corners 14">
            <a:extLst>
              <a:ext uri="{FF2B5EF4-FFF2-40B4-BE49-F238E27FC236}">
                <a16:creationId xmlns:a16="http://schemas.microsoft.com/office/drawing/2014/main" id="{9F732F18-8B95-215E-A4E6-584F41048702}"/>
              </a:ext>
            </a:extLst>
          </p:cNvPr>
          <p:cNvSpPr/>
          <p:nvPr/>
        </p:nvSpPr>
        <p:spPr>
          <a:xfrm>
            <a:off x="8407400" y="1943100"/>
            <a:ext cx="3175000" cy="2413000"/>
          </a:xfrm>
          <a:prstGeom prst="roundRect">
            <a:avLst/>
          </a:prstGeom>
          <a:solidFill>
            <a:srgbClr val="FFF2D9"/>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28760C15-E560-7B8B-ACBF-3F8C20F96CA7}"/>
              </a:ext>
            </a:extLst>
          </p:cNvPr>
          <p:cNvSpPr/>
          <p:nvPr/>
        </p:nvSpPr>
        <p:spPr>
          <a:xfrm>
            <a:off x="8407400" y="1943100"/>
            <a:ext cx="3175000" cy="101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9BE0F87-3051-652A-180F-BDB1FAF0D286}"/>
              </a:ext>
            </a:extLst>
          </p:cNvPr>
          <p:cNvSpPr txBox="1"/>
          <p:nvPr/>
        </p:nvSpPr>
        <p:spPr>
          <a:xfrm>
            <a:off x="8636000" y="2197100"/>
            <a:ext cx="2717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LEGACY ENGINE INPUT</a:t>
            </a:r>
          </a:p>
        </p:txBody>
      </p:sp>
      <p:sp>
        <p:nvSpPr>
          <p:cNvPr id="18" name="TextBox 17">
            <a:extLst>
              <a:ext uri="{FF2B5EF4-FFF2-40B4-BE49-F238E27FC236}">
                <a16:creationId xmlns:a16="http://schemas.microsoft.com/office/drawing/2014/main" id="{72DF1C3F-AFF9-A598-574A-7DF6ECE6A05C}"/>
              </a:ext>
            </a:extLst>
          </p:cNvPr>
          <p:cNvSpPr txBox="1"/>
          <p:nvPr/>
        </p:nvSpPr>
        <p:spPr>
          <a:xfrm>
            <a:off x="8636000" y="2717800"/>
            <a:ext cx="2717800" cy="1460500"/>
          </a:xfrm>
          <a:prstGeom prst="rect">
            <a:avLst/>
          </a:prstGeom>
          <a:noFill/>
        </p:spPr>
        <p:txBody>
          <a:bodyPr vert="horz" wrap="square" lIns="50800" tIns="25400" rIns="50800" bIns="25400" rtlCol="0" anchor="t">
            <a:noAutofit/>
          </a:bodyPr>
          <a:lstStyle/>
          <a:p>
            <a:r>
              <a:rPr lang="en-US" sz="1070">
                <a:solidFill>
                  <a:srgbClr val="344054"/>
                </a:solidFill>
                <a:latin typeface="Segoe UI" panose="020B0502040204020203" pitchFamily="34" charset="0"/>
              </a:rPr>
              <a:t>inventories: 441 rows</a:t>
            </a:r>
          </a:p>
          <a:p>
            <a:r>
              <a:rPr lang="en-US" sz="1070">
                <a:solidFill>
                  <a:srgbClr val="344054"/>
                </a:solidFill>
                <a:latin typeface="Segoe UI" panose="020B0502040204020203" pitchFamily="34" charset="0"/>
              </a:rPr>
              <a:t>149 SKUs | 6 warehouses</a:t>
            </a:r>
          </a:p>
          <a:p>
            <a:r>
              <a:rPr lang="en-US" sz="1070">
                <a:solidFill>
                  <a:srgbClr val="344054"/>
                </a:solidFill>
                <a:latin typeface="Segoe UI" panose="020B0502040204020203" pitchFamily="34" charset="0"/>
              </a:rPr>
              <a:t>Only 4 forecast pairs overlap</a:t>
            </a:r>
          </a:p>
          <a:p>
            <a:r>
              <a:rPr lang="en-US" sz="1070">
                <a:solidFill>
                  <a:srgbClr val="344054"/>
                </a:solidFill>
                <a:latin typeface="Segoe UI" panose="020B0502040204020203" pitchFamily="34" charset="0"/>
              </a:rPr>
              <a:t>197 existing recommendations</a:t>
            </a:r>
          </a:p>
        </p:txBody>
      </p:sp>
      <p:sp>
        <p:nvSpPr>
          <p:cNvPr id="19" name="Rectangle: Rounded Corners 18">
            <a:extLst>
              <a:ext uri="{FF2B5EF4-FFF2-40B4-BE49-F238E27FC236}">
                <a16:creationId xmlns:a16="http://schemas.microsoft.com/office/drawing/2014/main" id="{982EA962-8389-42A0-61C2-CEC6349A08BF}"/>
              </a:ext>
            </a:extLst>
          </p:cNvPr>
          <p:cNvSpPr/>
          <p:nvPr/>
        </p:nvSpPr>
        <p:spPr>
          <a:xfrm>
            <a:off x="609600" y="4851400"/>
            <a:ext cx="10972800" cy="9652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99AD0D2-32CC-B031-8383-FA30C76CD2AA}"/>
              </a:ext>
            </a:extLst>
          </p:cNvPr>
          <p:cNvSpPr txBox="1"/>
          <p:nvPr/>
        </p:nvSpPr>
        <p:spPr>
          <a:xfrm>
            <a:off x="863600" y="5016500"/>
            <a:ext cx="1905000" cy="304800"/>
          </a:xfrm>
          <a:prstGeom prst="rect">
            <a:avLst/>
          </a:prstGeom>
          <a:noFill/>
        </p:spPr>
        <p:txBody>
          <a:bodyPr vert="horz" wrap="square" lIns="50800" tIns="25400" rIns="50800" bIns="25400" rtlCol="0" anchor="ctr">
            <a:noAutofit/>
          </a:bodyPr>
          <a:lstStyle/>
          <a:p>
            <a:r>
              <a:rPr lang="en-US" sz="1200" b="1">
                <a:solidFill>
                  <a:srgbClr val="E4F7F8"/>
                </a:solidFill>
                <a:latin typeface="Segoe UI" panose="020B0502040204020203" pitchFamily="34" charset="0"/>
              </a:rPr>
              <a:t>Safe claim today</a:t>
            </a:r>
          </a:p>
        </p:txBody>
      </p:sp>
      <p:sp>
        <p:nvSpPr>
          <p:cNvPr id="21" name="TextBox 20">
            <a:extLst>
              <a:ext uri="{FF2B5EF4-FFF2-40B4-BE49-F238E27FC236}">
                <a16:creationId xmlns:a16="http://schemas.microsoft.com/office/drawing/2014/main" id="{50B2378D-4BB2-AEEB-F350-3E45AAFCF196}"/>
              </a:ext>
            </a:extLst>
          </p:cNvPr>
          <p:cNvSpPr txBox="1"/>
          <p:nvPr/>
        </p:nvSpPr>
        <p:spPr>
          <a:xfrm>
            <a:off x="2768600" y="4953000"/>
            <a:ext cx="8509000" cy="685800"/>
          </a:xfrm>
          <a:prstGeom prst="rect">
            <a:avLst/>
          </a:prstGeom>
          <a:noFill/>
        </p:spPr>
        <p:txBody>
          <a:bodyPr vert="horz" wrap="square" lIns="50800" tIns="25400" rIns="50800" bIns="25400" rtlCol="0" anchor="ctr">
            <a:noAutofit/>
          </a:bodyPr>
          <a:lstStyle/>
          <a:p>
            <a:r>
              <a:rPr lang="en-US" sz="1050" b="1">
                <a:solidFill>
                  <a:srgbClr val="FFFFFF"/>
                </a:solidFill>
                <a:latin typeface="Segoe UI" panose="020B0502040204020203" pitchFamily="34" charset="0"/>
              </a:rPr>
              <a:t>Accept / Modify / Reject is implemented and auditable. Present quantities and the reorder-alert count are legacy-data demonstrations. Nothing auto-creates a purchase order or transfer.</a:t>
            </a:r>
          </a:p>
        </p:txBody>
      </p:sp>
      <p:sp>
        <p:nvSpPr>
          <p:cNvPr id="22" name="TextBox 21">
            <a:extLst>
              <a:ext uri="{FF2B5EF4-FFF2-40B4-BE49-F238E27FC236}">
                <a16:creationId xmlns:a16="http://schemas.microsoft.com/office/drawing/2014/main" id="{58A4F79E-AAED-5B65-56BD-32871514DB61}"/>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3" name="TextBox 22">
            <a:extLst>
              <a:ext uri="{FF2B5EF4-FFF2-40B4-BE49-F238E27FC236}">
                <a16:creationId xmlns:a16="http://schemas.microsoft.com/office/drawing/2014/main" id="{E5722D8D-1484-1C11-7B27-B6FD6B3DD709}"/>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15</a:t>
            </a:r>
          </a:p>
        </p:txBody>
      </p:sp>
    </p:spTree>
    <p:extLst>
      <p:ext uri="{BB962C8B-B14F-4D97-AF65-F5344CB8AC3E}">
        <p14:creationId xmlns:p14="http://schemas.microsoft.com/office/powerpoint/2010/main" val="36318813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4D98AD-5328-4CB5-888A-A5D2219AF1F2}"/>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DATA-LINEAGE MAP</a:t>
            </a:r>
          </a:p>
        </p:txBody>
      </p:sp>
      <p:sp>
        <p:nvSpPr>
          <p:cNvPr id="3" name="TextBox 2">
            <a:extLst>
              <a:ext uri="{FF2B5EF4-FFF2-40B4-BE49-F238E27FC236}">
                <a16:creationId xmlns:a16="http://schemas.microsoft.com/office/drawing/2014/main" id="{35692BE6-1C9F-3151-C989-ABFFB6E47BD0}"/>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Not every screen is on the same freshness path yet</a:t>
            </a:r>
          </a:p>
        </p:txBody>
      </p:sp>
      <p:sp>
        <p:nvSpPr>
          <p:cNvPr id="4" name="TextBox 3">
            <a:extLst>
              <a:ext uri="{FF2B5EF4-FFF2-40B4-BE49-F238E27FC236}">
                <a16:creationId xmlns:a16="http://schemas.microsoft.com/office/drawing/2014/main" id="{A78B85D3-555B-37D5-0465-6D0C4AE59798}"/>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Production trust depends on knowing exactly which source each view reads.</a:t>
            </a:r>
          </a:p>
        </p:txBody>
      </p:sp>
      <p:sp>
        <p:nvSpPr>
          <p:cNvPr id="5" name="Rectangle: Rounded Corners 4">
            <a:extLst>
              <a:ext uri="{FF2B5EF4-FFF2-40B4-BE49-F238E27FC236}">
                <a16:creationId xmlns:a16="http://schemas.microsoft.com/office/drawing/2014/main" id="{F192BE72-9D5B-CAF8-C71E-A07F6827F602}"/>
              </a:ext>
            </a:extLst>
          </p:cNvPr>
          <p:cNvSpPr/>
          <p:nvPr/>
        </p:nvSpPr>
        <p:spPr>
          <a:xfrm>
            <a:off x="609600" y="1854200"/>
            <a:ext cx="4902200" cy="3175000"/>
          </a:xfrm>
          <a:prstGeom prst="roundRect">
            <a:avLst/>
          </a:prstGeom>
          <a:solidFill>
            <a:srgbClr val="E1F7E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001659DE-8086-AE24-3BEF-723B24E6CFA1}"/>
              </a:ext>
            </a:extLst>
          </p:cNvPr>
          <p:cNvSpPr/>
          <p:nvPr/>
        </p:nvSpPr>
        <p:spPr>
          <a:xfrm>
            <a:off x="609600" y="1854200"/>
            <a:ext cx="4902200" cy="101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F16490B-6C24-6370-0FD7-27ED5D25D85D}"/>
              </a:ext>
            </a:extLst>
          </p:cNvPr>
          <p:cNvSpPr txBox="1"/>
          <p:nvPr/>
        </p:nvSpPr>
        <p:spPr>
          <a:xfrm>
            <a:off x="838200" y="2108200"/>
            <a:ext cx="4445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CURRENT BUYABANS PATH</a:t>
            </a:r>
          </a:p>
        </p:txBody>
      </p:sp>
      <p:sp>
        <p:nvSpPr>
          <p:cNvPr id="8" name="TextBox 7">
            <a:extLst>
              <a:ext uri="{FF2B5EF4-FFF2-40B4-BE49-F238E27FC236}">
                <a16:creationId xmlns:a16="http://schemas.microsoft.com/office/drawing/2014/main" id="{9F098D83-243A-FB17-6797-497EBE0BACDB}"/>
              </a:ext>
            </a:extLst>
          </p:cNvPr>
          <p:cNvSpPr txBox="1"/>
          <p:nvPr/>
        </p:nvSpPr>
        <p:spPr>
          <a:xfrm>
            <a:off x="838200" y="2628900"/>
            <a:ext cx="4445000" cy="2222500"/>
          </a:xfrm>
          <a:prstGeom prst="rect">
            <a:avLst/>
          </a:prstGeom>
          <a:noFill/>
        </p:spPr>
        <p:txBody>
          <a:bodyPr vert="horz" wrap="square" lIns="50800" tIns="25400" rIns="50800" bIns="25400" rtlCol="0" anchor="t">
            <a:noAutofit/>
          </a:bodyPr>
          <a:lstStyle/>
          <a:p>
            <a:r>
              <a:rPr lang="en-US" sz="1100">
                <a:solidFill>
                  <a:srgbClr val="344054"/>
                </a:solidFill>
                <a:latin typeface="Segoe UI" panose="020B0502040204020203" pitchFamily="34" charset="0"/>
              </a:rPr>
              <a:t>Dashboard trading metrics</a:t>
            </a:r>
          </a:p>
          <a:p>
            <a:r>
              <a:rPr lang="en-US" sz="1100">
                <a:solidFill>
                  <a:srgbClr val="344054"/>
                </a:solidFill>
                <a:latin typeface="Segoe UI" panose="020B0502040204020203" pitchFamily="34" charset="0"/>
              </a:rPr>
              <a:t>Revenue/category/location charts</a:t>
            </a:r>
          </a:p>
          <a:p>
            <a:r>
              <a:rPr lang="en-US" sz="1100">
                <a:solidFill>
                  <a:srgbClr val="344054"/>
                </a:solidFill>
                <a:latin typeface="Segoe UI" panose="020B0502040204020203" pitchFamily="34" charset="0"/>
              </a:rPr>
              <a:t>Forecast training and serving</a:t>
            </a:r>
          </a:p>
          <a:p>
            <a:r>
              <a:rPr lang="en-US" sz="1100">
                <a:solidFill>
                  <a:srgbClr val="344054"/>
                </a:solidFill>
                <a:latin typeface="Segoe UI" panose="020B0502040204020203" pitchFamily="34" charset="0"/>
              </a:rPr>
              <a:t>Maturity and peer profiles</a:t>
            </a:r>
          </a:p>
          <a:p>
            <a:r>
              <a:rPr lang="en-US" sz="1100">
                <a:solidFill>
                  <a:srgbClr val="344054"/>
                </a:solidFill>
                <a:latin typeface="Segoe UI" panose="020B0502040204020203" pitchFamily="34" charset="0"/>
              </a:rPr>
              <a:t>Catalog, variants, attributes and stock</a:t>
            </a:r>
          </a:p>
        </p:txBody>
      </p:sp>
      <p:sp>
        <p:nvSpPr>
          <p:cNvPr id="9" name="Rectangle: Rounded Corners 8">
            <a:extLst>
              <a:ext uri="{FF2B5EF4-FFF2-40B4-BE49-F238E27FC236}">
                <a16:creationId xmlns:a16="http://schemas.microsoft.com/office/drawing/2014/main" id="{03B81563-0936-00A7-0655-AF8A2CB9857D}"/>
              </a:ext>
            </a:extLst>
          </p:cNvPr>
          <p:cNvSpPr/>
          <p:nvPr/>
        </p:nvSpPr>
        <p:spPr>
          <a:xfrm>
            <a:off x="6680200" y="1854200"/>
            <a:ext cx="4902200" cy="3175000"/>
          </a:xfrm>
          <a:prstGeom prst="roundRect">
            <a:avLst/>
          </a:prstGeom>
          <a:solidFill>
            <a:srgbClr val="FFF2D9"/>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B1C8D06D-1053-0107-DC61-271584F1BDAD}"/>
              </a:ext>
            </a:extLst>
          </p:cNvPr>
          <p:cNvSpPr/>
          <p:nvPr/>
        </p:nvSpPr>
        <p:spPr>
          <a:xfrm>
            <a:off x="6680200" y="1854200"/>
            <a:ext cx="4902200" cy="101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D0182D2-9873-C98A-69B8-40E21B3DB673}"/>
              </a:ext>
            </a:extLst>
          </p:cNvPr>
          <p:cNvSpPr txBox="1"/>
          <p:nvPr/>
        </p:nvSpPr>
        <p:spPr>
          <a:xfrm>
            <a:off x="6908800" y="2108200"/>
            <a:ext cx="4445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LEGACY OR FROZEN INPUT PATH</a:t>
            </a:r>
          </a:p>
        </p:txBody>
      </p:sp>
      <p:sp>
        <p:nvSpPr>
          <p:cNvPr id="12" name="TextBox 11">
            <a:extLst>
              <a:ext uri="{FF2B5EF4-FFF2-40B4-BE49-F238E27FC236}">
                <a16:creationId xmlns:a16="http://schemas.microsoft.com/office/drawing/2014/main" id="{EE9B1103-29A0-BC33-BA83-9A919EDFFE26}"/>
              </a:ext>
            </a:extLst>
          </p:cNvPr>
          <p:cNvSpPr txBox="1"/>
          <p:nvPr/>
        </p:nvSpPr>
        <p:spPr>
          <a:xfrm>
            <a:off x="6908800" y="2628900"/>
            <a:ext cx="4445000" cy="2222500"/>
          </a:xfrm>
          <a:prstGeom prst="rect">
            <a:avLst/>
          </a:prstGeom>
          <a:noFill/>
        </p:spPr>
        <p:txBody>
          <a:bodyPr vert="horz" wrap="square" lIns="50800" tIns="25400" rIns="50800" bIns="25400" rtlCol="0" anchor="t">
            <a:noAutofit/>
          </a:bodyPr>
          <a:lstStyle/>
          <a:p>
            <a:r>
              <a:rPr lang="en-US" sz="1050">
                <a:solidFill>
                  <a:srgbClr val="344054"/>
                </a:solidFill>
                <a:latin typeface="Segoe UI" panose="020B0502040204020203" pitchFamily="34" charset="0"/>
              </a:rPr>
              <a:t>Inventory analytics and recommendations</a:t>
            </a:r>
          </a:p>
          <a:p>
            <a:r>
              <a:rPr lang="en-US" sz="1050">
                <a:solidFill>
                  <a:srgbClr val="344054"/>
                </a:solidFill>
                <a:latin typeface="Segoe UI" panose="020B0502040204020203" pitchFamily="34" charset="0"/>
              </a:rPr>
              <a:t>Lost sales and anomalies</a:t>
            </a:r>
          </a:p>
          <a:p>
            <a:r>
              <a:rPr lang="en-US" sz="1050">
                <a:solidFill>
                  <a:srgbClr val="344054"/>
                </a:solidFill>
                <a:latin typeface="Segoe UI" panose="020B0502040204020203" pitchFamily="34" charset="0"/>
              </a:rPr>
              <a:t>Supplier performance</a:t>
            </a:r>
          </a:p>
          <a:p>
            <a:r>
              <a:rPr lang="en-US" sz="1050">
                <a:solidFill>
                  <a:srgbClr val="344054"/>
                </a:solidFill>
                <a:latin typeface="Segoe UI" panose="020B0502040204020203" pitchFamily="34" charset="0"/>
              </a:rPr>
              <a:t>Product relationships / elasticity</a:t>
            </a:r>
          </a:p>
          <a:p>
            <a:r>
              <a:rPr lang="en-US" sz="1050">
                <a:solidFill>
                  <a:srgbClr val="344054"/>
                </a:solidFill>
                <a:latin typeface="Segoe UI" panose="020B0502040204020203" pitchFamily="34" charset="0"/>
              </a:rPr>
              <a:t>Promotion impact</a:t>
            </a:r>
          </a:p>
          <a:p>
            <a:endParaRPr lang="en-US" sz="1050">
              <a:solidFill>
                <a:srgbClr val="344054"/>
              </a:solidFill>
              <a:latin typeface="Segoe UI" panose="020B0502040204020203" pitchFamily="34" charset="0"/>
            </a:endParaRPr>
          </a:p>
          <a:p>
            <a:r>
              <a:rPr lang="en-US" sz="1050">
                <a:solidFill>
                  <a:srgbClr val="344054"/>
                </a:solidFill>
                <a:latin typeface="Segoe UI" panose="020B0502040204020203" pitchFamily="34" charset="0"/>
              </a:rPr>
              <a:t>Functional, but not replenished by this sync.</a:t>
            </a:r>
          </a:p>
        </p:txBody>
      </p:sp>
      <p:sp>
        <p:nvSpPr>
          <p:cNvPr id="13" name="Rectangle: Rounded Corners 12">
            <a:extLst>
              <a:ext uri="{FF2B5EF4-FFF2-40B4-BE49-F238E27FC236}">
                <a16:creationId xmlns:a16="http://schemas.microsoft.com/office/drawing/2014/main" id="{4F2630AF-0E2A-4C8B-07C4-1811787ED753}"/>
              </a:ext>
            </a:extLst>
          </p:cNvPr>
          <p:cNvSpPr/>
          <p:nvPr/>
        </p:nvSpPr>
        <p:spPr>
          <a:xfrm>
            <a:off x="1600200" y="5461000"/>
            <a:ext cx="8991600" cy="4826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31AC5603-0CDD-1844-84EB-2E10032A214D}"/>
              </a:ext>
            </a:extLst>
          </p:cNvPr>
          <p:cNvSpPr txBox="1"/>
          <p:nvPr/>
        </p:nvSpPr>
        <p:spPr>
          <a:xfrm>
            <a:off x="1600200" y="5461000"/>
            <a:ext cx="8991600" cy="482600"/>
          </a:xfrm>
          <a:prstGeom prst="rect">
            <a:avLst/>
          </a:prstGeom>
          <a:noFill/>
        </p:spPr>
        <p:txBody>
          <a:bodyPr vert="horz" wrap="square" lIns="50800" tIns="25400" rIns="50800" bIns="25400" rtlCol="0" anchor="ctr">
            <a:noAutofit/>
          </a:bodyPr>
          <a:lstStyle/>
          <a:p>
            <a:pPr algn="ctr"/>
            <a:r>
              <a:rPr lang="en-US" sz="950" b="1">
                <a:solidFill>
                  <a:srgbClr val="FFFFFF"/>
                </a:solidFill>
                <a:latin typeface="Segoe UI" panose="020B0502040204020203" pitchFamily="34" charset="0"/>
              </a:rPr>
              <a:t>Demonstrate capability, state lineage, never imply all figures share the live sync.</a:t>
            </a:r>
          </a:p>
        </p:txBody>
      </p:sp>
      <p:sp>
        <p:nvSpPr>
          <p:cNvPr id="15" name="TextBox 14">
            <a:extLst>
              <a:ext uri="{FF2B5EF4-FFF2-40B4-BE49-F238E27FC236}">
                <a16:creationId xmlns:a16="http://schemas.microsoft.com/office/drawing/2014/main" id="{D16F6693-6000-2634-14AB-4F60CD9C27F4}"/>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16" name="TextBox 15">
            <a:extLst>
              <a:ext uri="{FF2B5EF4-FFF2-40B4-BE49-F238E27FC236}">
                <a16:creationId xmlns:a16="http://schemas.microsoft.com/office/drawing/2014/main" id="{8B7CC56D-8250-4862-60B0-3DCB8FA13EF6}"/>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16</a:t>
            </a:r>
          </a:p>
        </p:txBody>
      </p:sp>
    </p:spTree>
    <p:extLst>
      <p:ext uri="{BB962C8B-B14F-4D97-AF65-F5344CB8AC3E}">
        <p14:creationId xmlns:p14="http://schemas.microsoft.com/office/powerpoint/2010/main" val="20223852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590AF87-D8DD-7464-422F-A7A3291B8D55}"/>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PROCESS INFOGRAPHIC</a:t>
            </a:r>
          </a:p>
        </p:txBody>
      </p:sp>
      <p:sp>
        <p:nvSpPr>
          <p:cNvPr id="3" name="TextBox 2">
            <a:extLst>
              <a:ext uri="{FF2B5EF4-FFF2-40B4-BE49-F238E27FC236}">
                <a16:creationId xmlns:a16="http://schemas.microsoft.com/office/drawing/2014/main" id="{A5D6B986-2EC4-25BC-AE2B-FF94772B55B8}"/>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The daily and monthly operating cycle</a:t>
            </a:r>
          </a:p>
        </p:txBody>
      </p:sp>
      <p:sp>
        <p:nvSpPr>
          <p:cNvPr id="4" name="TextBox 3">
            <a:extLst>
              <a:ext uri="{FF2B5EF4-FFF2-40B4-BE49-F238E27FC236}">
                <a16:creationId xmlns:a16="http://schemas.microsoft.com/office/drawing/2014/main" id="{DD6C45F5-DF1E-6D69-4301-04F345A503CF}"/>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Sequence protects dependency: synchronize first, then capture, score and recommend.</a:t>
            </a:r>
          </a:p>
        </p:txBody>
      </p:sp>
      <p:cxnSp>
        <p:nvCxnSpPr>
          <p:cNvPr id="5" name="Straight Connector 4">
            <a:extLst>
              <a:ext uri="{FF2B5EF4-FFF2-40B4-BE49-F238E27FC236}">
                <a16:creationId xmlns:a16="http://schemas.microsoft.com/office/drawing/2014/main" id="{FD604B9E-E130-3A19-CF33-8F195F35E4E8}"/>
              </a:ext>
            </a:extLst>
          </p:cNvPr>
          <p:cNvCxnSpPr/>
          <p:nvPr/>
        </p:nvCxnSpPr>
        <p:spPr>
          <a:xfrm>
            <a:off x="1092200" y="3289300"/>
            <a:ext cx="9728200" cy="0"/>
          </a:xfrm>
          <a:prstGeom prst="line">
            <a:avLst/>
          </a:prstGeom>
          <a:ln w="50800">
            <a:solidFill>
              <a:srgbClr val="D8E1EE"/>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8E33073A-9238-201B-88C8-9D9B486318E6}"/>
              </a:ext>
            </a:extLst>
          </p:cNvPr>
          <p:cNvSpPr/>
          <p:nvPr/>
        </p:nvSpPr>
        <p:spPr>
          <a:xfrm>
            <a:off x="1155700" y="2844800"/>
            <a:ext cx="889000" cy="8890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97E8D5D0-CA47-0C44-63EB-505D2A95406F}"/>
              </a:ext>
            </a:extLst>
          </p:cNvPr>
          <p:cNvSpPr txBox="1"/>
          <p:nvPr/>
        </p:nvSpPr>
        <p:spPr>
          <a:xfrm>
            <a:off x="1155700" y="2844800"/>
            <a:ext cx="889000" cy="8890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00:05</a:t>
            </a:r>
          </a:p>
        </p:txBody>
      </p:sp>
      <p:sp>
        <p:nvSpPr>
          <p:cNvPr id="8" name="TextBox 7">
            <a:extLst>
              <a:ext uri="{FF2B5EF4-FFF2-40B4-BE49-F238E27FC236}">
                <a16:creationId xmlns:a16="http://schemas.microsoft.com/office/drawing/2014/main" id="{2A478872-6E33-0D20-0128-643C8A3A02A4}"/>
              </a:ext>
            </a:extLst>
          </p:cNvPr>
          <p:cNvSpPr txBox="1"/>
          <p:nvPr/>
        </p:nvSpPr>
        <p:spPr>
          <a:xfrm>
            <a:off x="609600" y="3924300"/>
            <a:ext cx="1981200" cy="330200"/>
          </a:xfrm>
          <a:prstGeom prst="rect">
            <a:avLst/>
          </a:prstGeom>
          <a:noFill/>
        </p:spPr>
        <p:txBody>
          <a:bodyPr vert="horz" wrap="square" lIns="50800" tIns="25400" rIns="50800" bIns="25400" rtlCol="0" anchor="ctr">
            <a:noAutofit/>
          </a:bodyPr>
          <a:lstStyle/>
          <a:p>
            <a:pPr algn="ctr"/>
            <a:r>
              <a:rPr lang="en-US" sz="1000" b="1">
                <a:solidFill>
                  <a:srgbClr val="1769E0"/>
                </a:solidFill>
                <a:latin typeface="Segoe UI" panose="020B0502040204020203" pitchFamily="34" charset="0"/>
              </a:rPr>
              <a:t>SYNC</a:t>
            </a:r>
          </a:p>
        </p:txBody>
      </p:sp>
      <p:sp>
        <p:nvSpPr>
          <p:cNvPr id="9" name="TextBox 8">
            <a:extLst>
              <a:ext uri="{FF2B5EF4-FFF2-40B4-BE49-F238E27FC236}">
                <a16:creationId xmlns:a16="http://schemas.microsoft.com/office/drawing/2014/main" id="{3AE80049-B2B9-C263-80DB-9E6925F03FAA}"/>
              </a:ext>
            </a:extLst>
          </p:cNvPr>
          <p:cNvSpPr txBox="1"/>
          <p:nvPr/>
        </p:nvSpPr>
        <p:spPr>
          <a:xfrm>
            <a:off x="609600" y="4305300"/>
            <a:ext cx="1981200" cy="533400"/>
          </a:xfrm>
          <a:prstGeom prst="rect">
            <a:avLst/>
          </a:prstGeom>
          <a:noFill/>
        </p:spPr>
        <p:txBody>
          <a:bodyPr vert="horz" wrap="square" lIns="50800" tIns="25400" rIns="50800" bIns="25400" rtlCol="0" anchor="t">
            <a:noAutofit/>
          </a:bodyPr>
          <a:lstStyle/>
          <a:p>
            <a:pPr algn="ctr"/>
            <a:r>
              <a:rPr lang="en-US" sz="920">
                <a:solidFill>
                  <a:srgbClr val="667085"/>
                </a:solidFill>
                <a:latin typeface="Segoe UI" panose="020B0502040204020203" pitchFamily="34" charset="0"/>
              </a:rPr>
              <a:t>Latest 14 days</a:t>
            </a:r>
          </a:p>
        </p:txBody>
      </p:sp>
      <p:sp>
        <p:nvSpPr>
          <p:cNvPr id="10" name="Oval 9">
            <a:extLst>
              <a:ext uri="{FF2B5EF4-FFF2-40B4-BE49-F238E27FC236}">
                <a16:creationId xmlns:a16="http://schemas.microsoft.com/office/drawing/2014/main" id="{634D13B0-1981-40CF-A8FD-8956BA8565E0}"/>
              </a:ext>
            </a:extLst>
          </p:cNvPr>
          <p:cNvSpPr/>
          <p:nvPr/>
        </p:nvSpPr>
        <p:spPr>
          <a:xfrm>
            <a:off x="3340100" y="2844800"/>
            <a:ext cx="889000" cy="8890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5F6B4470-CAD6-2001-272C-F5AABC2BE3B3}"/>
              </a:ext>
            </a:extLst>
          </p:cNvPr>
          <p:cNvSpPr txBox="1"/>
          <p:nvPr/>
        </p:nvSpPr>
        <p:spPr>
          <a:xfrm>
            <a:off x="3340100" y="2844800"/>
            <a:ext cx="889000" cy="8890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00:15</a:t>
            </a:r>
          </a:p>
        </p:txBody>
      </p:sp>
      <p:sp>
        <p:nvSpPr>
          <p:cNvPr id="12" name="TextBox 11">
            <a:extLst>
              <a:ext uri="{FF2B5EF4-FFF2-40B4-BE49-F238E27FC236}">
                <a16:creationId xmlns:a16="http://schemas.microsoft.com/office/drawing/2014/main" id="{E1B7D464-E79E-7AED-7754-DE83F95E9A88}"/>
              </a:ext>
            </a:extLst>
          </p:cNvPr>
          <p:cNvSpPr txBox="1"/>
          <p:nvPr/>
        </p:nvSpPr>
        <p:spPr>
          <a:xfrm>
            <a:off x="2794000" y="3924300"/>
            <a:ext cx="1981200" cy="330200"/>
          </a:xfrm>
          <a:prstGeom prst="rect">
            <a:avLst/>
          </a:prstGeom>
          <a:noFill/>
        </p:spPr>
        <p:txBody>
          <a:bodyPr vert="horz" wrap="square" lIns="50800" tIns="25400" rIns="50800" bIns="25400" rtlCol="0" anchor="ctr">
            <a:noAutofit/>
          </a:bodyPr>
          <a:lstStyle/>
          <a:p>
            <a:pPr algn="ctr"/>
            <a:r>
              <a:rPr lang="en-US" sz="1000" b="1">
                <a:solidFill>
                  <a:srgbClr val="078A99"/>
                </a:solidFill>
                <a:latin typeface="Segoe UI" panose="020B0502040204020203" pitchFamily="34" charset="0"/>
              </a:rPr>
              <a:t>SNAPSHOT</a:t>
            </a:r>
          </a:p>
        </p:txBody>
      </p:sp>
      <p:sp>
        <p:nvSpPr>
          <p:cNvPr id="13" name="TextBox 12">
            <a:extLst>
              <a:ext uri="{FF2B5EF4-FFF2-40B4-BE49-F238E27FC236}">
                <a16:creationId xmlns:a16="http://schemas.microsoft.com/office/drawing/2014/main" id="{B7C9DF38-85AE-A49F-3675-65F99E7FA6EA}"/>
              </a:ext>
            </a:extLst>
          </p:cNvPr>
          <p:cNvSpPr txBox="1"/>
          <p:nvPr/>
        </p:nvSpPr>
        <p:spPr>
          <a:xfrm>
            <a:off x="2794000" y="4305300"/>
            <a:ext cx="1981200" cy="533400"/>
          </a:xfrm>
          <a:prstGeom prst="rect">
            <a:avLst/>
          </a:prstGeom>
          <a:noFill/>
        </p:spPr>
        <p:txBody>
          <a:bodyPr vert="horz" wrap="square" lIns="50800" tIns="25400" rIns="50800" bIns="25400" rtlCol="0" anchor="t">
            <a:noAutofit/>
          </a:bodyPr>
          <a:lstStyle/>
          <a:p>
            <a:pPr algn="ctr"/>
            <a:r>
              <a:rPr lang="en-US" sz="920">
                <a:solidFill>
                  <a:srgbClr val="667085"/>
                </a:solidFill>
                <a:latin typeface="Segoe UI" panose="020B0502040204020203" pitchFamily="34" charset="0"/>
              </a:rPr>
              <a:t>Previous day</a:t>
            </a:r>
          </a:p>
        </p:txBody>
      </p:sp>
      <p:sp>
        <p:nvSpPr>
          <p:cNvPr id="14" name="Oval 13">
            <a:extLst>
              <a:ext uri="{FF2B5EF4-FFF2-40B4-BE49-F238E27FC236}">
                <a16:creationId xmlns:a16="http://schemas.microsoft.com/office/drawing/2014/main" id="{7B556141-AC0D-180D-1E7F-ADE4D97FFD6C}"/>
              </a:ext>
            </a:extLst>
          </p:cNvPr>
          <p:cNvSpPr/>
          <p:nvPr/>
        </p:nvSpPr>
        <p:spPr>
          <a:xfrm>
            <a:off x="5524500" y="2844800"/>
            <a:ext cx="889000" cy="8890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EAEE808-F779-7068-32A4-F1CD16C0152A}"/>
              </a:ext>
            </a:extLst>
          </p:cNvPr>
          <p:cNvSpPr txBox="1"/>
          <p:nvPr/>
        </p:nvSpPr>
        <p:spPr>
          <a:xfrm>
            <a:off x="5524500" y="2844800"/>
            <a:ext cx="889000" cy="8890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00:30</a:t>
            </a:r>
          </a:p>
        </p:txBody>
      </p:sp>
      <p:sp>
        <p:nvSpPr>
          <p:cNvPr id="16" name="TextBox 15">
            <a:extLst>
              <a:ext uri="{FF2B5EF4-FFF2-40B4-BE49-F238E27FC236}">
                <a16:creationId xmlns:a16="http://schemas.microsoft.com/office/drawing/2014/main" id="{CA9617AE-F821-F2B2-1089-D2B6D670D5E4}"/>
              </a:ext>
            </a:extLst>
          </p:cNvPr>
          <p:cNvSpPr txBox="1"/>
          <p:nvPr/>
        </p:nvSpPr>
        <p:spPr>
          <a:xfrm>
            <a:off x="4978400" y="3924300"/>
            <a:ext cx="1981200" cy="330200"/>
          </a:xfrm>
          <a:prstGeom prst="rect">
            <a:avLst/>
          </a:prstGeom>
          <a:noFill/>
        </p:spPr>
        <p:txBody>
          <a:bodyPr vert="horz" wrap="square" lIns="50800" tIns="25400" rIns="50800" bIns="25400" rtlCol="0" anchor="ctr">
            <a:noAutofit/>
          </a:bodyPr>
          <a:lstStyle/>
          <a:p>
            <a:pPr algn="ctr"/>
            <a:r>
              <a:rPr lang="en-US" sz="1000" b="1">
                <a:solidFill>
                  <a:srgbClr val="6D3EF2"/>
                </a:solidFill>
                <a:latin typeface="Segoe UI" panose="020B0502040204020203" pitchFamily="34" charset="0"/>
              </a:rPr>
              <a:t>SCORE</a:t>
            </a:r>
          </a:p>
        </p:txBody>
      </p:sp>
      <p:sp>
        <p:nvSpPr>
          <p:cNvPr id="17" name="TextBox 16">
            <a:extLst>
              <a:ext uri="{FF2B5EF4-FFF2-40B4-BE49-F238E27FC236}">
                <a16:creationId xmlns:a16="http://schemas.microsoft.com/office/drawing/2014/main" id="{FF2F6E97-92FE-4039-8C24-3452496EA43F}"/>
              </a:ext>
            </a:extLst>
          </p:cNvPr>
          <p:cNvSpPr txBox="1"/>
          <p:nvPr/>
        </p:nvSpPr>
        <p:spPr>
          <a:xfrm>
            <a:off x="4978400" y="4305300"/>
            <a:ext cx="1981200" cy="533400"/>
          </a:xfrm>
          <a:prstGeom prst="rect">
            <a:avLst/>
          </a:prstGeom>
          <a:noFill/>
        </p:spPr>
        <p:txBody>
          <a:bodyPr vert="horz" wrap="square" lIns="50800" tIns="25400" rIns="50800" bIns="25400" rtlCol="0" anchor="t">
            <a:noAutofit/>
          </a:bodyPr>
          <a:lstStyle/>
          <a:p>
            <a:pPr algn="ctr"/>
            <a:r>
              <a:rPr lang="en-US" sz="920">
                <a:solidFill>
                  <a:srgbClr val="667085"/>
                </a:solidFill>
                <a:latin typeface="Segoe UI" panose="020B0502040204020203" pitchFamily="34" charset="0"/>
              </a:rPr>
              <a:t>Due forecasts</a:t>
            </a:r>
          </a:p>
        </p:txBody>
      </p:sp>
      <p:sp>
        <p:nvSpPr>
          <p:cNvPr id="18" name="Oval 17">
            <a:extLst>
              <a:ext uri="{FF2B5EF4-FFF2-40B4-BE49-F238E27FC236}">
                <a16:creationId xmlns:a16="http://schemas.microsoft.com/office/drawing/2014/main" id="{50410F25-9996-78FD-D162-F981F33662CF}"/>
              </a:ext>
            </a:extLst>
          </p:cNvPr>
          <p:cNvSpPr/>
          <p:nvPr/>
        </p:nvSpPr>
        <p:spPr>
          <a:xfrm>
            <a:off x="7708900" y="2844800"/>
            <a:ext cx="889000" cy="8890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C3F82F5-1F6A-454E-12E2-126A27021D15}"/>
              </a:ext>
            </a:extLst>
          </p:cNvPr>
          <p:cNvSpPr txBox="1"/>
          <p:nvPr/>
        </p:nvSpPr>
        <p:spPr>
          <a:xfrm>
            <a:off x="7708900" y="2844800"/>
            <a:ext cx="889000" cy="8890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00:45</a:t>
            </a:r>
          </a:p>
        </p:txBody>
      </p:sp>
      <p:sp>
        <p:nvSpPr>
          <p:cNvPr id="20" name="TextBox 19">
            <a:extLst>
              <a:ext uri="{FF2B5EF4-FFF2-40B4-BE49-F238E27FC236}">
                <a16:creationId xmlns:a16="http://schemas.microsoft.com/office/drawing/2014/main" id="{983C7E0B-DE74-2B61-DB59-5BD1F423F2DA}"/>
              </a:ext>
            </a:extLst>
          </p:cNvPr>
          <p:cNvSpPr txBox="1"/>
          <p:nvPr/>
        </p:nvSpPr>
        <p:spPr>
          <a:xfrm>
            <a:off x="7162800" y="3924300"/>
            <a:ext cx="1981200" cy="330200"/>
          </a:xfrm>
          <a:prstGeom prst="rect">
            <a:avLst/>
          </a:prstGeom>
          <a:noFill/>
        </p:spPr>
        <p:txBody>
          <a:bodyPr vert="horz" wrap="square" lIns="50800" tIns="25400" rIns="50800" bIns="25400" rtlCol="0" anchor="ctr">
            <a:noAutofit/>
          </a:bodyPr>
          <a:lstStyle/>
          <a:p>
            <a:pPr algn="ctr"/>
            <a:r>
              <a:rPr lang="en-US" sz="1000" b="1">
                <a:solidFill>
                  <a:srgbClr val="0E9F6E"/>
                </a:solidFill>
                <a:latin typeface="Segoe UI" panose="020B0502040204020203" pitchFamily="34" charset="0"/>
              </a:rPr>
              <a:t>RECOMMEND</a:t>
            </a:r>
          </a:p>
        </p:txBody>
      </p:sp>
      <p:sp>
        <p:nvSpPr>
          <p:cNvPr id="21" name="TextBox 20">
            <a:extLst>
              <a:ext uri="{FF2B5EF4-FFF2-40B4-BE49-F238E27FC236}">
                <a16:creationId xmlns:a16="http://schemas.microsoft.com/office/drawing/2014/main" id="{BFABF9FA-43F9-6085-0F13-68B366D3DA48}"/>
              </a:ext>
            </a:extLst>
          </p:cNvPr>
          <p:cNvSpPr txBox="1"/>
          <p:nvPr/>
        </p:nvSpPr>
        <p:spPr>
          <a:xfrm>
            <a:off x="7162800" y="4305300"/>
            <a:ext cx="1981200" cy="533400"/>
          </a:xfrm>
          <a:prstGeom prst="rect">
            <a:avLst/>
          </a:prstGeom>
          <a:noFill/>
        </p:spPr>
        <p:txBody>
          <a:bodyPr vert="horz" wrap="square" lIns="50800" tIns="25400" rIns="50800" bIns="25400" rtlCol="0" anchor="t">
            <a:noAutofit/>
          </a:bodyPr>
          <a:lstStyle/>
          <a:p>
            <a:pPr algn="ctr"/>
            <a:r>
              <a:rPr lang="en-US" sz="920">
                <a:solidFill>
                  <a:srgbClr val="667085"/>
                </a:solidFill>
                <a:latin typeface="Segoe UI" panose="020B0502040204020203" pitchFamily="34" charset="0"/>
              </a:rPr>
              <a:t>Refresh queue</a:t>
            </a:r>
          </a:p>
        </p:txBody>
      </p:sp>
      <p:sp>
        <p:nvSpPr>
          <p:cNvPr id="22" name="Oval 21">
            <a:extLst>
              <a:ext uri="{FF2B5EF4-FFF2-40B4-BE49-F238E27FC236}">
                <a16:creationId xmlns:a16="http://schemas.microsoft.com/office/drawing/2014/main" id="{38D854CA-BCC8-0FC4-0AA0-F9C726AC3D1E}"/>
              </a:ext>
            </a:extLst>
          </p:cNvPr>
          <p:cNvSpPr/>
          <p:nvPr/>
        </p:nvSpPr>
        <p:spPr>
          <a:xfrm>
            <a:off x="9893300" y="2844800"/>
            <a:ext cx="889000" cy="889000"/>
          </a:xfrm>
          <a:prstGeom prst="ellipse">
            <a:avLst/>
          </a:prstGeom>
          <a:solidFill>
            <a:srgbClr val="E58A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E4DCED4C-6C01-B735-CEA2-B03A02317CDD}"/>
              </a:ext>
            </a:extLst>
          </p:cNvPr>
          <p:cNvSpPr txBox="1"/>
          <p:nvPr/>
        </p:nvSpPr>
        <p:spPr>
          <a:xfrm>
            <a:off x="9893300" y="2844800"/>
            <a:ext cx="889000" cy="889000"/>
          </a:xfrm>
          <a:prstGeom prst="rect">
            <a:avLst/>
          </a:prstGeom>
          <a:noFill/>
        </p:spPr>
        <p:txBody>
          <a:bodyPr vert="horz" wrap="square" lIns="50800" tIns="25400" rIns="50800" bIns="25400" rtlCol="0" anchor="ctr">
            <a:noAutofit/>
          </a:bodyPr>
          <a:lstStyle/>
          <a:p>
            <a:pPr algn="ctr"/>
            <a:r>
              <a:rPr lang="en-US" sz="750" b="1">
                <a:solidFill>
                  <a:srgbClr val="FFFFFF"/>
                </a:solidFill>
                <a:latin typeface="Segoe UI" panose="020B0502040204020203" pitchFamily="34" charset="0"/>
              </a:rPr>
              <a:t>MONTHLY</a:t>
            </a:r>
          </a:p>
        </p:txBody>
      </p:sp>
      <p:sp>
        <p:nvSpPr>
          <p:cNvPr id="24" name="TextBox 23">
            <a:extLst>
              <a:ext uri="{FF2B5EF4-FFF2-40B4-BE49-F238E27FC236}">
                <a16:creationId xmlns:a16="http://schemas.microsoft.com/office/drawing/2014/main" id="{4865EA96-EE51-CFAC-BAFC-D2DD5E79D0A1}"/>
              </a:ext>
            </a:extLst>
          </p:cNvPr>
          <p:cNvSpPr txBox="1"/>
          <p:nvPr/>
        </p:nvSpPr>
        <p:spPr>
          <a:xfrm>
            <a:off x="9347200" y="3924300"/>
            <a:ext cx="1981200" cy="330200"/>
          </a:xfrm>
          <a:prstGeom prst="rect">
            <a:avLst/>
          </a:prstGeom>
          <a:noFill/>
        </p:spPr>
        <p:txBody>
          <a:bodyPr vert="horz" wrap="square" lIns="50800" tIns="25400" rIns="50800" bIns="25400" rtlCol="0" anchor="ctr">
            <a:noAutofit/>
          </a:bodyPr>
          <a:lstStyle/>
          <a:p>
            <a:pPr algn="ctr"/>
            <a:r>
              <a:rPr lang="en-US" sz="1000" b="1">
                <a:solidFill>
                  <a:srgbClr val="E58A00"/>
                </a:solidFill>
                <a:latin typeface="Segoe UI" panose="020B0502040204020203" pitchFamily="34" charset="0"/>
              </a:rPr>
              <a:t>LEARN</a:t>
            </a:r>
          </a:p>
        </p:txBody>
      </p:sp>
      <p:sp>
        <p:nvSpPr>
          <p:cNvPr id="25" name="TextBox 24">
            <a:extLst>
              <a:ext uri="{FF2B5EF4-FFF2-40B4-BE49-F238E27FC236}">
                <a16:creationId xmlns:a16="http://schemas.microsoft.com/office/drawing/2014/main" id="{E958C17D-D0B8-30D8-AA7C-6B38B45263B7}"/>
              </a:ext>
            </a:extLst>
          </p:cNvPr>
          <p:cNvSpPr txBox="1"/>
          <p:nvPr/>
        </p:nvSpPr>
        <p:spPr>
          <a:xfrm>
            <a:off x="9347200" y="4305300"/>
            <a:ext cx="1981200" cy="533400"/>
          </a:xfrm>
          <a:prstGeom prst="rect">
            <a:avLst/>
          </a:prstGeom>
          <a:noFill/>
        </p:spPr>
        <p:txBody>
          <a:bodyPr vert="horz" wrap="square" lIns="50800" tIns="25400" rIns="50800" bIns="25400" rtlCol="0" anchor="t">
            <a:noAutofit/>
          </a:bodyPr>
          <a:lstStyle/>
          <a:p>
            <a:pPr algn="ctr"/>
            <a:r>
              <a:rPr lang="en-US" sz="920">
                <a:solidFill>
                  <a:srgbClr val="667085"/>
                </a:solidFill>
                <a:latin typeface="Segoe UI" panose="020B0502040204020203" pitchFamily="34" charset="0"/>
              </a:rPr>
              <a:t>Supplier 01:00</a:t>
            </a:r>
          </a:p>
          <a:p>
            <a:pPr algn="ctr"/>
            <a:r>
              <a:rPr lang="en-US" sz="920">
                <a:solidFill>
                  <a:srgbClr val="667085"/>
                </a:solidFill>
                <a:latin typeface="Segoe UI" panose="020B0502040204020203" pitchFamily="34" charset="0"/>
              </a:rPr>
              <a:t>Models 02:00</a:t>
            </a:r>
          </a:p>
        </p:txBody>
      </p:sp>
      <p:sp>
        <p:nvSpPr>
          <p:cNvPr id="26" name="Rectangle: Rounded Corners 25">
            <a:extLst>
              <a:ext uri="{FF2B5EF4-FFF2-40B4-BE49-F238E27FC236}">
                <a16:creationId xmlns:a16="http://schemas.microsoft.com/office/drawing/2014/main" id="{FEE0FA32-0643-EB63-BECC-FB4727FC2153}"/>
              </a:ext>
            </a:extLst>
          </p:cNvPr>
          <p:cNvSpPr/>
          <p:nvPr/>
        </p:nvSpPr>
        <p:spPr>
          <a:xfrm>
            <a:off x="609600" y="5207000"/>
            <a:ext cx="10972800" cy="812800"/>
          </a:xfrm>
          <a:prstGeom prst="roundRect">
            <a:avLst/>
          </a:prstGeom>
          <a:solidFill>
            <a:srgbClr val="FFF2D9"/>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CCB1363-6E28-0155-DAC4-E3B526E223A9}"/>
              </a:ext>
            </a:extLst>
          </p:cNvPr>
          <p:cNvSpPr txBox="1"/>
          <p:nvPr/>
        </p:nvSpPr>
        <p:spPr>
          <a:xfrm>
            <a:off x="838200" y="5397500"/>
            <a:ext cx="1905000" cy="317500"/>
          </a:xfrm>
          <a:prstGeom prst="rect">
            <a:avLst/>
          </a:prstGeom>
          <a:noFill/>
        </p:spPr>
        <p:txBody>
          <a:bodyPr vert="horz" wrap="square" lIns="50800" tIns="25400" rIns="50800" bIns="25400" rtlCol="0" anchor="ctr">
            <a:noAutofit/>
          </a:bodyPr>
          <a:lstStyle/>
          <a:p>
            <a:r>
              <a:rPr lang="en-US" sz="1100" b="1">
                <a:solidFill>
                  <a:srgbClr val="E58A00"/>
                </a:solidFill>
                <a:latin typeface="Segoe UI" panose="020B0502040204020203" pitchFamily="34" charset="0"/>
              </a:rPr>
              <a:t>Operating requirement</a:t>
            </a:r>
          </a:p>
        </p:txBody>
      </p:sp>
      <p:sp>
        <p:nvSpPr>
          <p:cNvPr id="28" name="TextBox 27">
            <a:extLst>
              <a:ext uri="{FF2B5EF4-FFF2-40B4-BE49-F238E27FC236}">
                <a16:creationId xmlns:a16="http://schemas.microsoft.com/office/drawing/2014/main" id="{13C9311C-04D9-0A31-CD35-126197825547}"/>
              </a:ext>
            </a:extLst>
          </p:cNvPr>
          <p:cNvSpPr txBox="1"/>
          <p:nvPr/>
        </p:nvSpPr>
        <p:spPr>
          <a:xfrm>
            <a:off x="2679700" y="5308600"/>
            <a:ext cx="8636000" cy="495300"/>
          </a:xfrm>
          <a:prstGeom prst="rect">
            <a:avLst/>
          </a:prstGeom>
          <a:noFill/>
        </p:spPr>
        <p:txBody>
          <a:bodyPr vert="horz" wrap="square" lIns="50800" tIns="25400" rIns="50800" bIns="25400" rtlCol="0" anchor="ctr">
            <a:noAutofit/>
          </a:bodyPr>
          <a:lstStyle/>
          <a:p>
            <a:r>
              <a:rPr lang="en-US" sz="1020" b="1">
                <a:solidFill>
                  <a:srgbClr val="0B1536"/>
                </a:solidFill>
                <a:latin typeface="Segoe UI" panose="020B0502040204020203" pitchFamily="34" charset="0"/>
              </a:rPr>
              <a:t>Host cron + supervised queue + supervised Python + alerts. Snapshot/recommendation jobs still follow the legacy inventory path until stock mapping is resolved.</a:t>
            </a:r>
          </a:p>
        </p:txBody>
      </p:sp>
      <p:sp>
        <p:nvSpPr>
          <p:cNvPr id="29" name="TextBox 28">
            <a:extLst>
              <a:ext uri="{FF2B5EF4-FFF2-40B4-BE49-F238E27FC236}">
                <a16:creationId xmlns:a16="http://schemas.microsoft.com/office/drawing/2014/main" id="{7CEC3550-35B3-D415-740F-FA94DDE3B595}"/>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0" name="TextBox 29">
            <a:extLst>
              <a:ext uri="{FF2B5EF4-FFF2-40B4-BE49-F238E27FC236}">
                <a16:creationId xmlns:a16="http://schemas.microsoft.com/office/drawing/2014/main" id="{6E9CE0CB-B4F6-CBDE-E7DE-DB9041F6F55A}"/>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17</a:t>
            </a:r>
          </a:p>
        </p:txBody>
      </p:sp>
    </p:spTree>
    <p:extLst>
      <p:ext uri="{BB962C8B-B14F-4D97-AF65-F5344CB8AC3E}">
        <p14:creationId xmlns:p14="http://schemas.microsoft.com/office/powerpoint/2010/main" val="32372144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697A54-2073-7B59-B22F-A06EB275A15A}"/>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TECHNICAL ARCHITECTURE</a:t>
            </a:r>
          </a:p>
        </p:txBody>
      </p:sp>
      <p:sp>
        <p:nvSpPr>
          <p:cNvPr id="3" name="TextBox 2">
            <a:extLst>
              <a:ext uri="{FF2B5EF4-FFF2-40B4-BE49-F238E27FC236}">
                <a16:creationId xmlns:a16="http://schemas.microsoft.com/office/drawing/2014/main" id="{8EBAD74A-B6F4-D68F-3993-0DDECC35775E}"/>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Two applications, two runtimes, one analytical experience</a:t>
            </a:r>
          </a:p>
        </p:txBody>
      </p:sp>
      <p:sp>
        <p:nvSpPr>
          <p:cNvPr id="4" name="TextBox 3">
            <a:extLst>
              <a:ext uri="{FF2B5EF4-FFF2-40B4-BE49-F238E27FC236}">
                <a16:creationId xmlns:a16="http://schemas.microsoft.com/office/drawing/2014/main" id="{5BD3892E-011A-1DED-A5C0-954FE523273D}"/>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Laravel owns orchestration; Python provides inference; BuyAbans remains external truth.</a:t>
            </a:r>
          </a:p>
        </p:txBody>
      </p:sp>
      <p:sp>
        <p:nvSpPr>
          <p:cNvPr id="5" name="Rectangle: Rounded Corners 4">
            <a:extLst>
              <a:ext uri="{FF2B5EF4-FFF2-40B4-BE49-F238E27FC236}">
                <a16:creationId xmlns:a16="http://schemas.microsoft.com/office/drawing/2014/main" id="{BE7C9A69-4D3C-F9A0-7B6C-EE813FA37948}"/>
              </a:ext>
            </a:extLst>
          </p:cNvPr>
          <p:cNvSpPr/>
          <p:nvPr/>
        </p:nvSpPr>
        <p:spPr>
          <a:xfrm>
            <a:off x="609600" y="1892300"/>
            <a:ext cx="2667000" cy="2387600"/>
          </a:xfrm>
          <a:prstGeom prst="roundRect">
            <a:avLst/>
          </a:prstGeom>
          <a:solidFill>
            <a:srgbClr val="E8F1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8A02D8FB-3893-2979-1E70-DC9ED0E1B312}"/>
              </a:ext>
            </a:extLst>
          </p:cNvPr>
          <p:cNvSpPr/>
          <p:nvPr/>
        </p:nvSpPr>
        <p:spPr>
          <a:xfrm>
            <a:off x="609600" y="1892300"/>
            <a:ext cx="26670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AF41E9C0-07A9-A391-FEBD-E3CDB7EEACA0}"/>
              </a:ext>
            </a:extLst>
          </p:cNvPr>
          <p:cNvSpPr txBox="1"/>
          <p:nvPr/>
        </p:nvSpPr>
        <p:spPr>
          <a:xfrm>
            <a:off x="838200" y="2146300"/>
            <a:ext cx="220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BROWSER</a:t>
            </a:r>
          </a:p>
        </p:txBody>
      </p:sp>
      <p:sp>
        <p:nvSpPr>
          <p:cNvPr id="8" name="TextBox 7">
            <a:extLst>
              <a:ext uri="{FF2B5EF4-FFF2-40B4-BE49-F238E27FC236}">
                <a16:creationId xmlns:a16="http://schemas.microsoft.com/office/drawing/2014/main" id="{FABCED01-9172-19C4-7675-C45D50771725}"/>
              </a:ext>
            </a:extLst>
          </p:cNvPr>
          <p:cNvSpPr txBox="1"/>
          <p:nvPr/>
        </p:nvSpPr>
        <p:spPr>
          <a:xfrm>
            <a:off x="838200" y="2667000"/>
            <a:ext cx="2209800" cy="14351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React 19 + Inertia v3</a:t>
            </a:r>
          </a:p>
          <a:p>
            <a:r>
              <a:rPr lang="en-US" sz="1000">
                <a:solidFill>
                  <a:srgbClr val="344054"/>
                </a:solidFill>
                <a:latin typeface="Segoe UI" panose="020B0502040204020203" pitchFamily="34" charset="0"/>
              </a:rPr>
              <a:t>Bootstrap 5.3 + SCSS</a:t>
            </a:r>
          </a:p>
          <a:p>
            <a:r>
              <a:rPr lang="en-US" sz="1000">
                <a:solidFill>
                  <a:srgbClr val="344054"/>
                </a:solidFill>
                <a:latin typeface="Segoe UI" panose="020B0502040204020203" pitchFamily="34" charset="0"/>
              </a:rPr>
              <a:t>Dashboard, sync, forecasts, decisions</a:t>
            </a:r>
          </a:p>
        </p:txBody>
      </p:sp>
      <p:cxnSp>
        <p:nvCxnSpPr>
          <p:cNvPr id="9" name="Straight Connector 8">
            <a:extLst>
              <a:ext uri="{FF2B5EF4-FFF2-40B4-BE49-F238E27FC236}">
                <a16:creationId xmlns:a16="http://schemas.microsoft.com/office/drawing/2014/main" id="{9791693A-4CD4-16CA-1410-5BFDD1D130AD}"/>
              </a:ext>
            </a:extLst>
          </p:cNvPr>
          <p:cNvCxnSpPr/>
          <p:nvPr/>
        </p:nvCxnSpPr>
        <p:spPr>
          <a:xfrm>
            <a:off x="3327400" y="3086100"/>
            <a:ext cx="850900" cy="0"/>
          </a:xfrm>
          <a:prstGeom prst="line">
            <a:avLst/>
          </a:prstGeom>
          <a:ln w="38100">
            <a:solidFill>
              <a:srgbClr val="1769E0"/>
            </a:solidFill>
            <a:tailEnd type="arrow"/>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86FEBA17-89C1-661A-CA38-D31931936FC4}"/>
              </a:ext>
            </a:extLst>
          </p:cNvPr>
          <p:cNvSpPr/>
          <p:nvPr/>
        </p:nvSpPr>
        <p:spPr>
          <a:xfrm>
            <a:off x="4254500" y="1701800"/>
            <a:ext cx="3683000" cy="2768600"/>
          </a:xfrm>
          <a:prstGeom prst="roundRect">
            <a:avLst/>
          </a:prstGeom>
          <a:solidFill>
            <a:srgbClr val="EEE9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7E4D25D3-5B9C-1B11-3B9E-9A0B289F8CB9}"/>
              </a:ext>
            </a:extLst>
          </p:cNvPr>
          <p:cNvSpPr/>
          <p:nvPr/>
        </p:nvSpPr>
        <p:spPr>
          <a:xfrm>
            <a:off x="4254500" y="1701800"/>
            <a:ext cx="36830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5EB401-AE6D-84E1-BF34-FF414C12DD0E}"/>
              </a:ext>
            </a:extLst>
          </p:cNvPr>
          <p:cNvSpPr txBox="1"/>
          <p:nvPr/>
        </p:nvSpPr>
        <p:spPr>
          <a:xfrm>
            <a:off x="4483100" y="1955800"/>
            <a:ext cx="3225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LARAVEL 13</a:t>
            </a:r>
          </a:p>
        </p:txBody>
      </p:sp>
      <p:sp>
        <p:nvSpPr>
          <p:cNvPr id="13" name="TextBox 12">
            <a:extLst>
              <a:ext uri="{FF2B5EF4-FFF2-40B4-BE49-F238E27FC236}">
                <a16:creationId xmlns:a16="http://schemas.microsoft.com/office/drawing/2014/main" id="{A90378F2-2450-3585-FE3F-85DCDCF0E979}"/>
              </a:ext>
            </a:extLst>
          </p:cNvPr>
          <p:cNvSpPr txBox="1"/>
          <p:nvPr/>
        </p:nvSpPr>
        <p:spPr>
          <a:xfrm>
            <a:off x="4483100" y="2476500"/>
            <a:ext cx="3225800" cy="1816100"/>
          </a:xfrm>
          <a:prstGeom prst="rect">
            <a:avLst/>
          </a:prstGeom>
          <a:noFill/>
        </p:spPr>
        <p:txBody>
          <a:bodyPr vert="horz" wrap="square" lIns="50800" tIns="25400" rIns="50800" bIns="25400" rtlCol="0" anchor="t">
            <a:noAutofit/>
          </a:bodyPr>
          <a:lstStyle/>
          <a:p>
            <a:r>
              <a:rPr lang="en-US" sz="1040">
                <a:solidFill>
                  <a:srgbClr val="344054"/>
                </a:solidFill>
                <a:latin typeface="Segoe UI" panose="020B0502040204020203" pitchFamily="34" charset="0"/>
              </a:rPr>
              <a:t>Authentication + verified access</a:t>
            </a:r>
          </a:p>
          <a:p>
            <a:r>
              <a:rPr lang="en-US" sz="1040">
                <a:solidFill>
                  <a:srgbClr val="344054"/>
                </a:solidFill>
                <a:latin typeface="Segoe UI" panose="020B0502040204020203" pitchFamily="34" charset="0"/>
              </a:rPr>
              <a:t>Controller -&gt; Facade -&gt; Service</a:t>
            </a:r>
          </a:p>
          <a:p>
            <a:r>
              <a:rPr lang="en-US" sz="1040">
                <a:solidFill>
                  <a:srgbClr val="344054"/>
                </a:solidFill>
                <a:latin typeface="Segoe UI" panose="020B0502040204020203" pitchFamily="34" charset="0"/>
              </a:rPr>
              <a:t>Sync, queue and scheduler</a:t>
            </a:r>
          </a:p>
          <a:p>
            <a:r>
              <a:rPr lang="en-US" sz="1040">
                <a:solidFill>
                  <a:srgbClr val="344054"/>
                </a:solidFill>
                <a:latin typeface="Segoe UI" panose="020B0502040204020203" pitchFamily="34" charset="0"/>
              </a:rPr>
              <a:t>Read-only business routes</a:t>
            </a:r>
          </a:p>
        </p:txBody>
      </p:sp>
      <p:cxnSp>
        <p:nvCxnSpPr>
          <p:cNvPr id="14" name="Straight Connector 13">
            <a:extLst>
              <a:ext uri="{FF2B5EF4-FFF2-40B4-BE49-F238E27FC236}">
                <a16:creationId xmlns:a16="http://schemas.microsoft.com/office/drawing/2014/main" id="{93135B60-5FC3-7E40-1128-4549FE3B7A18}"/>
              </a:ext>
            </a:extLst>
          </p:cNvPr>
          <p:cNvCxnSpPr/>
          <p:nvPr/>
        </p:nvCxnSpPr>
        <p:spPr>
          <a:xfrm flipV="1">
            <a:off x="7988300" y="2209800"/>
            <a:ext cx="850900" cy="355600"/>
          </a:xfrm>
          <a:prstGeom prst="line">
            <a:avLst/>
          </a:prstGeom>
          <a:ln w="38100">
            <a:solidFill>
              <a:srgbClr val="078A99"/>
            </a:solidFill>
            <a:tailEnd type="arrow"/>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E55003B0-3CD0-9E42-239B-9264B3530B89}"/>
              </a:ext>
            </a:extLst>
          </p:cNvPr>
          <p:cNvCxnSpPr/>
          <p:nvPr/>
        </p:nvCxnSpPr>
        <p:spPr>
          <a:xfrm>
            <a:off x="7988300" y="3594100"/>
            <a:ext cx="850900" cy="355600"/>
          </a:xfrm>
          <a:prstGeom prst="line">
            <a:avLst/>
          </a:prstGeom>
          <a:ln w="38100">
            <a:solidFill>
              <a:srgbClr val="6D3EF2"/>
            </a:solidFill>
            <a:tailEnd type="arrow"/>
          </a:ln>
        </p:spPr>
        <p:style>
          <a:lnRef idx="2">
            <a:schemeClr val="accent1"/>
          </a:lnRef>
          <a:fillRef idx="0">
            <a:schemeClr val="accent1"/>
          </a:fillRef>
          <a:effectRef idx="1">
            <a:schemeClr val="accent1"/>
          </a:effectRef>
          <a:fontRef idx="minor">
            <a:schemeClr val="tx1"/>
          </a:fontRef>
        </p:style>
      </p:cxnSp>
      <p:sp>
        <p:nvSpPr>
          <p:cNvPr id="16" name="Rectangle: Rounded Corners 15">
            <a:extLst>
              <a:ext uri="{FF2B5EF4-FFF2-40B4-BE49-F238E27FC236}">
                <a16:creationId xmlns:a16="http://schemas.microsoft.com/office/drawing/2014/main" id="{454A4D36-FD75-A2C2-45CB-1479A1EEDB3C}"/>
              </a:ext>
            </a:extLst>
          </p:cNvPr>
          <p:cNvSpPr/>
          <p:nvPr/>
        </p:nvSpPr>
        <p:spPr>
          <a:xfrm>
            <a:off x="8915400" y="1524000"/>
            <a:ext cx="2667000" cy="1905000"/>
          </a:xfrm>
          <a:prstGeom prst="roundRect">
            <a:avLst/>
          </a:prstGeom>
          <a:solidFill>
            <a:srgbClr val="E4F7F8"/>
          </a:solidFill>
          <a:ln w="12700">
            <a:solidFill>
              <a:srgbClr val="078A99"/>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466D3943-9397-AE47-7018-40D9CCE0940F}"/>
              </a:ext>
            </a:extLst>
          </p:cNvPr>
          <p:cNvSpPr/>
          <p:nvPr/>
        </p:nvSpPr>
        <p:spPr>
          <a:xfrm>
            <a:off x="8915400" y="1524000"/>
            <a:ext cx="2667000" cy="1016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76FA4A67-A2AE-04EB-578C-B7553CF1D12B}"/>
              </a:ext>
            </a:extLst>
          </p:cNvPr>
          <p:cNvSpPr txBox="1"/>
          <p:nvPr/>
        </p:nvSpPr>
        <p:spPr>
          <a:xfrm>
            <a:off x="9144000" y="1778000"/>
            <a:ext cx="220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BUYABANS</a:t>
            </a:r>
          </a:p>
        </p:txBody>
      </p:sp>
      <p:sp>
        <p:nvSpPr>
          <p:cNvPr id="19" name="TextBox 18">
            <a:extLst>
              <a:ext uri="{FF2B5EF4-FFF2-40B4-BE49-F238E27FC236}">
                <a16:creationId xmlns:a16="http://schemas.microsoft.com/office/drawing/2014/main" id="{207139AF-3783-4CB7-18B7-BDC6C60EED54}"/>
              </a:ext>
            </a:extLst>
          </p:cNvPr>
          <p:cNvSpPr txBox="1"/>
          <p:nvPr/>
        </p:nvSpPr>
        <p:spPr>
          <a:xfrm>
            <a:off x="9144000" y="2298700"/>
            <a:ext cx="2209800" cy="952500"/>
          </a:xfrm>
          <a:prstGeom prst="rect">
            <a:avLst/>
          </a:prstGeom>
          <a:noFill/>
        </p:spPr>
        <p:txBody>
          <a:bodyPr vert="horz" wrap="square" lIns="50800" tIns="25400" rIns="50800" bIns="25400" rtlCol="0" anchor="t">
            <a:noAutofit/>
          </a:bodyPr>
          <a:lstStyle/>
          <a:p>
            <a:r>
              <a:rPr lang="en-US" sz="980">
                <a:solidFill>
                  <a:srgbClr val="344054"/>
                </a:solidFill>
                <a:latin typeface="Segoe UI" panose="020B0502040204020203" pitchFamily="34" charset="0"/>
              </a:rPr>
              <a:t>Laravel 10 / Bagisto</a:t>
            </a:r>
          </a:p>
          <a:p>
            <a:r>
              <a:rPr lang="en-US" sz="980">
                <a:solidFill>
                  <a:srgbClr val="344054"/>
                </a:solidFill>
                <a:latin typeface="Segoe UI" panose="020B0502040204020203" pitchFamily="34" charset="0"/>
              </a:rPr>
              <a:t>Passport client credentials</a:t>
            </a:r>
          </a:p>
          <a:p>
            <a:r>
              <a:rPr lang="en-US" sz="980">
                <a:solidFill>
                  <a:srgbClr val="344054"/>
                </a:solidFill>
                <a:latin typeface="Segoe UI" panose="020B0502040204020203" pitchFamily="34" charset="0"/>
              </a:rPr>
              <a:t>9 read-only endpoints</a:t>
            </a:r>
          </a:p>
        </p:txBody>
      </p:sp>
      <p:sp>
        <p:nvSpPr>
          <p:cNvPr id="20" name="Rectangle: Rounded Corners 19">
            <a:extLst>
              <a:ext uri="{FF2B5EF4-FFF2-40B4-BE49-F238E27FC236}">
                <a16:creationId xmlns:a16="http://schemas.microsoft.com/office/drawing/2014/main" id="{59EE305B-7C1E-B815-311C-DC5F93AFD4D1}"/>
              </a:ext>
            </a:extLst>
          </p:cNvPr>
          <p:cNvSpPr/>
          <p:nvPr/>
        </p:nvSpPr>
        <p:spPr>
          <a:xfrm>
            <a:off x="8915400" y="3708400"/>
            <a:ext cx="2667000" cy="1905000"/>
          </a:xfrm>
          <a:prstGeom prst="roundRect">
            <a:avLst/>
          </a:prstGeom>
          <a:solidFill>
            <a:srgbClr val="EEE9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98277ED8-6B8F-0A39-5315-1199E20390D9}"/>
              </a:ext>
            </a:extLst>
          </p:cNvPr>
          <p:cNvSpPr/>
          <p:nvPr/>
        </p:nvSpPr>
        <p:spPr>
          <a:xfrm>
            <a:off x="8915400" y="3708400"/>
            <a:ext cx="2667000" cy="1016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A70A362-93B2-96A5-8C6B-2220ADFB1E1C}"/>
              </a:ext>
            </a:extLst>
          </p:cNvPr>
          <p:cNvSpPr txBox="1"/>
          <p:nvPr/>
        </p:nvSpPr>
        <p:spPr>
          <a:xfrm>
            <a:off x="9144000" y="3962400"/>
            <a:ext cx="220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PYTHON ML</a:t>
            </a:r>
          </a:p>
        </p:txBody>
      </p:sp>
      <p:sp>
        <p:nvSpPr>
          <p:cNvPr id="23" name="TextBox 22">
            <a:extLst>
              <a:ext uri="{FF2B5EF4-FFF2-40B4-BE49-F238E27FC236}">
                <a16:creationId xmlns:a16="http://schemas.microsoft.com/office/drawing/2014/main" id="{8F2B4493-ADF9-F3FC-BA59-DB67B0EF7F00}"/>
              </a:ext>
            </a:extLst>
          </p:cNvPr>
          <p:cNvSpPr txBox="1"/>
          <p:nvPr/>
        </p:nvSpPr>
        <p:spPr>
          <a:xfrm>
            <a:off x="9144000" y="4483100"/>
            <a:ext cx="2209800" cy="952500"/>
          </a:xfrm>
          <a:prstGeom prst="rect">
            <a:avLst/>
          </a:prstGeom>
          <a:noFill/>
        </p:spPr>
        <p:txBody>
          <a:bodyPr vert="horz" wrap="square" lIns="50800" tIns="25400" rIns="50800" bIns="25400" rtlCol="0" anchor="t">
            <a:noAutofit/>
          </a:bodyPr>
          <a:lstStyle/>
          <a:p>
            <a:r>
              <a:rPr lang="en-US" sz="1000">
                <a:solidFill>
                  <a:srgbClr val="344054"/>
                </a:solidFill>
                <a:latin typeface="Segoe UI" panose="020B0502040204020203" pitchFamily="34" charset="0"/>
              </a:rPr>
              <a:t>FastAPI on :8090</a:t>
            </a:r>
          </a:p>
          <a:p>
            <a:r>
              <a:rPr lang="en-US" sz="1000">
                <a:solidFill>
                  <a:srgbClr val="344054"/>
                </a:solidFill>
                <a:latin typeface="Segoe UI" panose="020B0502040204020203" pitchFamily="34" charset="0"/>
              </a:rPr>
              <a:t>EWMA, seasonal naive</a:t>
            </a:r>
          </a:p>
          <a:p>
            <a:r>
              <a:rPr lang="en-US" sz="1000">
                <a:solidFill>
                  <a:srgbClr val="344054"/>
                </a:solidFill>
                <a:latin typeface="Segoe UI" panose="020B0502040204020203" pitchFamily="34" charset="0"/>
              </a:rPr>
              <a:t>TFT and DeepAR</a:t>
            </a:r>
          </a:p>
        </p:txBody>
      </p:sp>
      <p:sp>
        <p:nvSpPr>
          <p:cNvPr id="24" name="Rectangle: Rounded Corners 23">
            <a:extLst>
              <a:ext uri="{FF2B5EF4-FFF2-40B4-BE49-F238E27FC236}">
                <a16:creationId xmlns:a16="http://schemas.microsoft.com/office/drawing/2014/main" id="{33AED41F-CB1A-C2E3-42F1-B079D086574D}"/>
              </a:ext>
            </a:extLst>
          </p:cNvPr>
          <p:cNvSpPr/>
          <p:nvPr/>
        </p:nvSpPr>
        <p:spPr>
          <a:xfrm>
            <a:off x="4254500" y="4940300"/>
            <a:ext cx="3683000" cy="1143000"/>
          </a:xfrm>
          <a:prstGeom prst="roundRect">
            <a:avLst/>
          </a:prstGeom>
          <a:solidFill>
            <a:srgbClr val="FFFFFF"/>
          </a:solidFill>
          <a:ln w="12700">
            <a:solidFill>
              <a:srgbClr val="0B1536"/>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0A0B9891-E311-95F2-051B-5DE5548030FC}"/>
              </a:ext>
            </a:extLst>
          </p:cNvPr>
          <p:cNvSpPr/>
          <p:nvPr/>
        </p:nvSpPr>
        <p:spPr>
          <a:xfrm>
            <a:off x="4254500" y="4940300"/>
            <a:ext cx="3683000" cy="1016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516150C-759A-FD2B-7886-477E77746AD6}"/>
              </a:ext>
            </a:extLst>
          </p:cNvPr>
          <p:cNvSpPr txBox="1"/>
          <p:nvPr/>
        </p:nvSpPr>
        <p:spPr>
          <a:xfrm>
            <a:off x="4483100" y="5194300"/>
            <a:ext cx="3225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MYSQL + DATABASE QUEUE</a:t>
            </a:r>
          </a:p>
        </p:txBody>
      </p:sp>
      <p:sp>
        <p:nvSpPr>
          <p:cNvPr id="27" name="TextBox 26">
            <a:extLst>
              <a:ext uri="{FF2B5EF4-FFF2-40B4-BE49-F238E27FC236}">
                <a16:creationId xmlns:a16="http://schemas.microsoft.com/office/drawing/2014/main" id="{D79C1877-B1DA-4A17-AB3D-831F1020DC8D}"/>
              </a:ext>
            </a:extLst>
          </p:cNvPr>
          <p:cNvSpPr txBox="1"/>
          <p:nvPr/>
        </p:nvSpPr>
        <p:spPr>
          <a:xfrm>
            <a:off x="4483100" y="5715000"/>
            <a:ext cx="3225800" cy="190500"/>
          </a:xfrm>
          <a:prstGeom prst="rect">
            <a:avLst/>
          </a:prstGeom>
          <a:noFill/>
        </p:spPr>
        <p:txBody>
          <a:bodyPr vert="horz" wrap="square" lIns="50800" tIns="25400" rIns="50800" bIns="25400" rtlCol="0" anchor="t">
            <a:noAutofit/>
          </a:bodyPr>
          <a:lstStyle/>
          <a:p>
            <a:r>
              <a:rPr lang="en-US" sz="920">
                <a:solidFill>
                  <a:srgbClr val="344054"/>
                </a:solidFill>
                <a:latin typeface="Segoe UI" panose="020B0502040204020203" pitchFamily="34" charset="0"/>
              </a:rPr>
              <a:t>Synced catalog / demand / stock</a:t>
            </a:r>
          </a:p>
          <a:p>
            <a:r>
              <a:rPr lang="en-US" sz="920">
                <a:solidFill>
                  <a:srgbClr val="344054"/>
                </a:solidFill>
                <a:latin typeface="Segoe UI" panose="020B0502040204020203" pitchFamily="34" charset="0"/>
              </a:rPr>
              <a:t>Forecasts, scores, runs and decisions</a:t>
            </a:r>
          </a:p>
        </p:txBody>
      </p:sp>
      <p:cxnSp>
        <p:nvCxnSpPr>
          <p:cNvPr id="28" name="Straight Connector 27">
            <a:extLst>
              <a:ext uri="{FF2B5EF4-FFF2-40B4-BE49-F238E27FC236}">
                <a16:creationId xmlns:a16="http://schemas.microsoft.com/office/drawing/2014/main" id="{6F279FEB-5DFC-7F79-C3D4-1531957D5495}"/>
              </a:ext>
            </a:extLst>
          </p:cNvPr>
          <p:cNvCxnSpPr/>
          <p:nvPr/>
        </p:nvCxnSpPr>
        <p:spPr>
          <a:xfrm>
            <a:off x="6096000" y="4470400"/>
            <a:ext cx="0" cy="431800"/>
          </a:xfrm>
          <a:prstGeom prst="line">
            <a:avLst/>
          </a:prstGeom>
          <a:ln w="31750">
            <a:solidFill>
              <a:srgbClr val="0B1536"/>
            </a:solidFill>
            <a:tailEnd type="arrow"/>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15AE4683-7223-3129-A449-6D54D0265F63}"/>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0" name="TextBox 29">
            <a:extLst>
              <a:ext uri="{FF2B5EF4-FFF2-40B4-BE49-F238E27FC236}">
                <a16:creationId xmlns:a16="http://schemas.microsoft.com/office/drawing/2014/main" id="{C89F1786-45D8-7EA9-CB17-9084253822D9}"/>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18</a:t>
            </a:r>
          </a:p>
        </p:txBody>
      </p:sp>
    </p:spTree>
    <p:extLst>
      <p:ext uri="{BB962C8B-B14F-4D97-AF65-F5344CB8AC3E}">
        <p14:creationId xmlns:p14="http://schemas.microsoft.com/office/powerpoint/2010/main" val="35324103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6318E7-1DDE-0616-6715-A83D4FCC6C95}"/>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SECURITY &amp; CONTROL</a:t>
            </a:r>
          </a:p>
        </p:txBody>
      </p:sp>
      <p:sp>
        <p:nvSpPr>
          <p:cNvPr id="3" name="TextBox 2">
            <a:extLst>
              <a:ext uri="{FF2B5EF4-FFF2-40B4-BE49-F238E27FC236}">
                <a16:creationId xmlns:a16="http://schemas.microsoft.com/office/drawing/2014/main" id="{EFE78834-2F35-191E-6A55-E39077AA190E}"/>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Strong boundaries are delivered; authorization is not</a:t>
            </a:r>
          </a:p>
        </p:txBody>
      </p:sp>
      <p:sp>
        <p:nvSpPr>
          <p:cNvPr id="4" name="TextBox 3">
            <a:extLst>
              <a:ext uri="{FF2B5EF4-FFF2-40B4-BE49-F238E27FC236}">
                <a16:creationId xmlns:a16="http://schemas.microsoft.com/office/drawing/2014/main" id="{B1D495A5-D881-2228-0626-60D86377DC05}"/>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Authentication, data integrity and model honesty exist today; production access governance still needs ownership.</a:t>
            </a:r>
          </a:p>
        </p:txBody>
      </p:sp>
      <p:sp>
        <p:nvSpPr>
          <p:cNvPr id="5" name="Rectangle: Rounded Corners 4">
            <a:extLst>
              <a:ext uri="{FF2B5EF4-FFF2-40B4-BE49-F238E27FC236}">
                <a16:creationId xmlns:a16="http://schemas.microsoft.com/office/drawing/2014/main" id="{88629A06-E504-7EE8-ED2A-F7DD0C10BD7B}"/>
              </a:ext>
            </a:extLst>
          </p:cNvPr>
          <p:cNvSpPr/>
          <p:nvPr/>
        </p:nvSpPr>
        <p:spPr>
          <a:xfrm>
            <a:off x="609600" y="1803400"/>
            <a:ext cx="3505200" cy="33020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9574DDB6-1524-9A6D-509B-09F00EC47F02}"/>
              </a:ext>
            </a:extLst>
          </p:cNvPr>
          <p:cNvSpPr/>
          <p:nvPr/>
        </p:nvSpPr>
        <p:spPr>
          <a:xfrm>
            <a:off x="609600" y="1803400"/>
            <a:ext cx="35052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A14163F-7A2A-7D9B-014B-B753F6ACCC58}"/>
              </a:ext>
            </a:extLst>
          </p:cNvPr>
          <p:cNvSpPr txBox="1"/>
          <p:nvPr/>
        </p:nvSpPr>
        <p:spPr>
          <a:xfrm>
            <a:off x="838200" y="20574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ACCOUNT CONTROLS</a:t>
            </a:r>
          </a:p>
        </p:txBody>
      </p:sp>
      <p:sp>
        <p:nvSpPr>
          <p:cNvPr id="8" name="TextBox 7">
            <a:extLst>
              <a:ext uri="{FF2B5EF4-FFF2-40B4-BE49-F238E27FC236}">
                <a16:creationId xmlns:a16="http://schemas.microsoft.com/office/drawing/2014/main" id="{FC24D5B3-35A9-5FA3-7BF4-C057369D95C6}"/>
              </a:ext>
            </a:extLst>
          </p:cNvPr>
          <p:cNvSpPr txBox="1"/>
          <p:nvPr/>
        </p:nvSpPr>
        <p:spPr>
          <a:xfrm>
            <a:off x="838200" y="2578100"/>
            <a:ext cx="3048000" cy="2349500"/>
          </a:xfrm>
          <a:prstGeom prst="rect">
            <a:avLst/>
          </a:prstGeom>
          <a:noFill/>
        </p:spPr>
        <p:txBody>
          <a:bodyPr vert="horz" wrap="square" lIns="50800" tIns="25400" rIns="50800" bIns="25400" rtlCol="0" anchor="t">
            <a:noAutofit/>
          </a:bodyPr>
          <a:lstStyle/>
          <a:p>
            <a:r>
              <a:rPr lang="en-US" sz="1050">
                <a:solidFill>
                  <a:srgbClr val="344054"/>
                </a:solidFill>
                <a:latin typeface="Segoe UI" panose="020B0502040204020203" pitchFamily="34" charset="0"/>
              </a:rPr>
              <a:t>Email verification</a:t>
            </a:r>
          </a:p>
          <a:p>
            <a:r>
              <a:rPr lang="en-US" sz="1050">
                <a:solidFill>
                  <a:srgbClr val="344054"/>
                </a:solidFill>
                <a:latin typeface="Segoe UI" panose="020B0502040204020203" pitchFamily="34" charset="0"/>
              </a:rPr>
              <a:t>Password reset + confirmation</a:t>
            </a:r>
          </a:p>
          <a:p>
            <a:r>
              <a:rPr lang="en-US" sz="1050">
                <a:solidFill>
                  <a:srgbClr val="344054"/>
                </a:solidFill>
                <a:latin typeface="Segoe UI" panose="020B0502040204020203" pitchFamily="34" charset="0"/>
              </a:rPr>
              <a:t>TOTP two-factor authentication</a:t>
            </a:r>
          </a:p>
          <a:p>
            <a:r>
              <a:rPr lang="en-US" sz="1050">
                <a:solidFill>
                  <a:srgbClr val="344054"/>
                </a:solidFill>
                <a:latin typeface="Segoe UI" panose="020B0502040204020203" pitchFamily="34" charset="0"/>
              </a:rPr>
              <a:t>Passkeys</a:t>
            </a:r>
          </a:p>
          <a:p>
            <a:r>
              <a:rPr lang="en-US" sz="1050">
                <a:solidFill>
                  <a:srgbClr val="344054"/>
                </a:solidFill>
                <a:latin typeface="Segoe UI" panose="020B0502040204020203" pitchFamily="34" charset="0"/>
              </a:rPr>
              <a:t>Login/challenge throttling</a:t>
            </a:r>
          </a:p>
        </p:txBody>
      </p:sp>
      <p:sp>
        <p:nvSpPr>
          <p:cNvPr id="9" name="Rectangle: Rounded Corners 8">
            <a:extLst>
              <a:ext uri="{FF2B5EF4-FFF2-40B4-BE49-F238E27FC236}">
                <a16:creationId xmlns:a16="http://schemas.microsoft.com/office/drawing/2014/main" id="{04E048B1-B083-7B00-F967-019A4EA4A600}"/>
              </a:ext>
            </a:extLst>
          </p:cNvPr>
          <p:cNvSpPr/>
          <p:nvPr/>
        </p:nvSpPr>
        <p:spPr>
          <a:xfrm>
            <a:off x="4343400" y="1803400"/>
            <a:ext cx="3505200" cy="33020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116BEC10-FA78-36D1-556F-9E6BCDA5335C}"/>
              </a:ext>
            </a:extLst>
          </p:cNvPr>
          <p:cNvSpPr/>
          <p:nvPr/>
        </p:nvSpPr>
        <p:spPr>
          <a:xfrm>
            <a:off x="4343400" y="1803400"/>
            <a:ext cx="3505200" cy="1016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F810103E-5DB4-B708-D833-B132CF29FADE}"/>
              </a:ext>
            </a:extLst>
          </p:cNvPr>
          <p:cNvSpPr txBox="1"/>
          <p:nvPr/>
        </p:nvSpPr>
        <p:spPr>
          <a:xfrm>
            <a:off x="4572000" y="20574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DATA CONTROLS</a:t>
            </a:r>
          </a:p>
        </p:txBody>
      </p:sp>
      <p:sp>
        <p:nvSpPr>
          <p:cNvPr id="12" name="TextBox 11">
            <a:extLst>
              <a:ext uri="{FF2B5EF4-FFF2-40B4-BE49-F238E27FC236}">
                <a16:creationId xmlns:a16="http://schemas.microsoft.com/office/drawing/2014/main" id="{97D6F629-6442-DE21-4480-D34F961077A1}"/>
              </a:ext>
            </a:extLst>
          </p:cNvPr>
          <p:cNvSpPr txBox="1"/>
          <p:nvPr/>
        </p:nvSpPr>
        <p:spPr>
          <a:xfrm>
            <a:off x="4572000" y="2578100"/>
            <a:ext cx="3048000" cy="2349500"/>
          </a:xfrm>
          <a:prstGeom prst="rect">
            <a:avLst/>
          </a:prstGeom>
          <a:noFill/>
        </p:spPr>
        <p:txBody>
          <a:bodyPr vert="horz" wrap="square" lIns="50800" tIns="25400" rIns="50800" bIns="25400" rtlCol="0" anchor="t">
            <a:noAutofit/>
          </a:bodyPr>
          <a:lstStyle/>
          <a:p>
            <a:r>
              <a:rPr lang="en-US" sz="1020">
                <a:solidFill>
                  <a:srgbClr val="344054"/>
                </a:solidFill>
                <a:latin typeface="Segoe UI" panose="020B0502040204020203" pitchFamily="34" charset="0"/>
              </a:rPr>
              <a:t>Read-only business routes</a:t>
            </a:r>
          </a:p>
          <a:p>
            <a:r>
              <a:rPr lang="en-US" sz="1020">
                <a:solidFill>
                  <a:srgbClr val="344054"/>
                </a:solidFill>
                <a:latin typeface="Segoe UI" panose="020B0502040204020203" pitchFamily="34" charset="0"/>
              </a:rPr>
              <a:t>OAuth machine identity</a:t>
            </a:r>
          </a:p>
          <a:p>
            <a:r>
              <a:rPr lang="en-US" sz="1020">
                <a:solidFill>
                  <a:srgbClr val="344054"/>
                </a:solidFill>
                <a:latin typeface="Segoe UI" panose="020B0502040204020203" pitchFamily="34" charset="0"/>
              </a:rPr>
              <a:t>Idempotent sync + run history</a:t>
            </a:r>
          </a:p>
          <a:p>
            <a:r>
              <a:rPr lang="en-US" sz="1020">
                <a:solidFill>
                  <a:srgbClr val="344054"/>
                </a:solidFill>
                <a:latin typeface="Segoe UI" panose="020B0502040204020203" pitchFamily="34" charset="0"/>
              </a:rPr>
              <a:t>Grain isolation / reconciliation</a:t>
            </a:r>
          </a:p>
          <a:p>
            <a:r>
              <a:rPr lang="en-US" sz="1020">
                <a:solidFill>
                  <a:srgbClr val="344054"/>
                </a:solidFill>
                <a:latin typeface="Segoe UI" panose="020B0502040204020203" pitchFamily="34" charset="0"/>
              </a:rPr>
              <a:t>Named neural fallback</a:t>
            </a:r>
          </a:p>
          <a:p>
            <a:r>
              <a:rPr lang="en-US" sz="1020">
                <a:solidFill>
                  <a:srgbClr val="344054"/>
                </a:solidFill>
                <a:latin typeface="Segoe UI" panose="020B0502040204020203" pitchFamily="34" charset="0"/>
              </a:rPr>
              <a:t>Human decision record</a:t>
            </a:r>
          </a:p>
        </p:txBody>
      </p:sp>
      <p:sp>
        <p:nvSpPr>
          <p:cNvPr id="13" name="Rectangle: Rounded Corners 12">
            <a:extLst>
              <a:ext uri="{FF2B5EF4-FFF2-40B4-BE49-F238E27FC236}">
                <a16:creationId xmlns:a16="http://schemas.microsoft.com/office/drawing/2014/main" id="{66C4B145-AEDB-1EBD-B271-FFDC3A7CF6F0}"/>
              </a:ext>
            </a:extLst>
          </p:cNvPr>
          <p:cNvSpPr/>
          <p:nvPr/>
        </p:nvSpPr>
        <p:spPr>
          <a:xfrm>
            <a:off x="8077200" y="1803400"/>
            <a:ext cx="3505200" cy="3302000"/>
          </a:xfrm>
          <a:prstGeom prst="roundRect">
            <a:avLst/>
          </a:prstGeom>
          <a:solidFill>
            <a:srgbClr val="FDE7E7"/>
          </a:solidFill>
          <a:ln w="12700">
            <a:solidFill>
              <a:srgbClr val="E5484D"/>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4606E2E2-C766-C6E0-055D-B91FBFA3386B}"/>
              </a:ext>
            </a:extLst>
          </p:cNvPr>
          <p:cNvSpPr/>
          <p:nvPr/>
        </p:nvSpPr>
        <p:spPr>
          <a:xfrm>
            <a:off x="8077200" y="1803400"/>
            <a:ext cx="3505200" cy="101600"/>
          </a:xfrm>
          <a:prstGeom prst="roundRect">
            <a:avLst/>
          </a:prstGeom>
          <a:solidFill>
            <a:srgbClr val="E5484D"/>
          </a:solidFill>
          <a:ln w="12700">
            <a:solidFill>
              <a:srgbClr val="E548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9E0223DE-EF9F-D03E-6C6D-F92579ECB22B}"/>
              </a:ext>
            </a:extLst>
          </p:cNvPr>
          <p:cNvSpPr txBox="1"/>
          <p:nvPr/>
        </p:nvSpPr>
        <p:spPr>
          <a:xfrm>
            <a:off x="8305800" y="2057400"/>
            <a:ext cx="30480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REQUIRED FOR PRODUCTION</a:t>
            </a:r>
          </a:p>
        </p:txBody>
      </p:sp>
      <p:sp>
        <p:nvSpPr>
          <p:cNvPr id="16" name="TextBox 15">
            <a:extLst>
              <a:ext uri="{FF2B5EF4-FFF2-40B4-BE49-F238E27FC236}">
                <a16:creationId xmlns:a16="http://schemas.microsoft.com/office/drawing/2014/main" id="{FB7D3F19-D313-A49E-2BD3-660F7DF83366}"/>
              </a:ext>
            </a:extLst>
          </p:cNvPr>
          <p:cNvSpPr txBox="1"/>
          <p:nvPr/>
        </p:nvSpPr>
        <p:spPr>
          <a:xfrm>
            <a:off x="8305800" y="2578100"/>
            <a:ext cx="3048000" cy="2349500"/>
          </a:xfrm>
          <a:prstGeom prst="rect">
            <a:avLst/>
          </a:prstGeom>
          <a:noFill/>
        </p:spPr>
        <p:txBody>
          <a:bodyPr vert="horz" wrap="square" lIns="50800" tIns="25400" rIns="50800" bIns="25400" rtlCol="0" anchor="t">
            <a:noAutofit/>
          </a:bodyPr>
          <a:lstStyle/>
          <a:p>
            <a:r>
              <a:rPr lang="en-US" sz="1020">
                <a:solidFill>
                  <a:srgbClr val="344054"/>
                </a:solidFill>
                <a:latin typeface="Segoe UI" panose="020B0502040204020203" pitchFamily="34" charset="0"/>
              </a:rPr>
              <a:t>Role-based permissions</a:t>
            </a:r>
          </a:p>
          <a:p>
            <a:r>
              <a:rPr lang="en-US" sz="1020">
                <a:solidFill>
                  <a:srgbClr val="344054"/>
                </a:solidFill>
                <a:latin typeface="Segoe UI" panose="020B0502040204020203" pitchFamily="34" charset="0"/>
              </a:rPr>
              <a:t>Controlled registration</a:t>
            </a:r>
          </a:p>
          <a:p>
            <a:r>
              <a:rPr lang="en-US" sz="1020">
                <a:solidFill>
                  <a:srgbClr val="344054"/>
                </a:solidFill>
                <a:latin typeface="Segoe UI" panose="020B0502040204020203" pitchFamily="34" charset="0"/>
              </a:rPr>
              <a:t>Real mail + cookie policy</a:t>
            </a:r>
          </a:p>
          <a:p>
            <a:r>
              <a:rPr lang="en-US" sz="1020">
                <a:solidFill>
                  <a:srgbClr val="344054"/>
                </a:solidFill>
                <a:latin typeface="Segoe UI" panose="020B0502040204020203" pitchFamily="34" charset="0"/>
              </a:rPr>
              <a:t>Secret rotation / token protection</a:t>
            </a:r>
          </a:p>
          <a:p>
            <a:r>
              <a:rPr lang="en-US" sz="1020">
                <a:solidFill>
                  <a:srgbClr val="344054"/>
                </a:solidFill>
                <a:latin typeface="Segoe UI" panose="020B0502040204020203" pitchFamily="34" charset="0"/>
              </a:rPr>
              <a:t>Backups and monitoring</a:t>
            </a:r>
          </a:p>
          <a:p>
            <a:r>
              <a:rPr lang="en-US" sz="1020">
                <a:solidFill>
                  <a:srgbClr val="344054"/>
                </a:solidFill>
                <a:latin typeface="Segoe UI" panose="020B0502040204020203" pitchFamily="34" charset="0"/>
              </a:rPr>
              <a:t>Release validation</a:t>
            </a:r>
          </a:p>
        </p:txBody>
      </p:sp>
      <p:sp>
        <p:nvSpPr>
          <p:cNvPr id="17" name="Rectangle: Rounded Corners 16">
            <a:extLst>
              <a:ext uri="{FF2B5EF4-FFF2-40B4-BE49-F238E27FC236}">
                <a16:creationId xmlns:a16="http://schemas.microsoft.com/office/drawing/2014/main" id="{B61585C7-C6F3-BF2A-0D9E-1A970D067A26}"/>
              </a:ext>
            </a:extLst>
          </p:cNvPr>
          <p:cNvSpPr/>
          <p:nvPr/>
        </p:nvSpPr>
        <p:spPr>
          <a:xfrm>
            <a:off x="2032000" y="5575300"/>
            <a:ext cx="8128000" cy="431800"/>
          </a:xfrm>
          <a:prstGeom prst="roundRect">
            <a:avLst/>
          </a:prstGeom>
          <a:solidFill>
            <a:srgbClr val="FFF2D9"/>
          </a:solidFill>
          <a:ln w="12700">
            <a:solidFill>
              <a:srgbClr val="FFF2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983DE55F-EB68-7FE3-A83E-FAF6186297BF}"/>
              </a:ext>
            </a:extLst>
          </p:cNvPr>
          <p:cNvSpPr txBox="1"/>
          <p:nvPr/>
        </p:nvSpPr>
        <p:spPr>
          <a:xfrm>
            <a:off x="2032000" y="5575300"/>
            <a:ext cx="8128000" cy="431800"/>
          </a:xfrm>
          <a:prstGeom prst="rect">
            <a:avLst/>
          </a:prstGeom>
          <a:noFill/>
        </p:spPr>
        <p:txBody>
          <a:bodyPr vert="horz" wrap="square" lIns="50800" tIns="25400" rIns="50800" bIns="25400" rtlCol="0" anchor="ctr">
            <a:noAutofit/>
          </a:bodyPr>
          <a:lstStyle/>
          <a:p>
            <a:pPr algn="ctr"/>
            <a:r>
              <a:rPr lang="en-US" sz="940" b="1">
                <a:solidFill>
                  <a:srgbClr val="E58A00"/>
                </a:solidFill>
                <a:latin typeface="Segoe UI" panose="020B0502040204020203" pitchFamily="34" charset="0"/>
              </a:rPr>
              <a:t>Today: every authenticated, verified user has broad visibility and operational triggers.</a:t>
            </a:r>
          </a:p>
        </p:txBody>
      </p:sp>
      <p:sp>
        <p:nvSpPr>
          <p:cNvPr id="19" name="TextBox 18">
            <a:extLst>
              <a:ext uri="{FF2B5EF4-FFF2-40B4-BE49-F238E27FC236}">
                <a16:creationId xmlns:a16="http://schemas.microsoft.com/office/drawing/2014/main" id="{B4178E6B-65C7-05AA-A8A9-32F911F17F77}"/>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20" name="TextBox 19">
            <a:extLst>
              <a:ext uri="{FF2B5EF4-FFF2-40B4-BE49-F238E27FC236}">
                <a16:creationId xmlns:a16="http://schemas.microsoft.com/office/drawing/2014/main" id="{4E13B8AE-362E-0036-57A8-6ECBDD8DBD6B}"/>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19</a:t>
            </a:r>
          </a:p>
        </p:txBody>
      </p:sp>
    </p:spTree>
    <p:extLst>
      <p:ext uri="{BB962C8B-B14F-4D97-AF65-F5344CB8AC3E}">
        <p14:creationId xmlns:p14="http://schemas.microsoft.com/office/powerpoint/2010/main" val="3977357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7D404F-4F3E-A890-31D2-39FEDBCB1E10}"/>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DELIVERY EVIDENCE</a:t>
            </a:r>
          </a:p>
        </p:txBody>
      </p:sp>
      <p:sp>
        <p:nvSpPr>
          <p:cNvPr id="3" name="TextBox 2">
            <a:extLst>
              <a:ext uri="{FF2B5EF4-FFF2-40B4-BE49-F238E27FC236}">
                <a16:creationId xmlns:a16="http://schemas.microsoft.com/office/drawing/2014/main" id="{7B5C1F32-A6F1-3A39-2DC2-5DCE0DBD3C6D}"/>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What has been verified in the current system</a:t>
            </a:r>
          </a:p>
        </p:txBody>
      </p:sp>
      <p:sp>
        <p:nvSpPr>
          <p:cNvPr id="4" name="TextBox 3">
            <a:extLst>
              <a:ext uri="{FF2B5EF4-FFF2-40B4-BE49-F238E27FC236}">
                <a16:creationId xmlns:a16="http://schemas.microsoft.com/office/drawing/2014/main" id="{CFE35A8A-ABB3-495D-B66C-8880A70F5927}"/>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Counts show breadth; reconciliations and measured runs show integration. Neither proves adoption or real-demand accuracy.</a:t>
            </a:r>
          </a:p>
        </p:txBody>
      </p:sp>
      <p:sp>
        <p:nvSpPr>
          <p:cNvPr id="5" name="Rectangle: Rounded Corners 4">
            <a:extLst>
              <a:ext uri="{FF2B5EF4-FFF2-40B4-BE49-F238E27FC236}">
                <a16:creationId xmlns:a16="http://schemas.microsoft.com/office/drawing/2014/main" id="{8F3C8781-7FF8-FF55-05AD-350BA8214BC3}"/>
              </a:ext>
            </a:extLst>
          </p:cNvPr>
          <p:cNvSpPr/>
          <p:nvPr/>
        </p:nvSpPr>
        <p:spPr>
          <a:xfrm>
            <a:off x="6096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4B0FCE48-1AC1-AE27-5799-B18AAE0DCFD4}"/>
              </a:ext>
            </a:extLst>
          </p:cNvPr>
          <p:cNvSpPr/>
          <p:nvPr/>
        </p:nvSpPr>
        <p:spPr>
          <a:xfrm>
            <a:off x="609600" y="1841500"/>
            <a:ext cx="88900" cy="1600200"/>
          </a:xfrm>
          <a:prstGeom prst="roundRect">
            <a:avLst/>
          </a:prstGeom>
          <a:solidFill>
            <a:srgbClr val="0E9F6E"/>
          </a:solidFill>
          <a:ln w="12700">
            <a:solidFill>
              <a:srgbClr val="0E9F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1E72C8C-D220-CFE7-D8C6-FE6D4246980A}"/>
              </a:ext>
            </a:extLst>
          </p:cNvPr>
          <p:cNvSpPr txBox="1"/>
          <p:nvPr/>
        </p:nvSpPr>
        <p:spPr>
          <a:xfrm>
            <a:off x="8382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LATEST LOGGED PEST SUITE</a:t>
            </a:r>
          </a:p>
        </p:txBody>
      </p:sp>
      <p:sp>
        <p:nvSpPr>
          <p:cNvPr id="8" name="TextBox 7">
            <a:extLst>
              <a:ext uri="{FF2B5EF4-FFF2-40B4-BE49-F238E27FC236}">
                <a16:creationId xmlns:a16="http://schemas.microsoft.com/office/drawing/2014/main" id="{5FE742E1-1F92-9607-298D-1087E64CF9D3}"/>
              </a:ext>
            </a:extLst>
          </p:cNvPr>
          <p:cNvSpPr txBox="1"/>
          <p:nvPr/>
        </p:nvSpPr>
        <p:spPr>
          <a:xfrm>
            <a:off x="8382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253 / 253</a:t>
            </a:r>
          </a:p>
        </p:txBody>
      </p:sp>
      <p:sp>
        <p:nvSpPr>
          <p:cNvPr id="9" name="TextBox 8">
            <a:extLst>
              <a:ext uri="{FF2B5EF4-FFF2-40B4-BE49-F238E27FC236}">
                <a16:creationId xmlns:a16="http://schemas.microsoft.com/office/drawing/2014/main" id="{A2531251-1EA7-0E27-D0E9-6761AF0658B1}"/>
              </a:ext>
            </a:extLst>
          </p:cNvPr>
          <p:cNvSpPr txBox="1"/>
          <p:nvPr/>
        </p:nvSpPr>
        <p:spPr>
          <a:xfrm>
            <a:off x="8382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Application behavior + grain isolation</a:t>
            </a:r>
          </a:p>
        </p:txBody>
      </p:sp>
      <p:sp>
        <p:nvSpPr>
          <p:cNvPr id="10" name="Rectangle: Rounded Corners 9">
            <a:extLst>
              <a:ext uri="{FF2B5EF4-FFF2-40B4-BE49-F238E27FC236}">
                <a16:creationId xmlns:a16="http://schemas.microsoft.com/office/drawing/2014/main" id="{75DC4735-8557-4C56-5D4F-A069A8A8685F}"/>
              </a:ext>
            </a:extLst>
          </p:cNvPr>
          <p:cNvSpPr/>
          <p:nvPr/>
        </p:nvSpPr>
        <p:spPr>
          <a:xfrm>
            <a:off x="34290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D4CA3060-D090-C48E-1BA7-E5FCB7D90940}"/>
              </a:ext>
            </a:extLst>
          </p:cNvPr>
          <p:cNvSpPr/>
          <p:nvPr/>
        </p:nvSpPr>
        <p:spPr>
          <a:xfrm>
            <a:off x="3429000" y="1841500"/>
            <a:ext cx="88900" cy="1600200"/>
          </a:xfrm>
          <a:prstGeom prst="roundRect">
            <a:avLst/>
          </a:prstGeom>
          <a:solidFill>
            <a:srgbClr val="078A99"/>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EEB3DC8-DB78-2F56-A4A3-ED9648B97D84}"/>
              </a:ext>
            </a:extLst>
          </p:cNvPr>
          <p:cNvSpPr txBox="1"/>
          <p:nvPr/>
        </p:nvSpPr>
        <p:spPr>
          <a:xfrm>
            <a:off x="36576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PYTHON TESTS</a:t>
            </a:r>
          </a:p>
        </p:txBody>
      </p:sp>
      <p:sp>
        <p:nvSpPr>
          <p:cNvPr id="13" name="TextBox 12">
            <a:extLst>
              <a:ext uri="{FF2B5EF4-FFF2-40B4-BE49-F238E27FC236}">
                <a16:creationId xmlns:a16="http://schemas.microsoft.com/office/drawing/2014/main" id="{9D13030C-7979-3AD6-11D4-D927E221ACFB}"/>
              </a:ext>
            </a:extLst>
          </p:cNvPr>
          <p:cNvSpPr txBox="1"/>
          <p:nvPr/>
        </p:nvSpPr>
        <p:spPr>
          <a:xfrm>
            <a:off x="36576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62 / 62</a:t>
            </a:r>
          </a:p>
        </p:txBody>
      </p:sp>
      <p:sp>
        <p:nvSpPr>
          <p:cNvPr id="14" name="TextBox 13">
            <a:extLst>
              <a:ext uri="{FF2B5EF4-FFF2-40B4-BE49-F238E27FC236}">
                <a16:creationId xmlns:a16="http://schemas.microsoft.com/office/drawing/2014/main" id="{5BB229A3-F40A-19BB-82A5-A98E7EF42B5F}"/>
              </a:ext>
            </a:extLst>
          </p:cNvPr>
          <p:cNvSpPr txBox="1"/>
          <p:nvPr/>
        </p:nvSpPr>
        <p:spPr>
          <a:xfrm>
            <a:off x="36576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Last fully logged service suite</a:t>
            </a:r>
          </a:p>
        </p:txBody>
      </p:sp>
      <p:sp>
        <p:nvSpPr>
          <p:cNvPr id="15" name="Rectangle: Rounded Corners 14">
            <a:extLst>
              <a:ext uri="{FF2B5EF4-FFF2-40B4-BE49-F238E27FC236}">
                <a16:creationId xmlns:a16="http://schemas.microsoft.com/office/drawing/2014/main" id="{5ADB9EC3-63F2-27E2-A4DD-F242C7D1D34B}"/>
              </a:ext>
            </a:extLst>
          </p:cNvPr>
          <p:cNvSpPr/>
          <p:nvPr/>
        </p:nvSpPr>
        <p:spPr>
          <a:xfrm>
            <a:off x="62484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05CBE594-4A3B-EBFC-2ED9-66F941BF34A4}"/>
              </a:ext>
            </a:extLst>
          </p:cNvPr>
          <p:cNvSpPr/>
          <p:nvPr/>
        </p:nvSpPr>
        <p:spPr>
          <a:xfrm>
            <a:off x="6248400" y="1841500"/>
            <a:ext cx="88900" cy="16002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C9F2DA0-0371-0108-DF28-C156F2FE0B11}"/>
              </a:ext>
            </a:extLst>
          </p:cNvPr>
          <p:cNvSpPr txBox="1"/>
          <p:nvPr/>
        </p:nvSpPr>
        <p:spPr>
          <a:xfrm>
            <a:off x="64770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SOURCE BREADTH</a:t>
            </a:r>
          </a:p>
        </p:txBody>
      </p:sp>
      <p:sp>
        <p:nvSpPr>
          <p:cNvPr id="18" name="TextBox 17">
            <a:extLst>
              <a:ext uri="{FF2B5EF4-FFF2-40B4-BE49-F238E27FC236}">
                <a16:creationId xmlns:a16="http://schemas.microsoft.com/office/drawing/2014/main" id="{EF0140B1-D7D4-0C8E-2AC0-543C6BF22A8F}"/>
              </a:ext>
            </a:extLst>
          </p:cNvPr>
          <p:cNvSpPr txBox="1"/>
          <p:nvPr/>
        </p:nvSpPr>
        <p:spPr>
          <a:xfrm>
            <a:off x="64770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36 models</a:t>
            </a:r>
          </a:p>
        </p:txBody>
      </p:sp>
      <p:sp>
        <p:nvSpPr>
          <p:cNvPr id="19" name="TextBox 18">
            <a:extLst>
              <a:ext uri="{FF2B5EF4-FFF2-40B4-BE49-F238E27FC236}">
                <a16:creationId xmlns:a16="http://schemas.microsoft.com/office/drawing/2014/main" id="{AF45805C-2960-DDDE-3F76-0E987A73D2D9}"/>
              </a:ext>
            </a:extLst>
          </p:cNvPr>
          <p:cNvSpPr txBox="1"/>
          <p:nvPr/>
        </p:nvSpPr>
        <p:spPr>
          <a:xfrm>
            <a:off x="6477000" y="2755900"/>
            <a:ext cx="2108200" cy="584200"/>
          </a:xfrm>
          <a:prstGeom prst="rect">
            <a:avLst/>
          </a:prstGeom>
          <a:noFill/>
        </p:spPr>
        <p:txBody>
          <a:bodyPr vert="horz" wrap="square" lIns="50800" tIns="25400" rIns="50800" bIns="25400" rtlCol="0" anchor="t">
            <a:noAutofit/>
          </a:bodyPr>
          <a:lstStyle/>
          <a:p>
            <a:r>
              <a:rPr lang="fr-FR" sz="840">
                <a:solidFill>
                  <a:srgbClr val="667085"/>
                </a:solidFill>
                <a:latin typeface="Segoe UI" panose="020B0502040204020203" pitchFamily="34" charset="0"/>
              </a:rPr>
              <a:t>43 migrations | 34 services | 33 facades</a:t>
            </a:r>
            <a:endParaRPr lang="en-US" sz="840">
              <a:solidFill>
                <a:srgbClr val="667085"/>
              </a:solidFill>
              <a:latin typeface="Segoe UI" panose="020B0502040204020203" pitchFamily="34" charset="0"/>
            </a:endParaRPr>
          </a:p>
        </p:txBody>
      </p:sp>
      <p:sp>
        <p:nvSpPr>
          <p:cNvPr id="20" name="Rectangle: Rounded Corners 19">
            <a:extLst>
              <a:ext uri="{FF2B5EF4-FFF2-40B4-BE49-F238E27FC236}">
                <a16:creationId xmlns:a16="http://schemas.microsoft.com/office/drawing/2014/main" id="{3EF6676E-178B-A5CF-FC01-FBFDE0015728}"/>
              </a:ext>
            </a:extLst>
          </p:cNvPr>
          <p:cNvSpPr/>
          <p:nvPr/>
        </p:nvSpPr>
        <p:spPr>
          <a:xfrm>
            <a:off x="9067800" y="1841500"/>
            <a:ext cx="2514600" cy="1600200"/>
          </a:xfrm>
          <a:prstGeom prst="roundRect">
            <a:avLst/>
          </a:prstGeom>
          <a:solidFill>
            <a:srgbClr val="FFFFFF"/>
          </a:solidFill>
          <a:ln w="12700">
            <a:solidFill>
              <a:srgbClr val="D8E1E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Rounded Corners 20">
            <a:extLst>
              <a:ext uri="{FF2B5EF4-FFF2-40B4-BE49-F238E27FC236}">
                <a16:creationId xmlns:a16="http://schemas.microsoft.com/office/drawing/2014/main" id="{B44AF9D9-9598-0302-E6D6-B3A0CD18AF14}"/>
              </a:ext>
            </a:extLst>
          </p:cNvPr>
          <p:cNvSpPr/>
          <p:nvPr/>
        </p:nvSpPr>
        <p:spPr>
          <a:xfrm>
            <a:off x="9067800" y="1841500"/>
            <a:ext cx="88900" cy="1600200"/>
          </a:xfrm>
          <a:prstGeom prst="roundRect">
            <a:avLst/>
          </a:prstGeom>
          <a:solidFill>
            <a:srgbClr val="6D3EF2"/>
          </a:solidFill>
          <a:ln w="12700">
            <a:solidFill>
              <a:srgbClr val="6D3E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BD09DE9-7A36-0B4C-8873-6459F8A9A9DD}"/>
              </a:ext>
            </a:extLst>
          </p:cNvPr>
          <p:cNvSpPr txBox="1"/>
          <p:nvPr/>
        </p:nvSpPr>
        <p:spPr>
          <a:xfrm>
            <a:off x="9296400" y="1968500"/>
            <a:ext cx="2108200" cy="254000"/>
          </a:xfrm>
          <a:prstGeom prst="rect">
            <a:avLst/>
          </a:prstGeom>
          <a:noFill/>
        </p:spPr>
        <p:txBody>
          <a:bodyPr vert="horz" wrap="square" lIns="50800" tIns="25400" rIns="50800" bIns="25400" rtlCol="0" anchor="t">
            <a:noAutofit/>
          </a:bodyPr>
          <a:lstStyle/>
          <a:p>
            <a:r>
              <a:rPr lang="en-US" sz="870" b="1">
                <a:solidFill>
                  <a:srgbClr val="667085"/>
                </a:solidFill>
                <a:latin typeface="Segoe UI" panose="020B0502040204020203" pitchFamily="34" charset="0"/>
              </a:rPr>
              <a:t>USER EXPERIENCE</a:t>
            </a:r>
          </a:p>
        </p:txBody>
      </p:sp>
      <p:sp>
        <p:nvSpPr>
          <p:cNvPr id="23" name="TextBox 22">
            <a:extLst>
              <a:ext uri="{FF2B5EF4-FFF2-40B4-BE49-F238E27FC236}">
                <a16:creationId xmlns:a16="http://schemas.microsoft.com/office/drawing/2014/main" id="{A0F4402E-8C4D-66D0-C32A-AF0F5D4EA646}"/>
              </a:ext>
            </a:extLst>
          </p:cNvPr>
          <p:cNvSpPr txBox="1"/>
          <p:nvPr/>
        </p:nvSpPr>
        <p:spPr>
          <a:xfrm>
            <a:off x="9296400" y="2273300"/>
            <a:ext cx="2108200" cy="431800"/>
          </a:xfrm>
          <a:prstGeom prst="rect">
            <a:avLst/>
          </a:prstGeom>
          <a:noFill/>
        </p:spPr>
        <p:txBody>
          <a:bodyPr vert="horz" wrap="square" lIns="50800" tIns="25400" rIns="50800" bIns="25400" rtlCol="0" anchor="t">
            <a:noAutofit/>
          </a:bodyPr>
          <a:lstStyle/>
          <a:p>
            <a:r>
              <a:rPr lang="en-US" sz="1900" b="1">
                <a:solidFill>
                  <a:srgbClr val="0B1536"/>
                </a:solidFill>
                <a:latin typeface="Segoe UI" panose="020B0502040204020203" pitchFamily="34" charset="0"/>
              </a:rPr>
              <a:t>45 React pages</a:t>
            </a:r>
          </a:p>
        </p:txBody>
      </p:sp>
      <p:sp>
        <p:nvSpPr>
          <p:cNvPr id="24" name="TextBox 23">
            <a:extLst>
              <a:ext uri="{FF2B5EF4-FFF2-40B4-BE49-F238E27FC236}">
                <a16:creationId xmlns:a16="http://schemas.microsoft.com/office/drawing/2014/main" id="{E01B6BC6-E594-27C1-7255-417F476AF327}"/>
              </a:ext>
            </a:extLst>
          </p:cNvPr>
          <p:cNvSpPr txBox="1"/>
          <p:nvPr/>
        </p:nvSpPr>
        <p:spPr>
          <a:xfrm>
            <a:off x="9296400" y="2755900"/>
            <a:ext cx="2108200" cy="584200"/>
          </a:xfrm>
          <a:prstGeom prst="rect">
            <a:avLst/>
          </a:prstGeom>
          <a:noFill/>
        </p:spPr>
        <p:txBody>
          <a:bodyPr vert="horz" wrap="square" lIns="50800" tIns="25400" rIns="50800" bIns="25400" rtlCol="0" anchor="t">
            <a:noAutofit/>
          </a:bodyPr>
          <a:lstStyle/>
          <a:p>
            <a:r>
              <a:rPr lang="en-US" sz="840">
                <a:solidFill>
                  <a:srgbClr val="667085"/>
                </a:solidFill>
                <a:latin typeface="Segoe UI" panose="020B0502040204020203" pitchFamily="34" charset="0"/>
              </a:rPr>
              <a:t>Responsive Bootstrap + dark mode</a:t>
            </a:r>
          </a:p>
        </p:txBody>
      </p:sp>
      <p:sp>
        <p:nvSpPr>
          <p:cNvPr id="25" name="Rectangle: Rounded Corners 24">
            <a:extLst>
              <a:ext uri="{FF2B5EF4-FFF2-40B4-BE49-F238E27FC236}">
                <a16:creationId xmlns:a16="http://schemas.microsoft.com/office/drawing/2014/main" id="{31CCD965-65DD-546F-9959-C80A92C9C223}"/>
              </a:ext>
            </a:extLst>
          </p:cNvPr>
          <p:cNvSpPr/>
          <p:nvPr/>
        </p:nvSpPr>
        <p:spPr>
          <a:xfrm>
            <a:off x="609600" y="3924300"/>
            <a:ext cx="5207000" cy="18796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9E638275-182A-AB4A-CDFA-5E53E2ECEC0A}"/>
              </a:ext>
            </a:extLst>
          </p:cNvPr>
          <p:cNvSpPr/>
          <p:nvPr/>
        </p:nvSpPr>
        <p:spPr>
          <a:xfrm>
            <a:off x="609600" y="3924300"/>
            <a:ext cx="5207000" cy="101600"/>
          </a:xfrm>
          <a:prstGeom prst="roundRect">
            <a:avLst/>
          </a:prstGeom>
          <a:solidFill>
            <a:srgbClr val="1769E0"/>
          </a:solidFill>
          <a:ln w="12700">
            <a:solidFill>
              <a:srgbClr val="1769E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11ECA4BF-902E-2CE3-ABAC-9D03CD77F55D}"/>
              </a:ext>
            </a:extLst>
          </p:cNvPr>
          <p:cNvSpPr txBox="1"/>
          <p:nvPr/>
        </p:nvSpPr>
        <p:spPr>
          <a:xfrm>
            <a:off x="838200" y="4178300"/>
            <a:ext cx="474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INTEGRATION EVIDENCE</a:t>
            </a:r>
          </a:p>
        </p:txBody>
      </p:sp>
      <p:sp>
        <p:nvSpPr>
          <p:cNvPr id="28" name="TextBox 27">
            <a:extLst>
              <a:ext uri="{FF2B5EF4-FFF2-40B4-BE49-F238E27FC236}">
                <a16:creationId xmlns:a16="http://schemas.microsoft.com/office/drawing/2014/main" id="{08509056-F521-2AAA-7310-3174FDEA8ABB}"/>
              </a:ext>
            </a:extLst>
          </p:cNvPr>
          <p:cNvSpPr txBox="1"/>
          <p:nvPr/>
        </p:nvSpPr>
        <p:spPr>
          <a:xfrm>
            <a:off x="838200" y="4699000"/>
            <a:ext cx="4749800" cy="927100"/>
          </a:xfrm>
          <a:prstGeom prst="rect">
            <a:avLst/>
          </a:prstGeom>
          <a:noFill/>
        </p:spPr>
        <p:txBody>
          <a:bodyPr vert="horz" wrap="square" lIns="50800" tIns="25400" rIns="50800" bIns="25400" rtlCol="0" anchor="t">
            <a:noAutofit/>
          </a:bodyPr>
          <a:lstStyle/>
          <a:p>
            <a:r>
              <a:rPr lang="en-US" sz="1030">
                <a:solidFill>
                  <a:srgbClr val="344054"/>
                </a:solidFill>
                <a:latin typeface="Segoe UI" panose="020B0502040204020203" pitchFamily="34" charset="0"/>
              </a:rPr>
              <a:t>All 3 grains exactly reconciled</a:t>
            </a:r>
          </a:p>
          <a:p>
            <a:r>
              <a:rPr lang="en-US" sz="1030">
                <a:solidFill>
                  <a:srgbClr val="344054"/>
                </a:solidFill>
                <a:latin typeface="Segoe UI" panose="020B0502040204020203" pitchFamily="34" charset="0"/>
              </a:rPr>
              <a:t>0 unmatched demand SKUs</a:t>
            </a:r>
          </a:p>
          <a:p>
            <a:r>
              <a:rPr lang="en-US" sz="1030">
                <a:solidFill>
                  <a:srgbClr val="344054"/>
                </a:solidFill>
                <a:latin typeface="Segoe UI" panose="020B0502040204020203" pitchFamily="34" charset="0"/>
              </a:rPr>
              <a:t>2,300 forecasts in 2m22s</a:t>
            </a:r>
          </a:p>
          <a:p>
            <a:r>
              <a:rPr lang="en-US" sz="1030">
                <a:solidFill>
                  <a:srgbClr val="344054"/>
                </a:solidFill>
                <a:latin typeface="Segoe UI" panose="020B0502040204020203" pitchFamily="34" charset="0"/>
              </a:rPr>
              <a:t>Dashboard and forecast performance measured</a:t>
            </a:r>
          </a:p>
        </p:txBody>
      </p:sp>
      <p:sp>
        <p:nvSpPr>
          <p:cNvPr id="29" name="Rectangle: Rounded Corners 28">
            <a:extLst>
              <a:ext uri="{FF2B5EF4-FFF2-40B4-BE49-F238E27FC236}">
                <a16:creationId xmlns:a16="http://schemas.microsoft.com/office/drawing/2014/main" id="{A3DBE0D5-327A-A357-9071-99A2F495C814}"/>
              </a:ext>
            </a:extLst>
          </p:cNvPr>
          <p:cNvSpPr/>
          <p:nvPr/>
        </p:nvSpPr>
        <p:spPr>
          <a:xfrm>
            <a:off x="6375400" y="3924300"/>
            <a:ext cx="5207000" cy="1879600"/>
          </a:xfrm>
          <a:prstGeom prst="roundRect">
            <a:avLst/>
          </a:prstGeom>
          <a:solidFill>
            <a:srgbClr val="FFF2D9"/>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2E93B853-A65C-20A0-FEDE-2D7331C40249}"/>
              </a:ext>
            </a:extLst>
          </p:cNvPr>
          <p:cNvSpPr/>
          <p:nvPr/>
        </p:nvSpPr>
        <p:spPr>
          <a:xfrm>
            <a:off x="6375400" y="3924300"/>
            <a:ext cx="5207000" cy="101600"/>
          </a:xfrm>
          <a:prstGeom prst="roundRect">
            <a:avLst/>
          </a:prstGeom>
          <a:solidFill>
            <a:srgbClr val="E58A00"/>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3D790228-C2C2-C890-6D18-E088D867149D}"/>
              </a:ext>
            </a:extLst>
          </p:cNvPr>
          <p:cNvSpPr txBox="1"/>
          <p:nvPr/>
        </p:nvSpPr>
        <p:spPr>
          <a:xfrm>
            <a:off x="6604000" y="4178300"/>
            <a:ext cx="4749800" cy="431800"/>
          </a:xfrm>
          <a:prstGeom prst="rect">
            <a:avLst/>
          </a:prstGeom>
          <a:noFill/>
        </p:spPr>
        <p:txBody>
          <a:bodyPr vert="horz" wrap="square" lIns="50800" tIns="25400" rIns="50800" bIns="25400" rtlCol="0" anchor="t">
            <a:noAutofit/>
          </a:bodyPr>
          <a:lstStyle/>
          <a:p>
            <a:r>
              <a:rPr lang="en-US" sz="1400" b="1">
                <a:solidFill>
                  <a:srgbClr val="0B1536"/>
                </a:solidFill>
                <a:latin typeface="Segoe UI" panose="020B0502040204020203" pitchFamily="34" charset="0"/>
              </a:rPr>
              <a:t>EVIDENCE BOUNDARY</a:t>
            </a:r>
          </a:p>
        </p:txBody>
      </p:sp>
      <p:sp>
        <p:nvSpPr>
          <p:cNvPr id="32" name="TextBox 31">
            <a:extLst>
              <a:ext uri="{FF2B5EF4-FFF2-40B4-BE49-F238E27FC236}">
                <a16:creationId xmlns:a16="http://schemas.microsoft.com/office/drawing/2014/main" id="{DB8CDDF1-D5BC-7283-A58A-50AE8273A7BC}"/>
              </a:ext>
            </a:extLst>
          </p:cNvPr>
          <p:cNvSpPr txBox="1"/>
          <p:nvPr/>
        </p:nvSpPr>
        <p:spPr>
          <a:xfrm>
            <a:off x="6604000" y="4699000"/>
            <a:ext cx="4749800" cy="927100"/>
          </a:xfrm>
          <a:prstGeom prst="rect">
            <a:avLst/>
          </a:prstGeom>
          <a:noFill/>
        </p:spPr>
        <p:txBody>
          <a:bodyPr vert="horz" wrap="square" lIns="50800" tIns="25400" rIns="50800" bIns="25400" rtlCol="0" anchor="t">
            <a:noAutofit/>
          </a:bodyPr>
          <a:lstStyle/>
          <a:p>
            <a:r>
              <a:rPr lang="en-US" sz="1030">
                <a:solidFill>
                  <a:srgbClr val="344054"/>
                </a:solidFill>
                <a:latin typeface="Segoe UI" panose="020B0502040204020203" pitchFamily="34" charset="0"/>
              </a:rPr>
              <a:t>Generated demand history</a:t>
            </a:r>
          </a:p>
          <a:p>
            <a:r>
              <a:rPr lang="en-US" sz="1030">
                <a:solidFill>
                  <a:srgbClr val="344054"/>
                </a:solidFill>
                <a:latin typeface="Segoe UI" panose="020B0502040204020203" pitchFamily="34" charset="0"/>
              </a:rPr>
              <a:t>Training orchestration not tested in CI</a:t>
            </a:r>
          </a:p>
          <a:p>
            <a:r>
              <a:rPr lang="en-US" sz="1030">
                <a:solidFill>
                  <a:srgbClr val="344054"/>
                </a:solidFill>
                <a:latin typeface="Segoe UI" panose="020B0502040204020203" pitchFamily="34" charset="0"/>
              </a:rPr>
              <a:t>Recommendations read legacy inventory</a:t>
            </a:r>
          </a:p>
          <a:p>
            <a:r>
              <a:rPr lang="en-US" sz="1030">
                <a:solidFill>
                  <a:srgbClr val="344054"/>
                </a:solidFill>
                <a:latin typeface="Segoe UI" panose="020B0502040204020203" pitchFamily="34" charset="0"/>
              </a:rPr>
              <a:t>Roles and production operations unverified</a:t>
            </a:r>
          </a:p>
        </p:txBody>
      </p:sp>
      <p:sp>
        <p:nvSpPr>
          <p:cNvPr id="33" name="TextBox 32">
            <a:extLst>
              <a:ext uri="{FF2B5EF4-FFF2-40B4-BE49-F238E27FC236}">
                <a16:creationId xmlns:a16="http://schemas.microsoft.com/office/drawing/2014/main" id="{E49D5763-CA8E-2B26-5C9E-90FE8273CF41}"/>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4" name="TextBox 33">
            <a:extLst>
              <a:ext uri="{FF2B5EF4-FFF2-40B4-BE49-F238E27FC236}">
                <a16:creationId xmlns:a16="http://schemas.microsoft.com/office/drawing/2014/main" id="{C85FB6C2-25BD-5EBC-AE1B-9153CAFE3DFB}"/>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20</a:t>
            </a:r>
          </a:p>
        </p:txBody>
      </p:sp>
    </p:spTree>
    <p:extLst>
      <p:ext uri="{BB962C8B-B14F-4D97-AF65-F5344CB8AC3E}">
        <p14:creationId xmlns:p14="http://schemas.microsoft.com/office/powerpoint/2010/main" val="14162587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2AB044-4DE2-23FF-9B77-84974DF08127}"/>
              </a:ext>
            </a:extLst>
          </p:cNvPr>
          <p:cNvSpPr txBox="1"/>
          <p:nvPr/>
        </p:nvSpPr>
        <p:spPr>
          <a:xfrm>
            <a:off x="609600" y="355600"/>
            <a:ext cx="8890000" cy="228600"/>
          </a:xfrm>
          <a:prstGeom prst="rect">
            <a:avLst/>
          </a:prstGeom>
          <a:noFill/>
        </p:spPr>
        <p:txBody>
          <a:bodyPr vert="horz" wrap="square" lIns="50800" tIns="25400" rIns="50800" bIns="25400" rtlCol="0" anchor="t">
            <a:noAutofit/>
          </a:bodyPr>
          <a:lstStyle/>
          <a:p>
            <a:r>
              <a:rPr lang="en-US" sz="900" b="1">
                <a:solidFill>
                  <a:srgbClr val="6D3EF2"/>
                </a:solidFill>
                <a:latin typeface="Segoe UI" panose="020B0502040204020203" pitchFamily="34" charset="0"/>
              </a:rPr>
              <a:t>READINESS &amp; OWNERSHIP</a:t>
            </a:r>
          </a:p>
        </p:txBody>
      </p:sp>
      <p:sp>
        <p:nvSpPr>
          <p:cNvPr id="3" name="TextBox 2">
            <a:extLst>
              <a:ext uri="{FF2B5EF4-FFF2-40B4-BE49-F238E27FC236}">
                <a16:creationId xmlns:a16="http://schemas.microsoft.com/office/drawing/2014/main" id="{1994E5A8-20D4-777B-CDCB-DF9EE343EEE5}"/>
              </a:ext>
            </a:extLst>
          </p:cNvPr>
          <p:cNvSpPr txBox="1"/>
          <p:nvPr/>
        </p:nvSpPr>
        <p:spPr>
          <a:xfrm>
            <a:off x="558800" y="596900"/>
            <a:ext cx="11023600" cy="533400"/>
          </a:xfrm>
          <a:prstGeom prst="rect">
            <a:avLst/>
          </a:prstGeom>
          <a:noFill/>
        </p:spPr>
        <p:txBody>
          <a:bodyPr vert="horz" wrap="square" lIns="50800" tIns="25400" rIns="50800" bIns="25400" rtlCol="0" anchor="t">
            <a:noAutofit/>
          </a:bodyPr>
          <a:lstStyle/>
          <a:p>
            <a:r>
              <a:rPr lang="en-US" sz="2500" b="1">
                <a:solidFill>
                  <a:srgbClr val="0B1536"/>
                </a:solidFill>
                <a:latin typeface="Segoe UI" panose="020B0502040204020203" pitchFamily="34" charset="0"/>
              </a:rPr>
              <a:t>Five decisions turn the demo into a production service</a:t>
            </a:r>
          </a:p>
        </p:txBody>
      </p:sp>
      <p:sp>
        <p:nvSpPr>
          <p:cNvPr id="4" name="TextBox 3">
            <a:extLst>
              <a:ext uri="{FF2B5EF4-FFF2-40B4-BE49-F238E27FC236}">
                <a16:creationId xmlns:a16="http://schemas.microsoft.com/office/drawing/2014/main" id="{FCDDCD9E-C2FA-C8EE-BE3B-7821D9388A50}"/>
              </a:ext>
            </a:extLst>
          </p:cNvPr>
          <p:cNvSpPr txBox="1"/>
          <p:nvPr/>
        </p:nvSpPr>
        <p:spPr>
          <a:xfrm>
            <a:off x="609600" y="1117600"/>
            <a:ext cx="10795000" cy="431800"/>
          </a:xfrm>
          <a:prstGeom prst="rect">
            <a:avLst/>
          </a:prstGeom>
          <a:noFill/>
        </p:spPr>
        <p:txBody>
          <a:bodyPr vert="horz" wrap="square" lIns="50800" tIns="25400" rIns="50800" bIns="25400" rtlCol="0" anchor="t">
            <a:noAutofit/>
          </a:bodyPr>
          <a:lstStyle/>
          <a:p>
            <a:r>
              <a:rPr lang="en-US" sz="1150">
                <a:solidFill>
                  <a:srgbClr val="667085"/>
                </a:solidFill>
                <a:latin typeface="Segoe UI" panose="020B0502040204020203" pitchFamily="34" charset="0"/>
              </a:rPr>
              <a:t>The remaining work is data ownership, access policy, validation and reliable operation.</a:t>
            </a:r>
          </a:p>
        </p:txBody>
      </p:sp>
      <p:sp>
        <p:nvSpPr>
          <p:cNvPr id="5" name="Rectangle: Rounded Corners 4">
            <a:extLst>
              <a:ext uri="{FF2B5EF4-FFF2-40B4-BE49-F238E27FC236}">
                <a16:creationId xmlns:a16="http://schemas.microsoft.com/office/drawing/2014/main" id="{D0BC1E1E-ADFC-BBEE-4382-DF45AD451206}"/>
              </a:ext>
            </a:extLst>
          </p:cNvPr>
          <p:cNvSpPr/>
          <p:nvPr/>
        </p:nvSpPr>
        <p:spPr>
          <a:xfrm>
            <a:off x="609600" y="1816100"/>
            <a:ext cx="3505200" cy="1676400"/>
          </a:xfrm>
          <a:prstGeom prst="roundRect">
            <a:avLst/>
          </a:prstGeom>
          <a:solidFill>
            <a:srgbClr val="FFFFFF"/>
          </a:solidFill>
          <a:ln w="12700">
            <a:solidFill>
              <a:srgbClr val="1769E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E613EAD1-C087-1409-E7D6-E63FBBCEA38B}"/>
              </a:ext>
            </a:extLst>
          </p:cNvPr>
          <p:cNvSpPr/>
          <p:nvPr/>
        </p:nvSpPr>
        <p:spPr>
          <a:xfrm>
            <a:off x="825500" y="2019300"/>
            <a:ext cx="457200" cy="457200"/>
          </a:xfrm>
          <a:prstGeom prst="ellipse">
            <a:avLst/>
          </a:prstGeom>
          <a:solidFill>
            <a:srgbClr val="1769E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56CCB39-024D-819D-BB19-5ABF49181A11}"/>
              </a:ext>
            </a:extLst>
          </p:cNvPr>
          <p:cNvSpPr txBox="1"/>
          <p:nvPr/>
        </p:nvSpPr>
        <p:spPr>
          <a:xfrm>
            <a:off x="825500" y="2019300"/>
            <a:ext cx="457200" cy="4572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1</a:t>
            </a:r>
          </a:p>
        </p:txBody>
      </p:sp>
      <p:sp>
        <p:nvSpPr>
          <p:cNvPr id="8" name="TextBox 7">
            <a:extLst>
              <a:ext uri="{FF2B5EF4-FFF2-40B4-BE49-F238E27FC236}">
                <a16:creationId xmlns:a16="http://schemas.microsoft.com/office/drawing/2014/main" id="{50FE2FBC-E7C9-7460-66D7-DDB5DDDA74FB}"/>
              </a:ext>
            </a:extLst>
          </p:cNvPr>
          <p:cNvSpPr txBox="1"/>
          <p:nvPr/>
        </p:nvSpPr>
        <p:spPr>
          <a:xfrm>
            <a:off x="1435100" y="2032000"/>
            <a:ext cx="2349500" cy="355600"/>
          </a:xfrm>
          <a:prstGeom prst="rect">
            <a:avLst/>
          </a:prstGeom>
          <a:noFill/>
        </p:spPr>
        <p:txBody>
          <a:bodyPr vert="horz" wrap="square" lIns="50800" tIns="25400" rIns="50800" bIns="25400" rtlCol="0" anchor="ctr">
            <a:noAutofit/>
          </a:bodyPr>
          <a:lstStyle/>
          <a:p>
            <a:r>
              <a:rPr lang="en-US" sz="1250" b="1">
                <a:solidFill>
                  <a:srgbClr val="0B1536"/>
                </a:solidFill>
                <a:latin typeface="Segoe UI" panose="020B0502040204020203" pitchFamily="34" charset="0"/>
              </a:rPr>
              <a:t>CONNECT</a:t>
            </a:r>
          </a:p>
        </p:txBody>
      </p:sp>
      <p:sp>
        <p:nvSpPr>
          <p:cNvPr id="9" name="TextBox 8">
            <a:extLst>
              <a:ext uri="{FF2B5EF4-FFF2-40B4-BE49-F238E27FC236}">
                <a16:creationId xmlns:a16="http://schemas.microsoft.com/office/drawing/2014/main" id="{6116C39B-7C8C-E03B-D69C-87DE5BD5E1AD}"/>
              </a:ext>
            </a:extLst>
          </p:cNvPr>
          <p:cNvSpPr txBox="1"/>
          <p:nvPr/>
        </p:nvSpPr>
        <p:spPr>
          <a:xfrm>
            <a:off x="838200" y="2590800"/>
            <a:ext cx="3048000" cy="698500"/>
          </a:xfrm>
          <a:prstGeom prst="rect">
            <a:avLst/>
          </a:prstGeom>
          <a:noFill/>
        </p:spPr>
        <p:txBody>
          <a:bodyPr vert="horz" wrap="square" lIns="50800" tIns="25400" rIns="50800" bIns="25400" rtlCol="0" anchor="t">
            <a:noAutofit/>
          </a:bodyPr>
          <a:lstStyle/>
          <a:p>
            <a:r>
              <a:rPr lang="en-US" sz="950">
                <a:solidFill>
                  <a:srgbClr val="667085"/>
                </a:solidFill>
                <a:latin typeface="Segoe UI" panose="020B0502040204020203" pitchFamily="34" charset="0"/>
              </a:rPr>
              <a:t>Production BuyAbans URL, Passport client and agreed sync load.</a:t>
            </a:r>
          </a:p>
        </p:txBody>
      </p:sp>
      <p:sp>
        <p:nvSpPr>
          <p:cNvPr id="10" name="Rectangle: Rounded Corners 9">
            <a:extLst>
              <a:ext uri="{FF2B5EF4-FFF2-40B4-BE49-F238E27FC236}">
                <a16:creationId xmlns:a16="http://schemas.microsoft.com/office/drawing/2014/main" id="{D3639ACF-3EDC-C47E-4928-D890E3ABA521}"/>
              </a:ext>
            </a:extLst>
          </p:cNvPr>
          <p:cNvSpPr/>
          <p:nvPr/>
        </p:nvSpPr>
        <p:spPr>
          <a:xfrm>
            <a:off x="4343400" y="1816100"/>
            <a:ext cx="3505200" cy="1676400"/>
          </a:xfrm>
          <a:prstGeom prst="roundRect">
            <a:avLst/>
          </a:prstGeom>
          <a:solidFill>
            <a:srgbClr val="FFFFFF"/>
          </a:solidFill>
          <a:ln w="12700">
            <a:solidFill>
              <a:srgbClr val="E5484D"/>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ADC7218-5DD1-775C-493B-664117A1B938}"/>
              </a:ext>
            </a:extLst>
          </p:cNvPr>
          <p:cNvSpPr/>
          <p:nvPr/>
        </p:nvSpPr>
        <p:spPr>
          <a:xfrm>
            <a:off x="4559300" y="2019300"/>
            <a:ext cx="457200" cy="457200"/>
          </a:xfrm>
          <a:prstGeom prst="ellipse">
            <a:avLst/>
          </a:prstGeom>
          <a:solidFill>
            <a:srgbClr val="E5484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7E12407F-18EC-7833-8C9E-32A7D45AE3EE}"/>
              </a:ext>
            </a:extLst>
          </p:cNvPr>
          <p:cNvSpPr txBox="1"/>
          <p:nvPr/>
        </p:nvSpPr>
        <p:spPr>
          <a:xfrm>
            <a:off x="4559300" y="2019300"/>
            <a:ext cx="457200" cy="4572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2</a:t>
            </a:r>
          </a:p>
        </p:txBody>
      </p:sp>
      <p:sp>
        <p:nvSpPr>
          <p:cNvPr id="13" name="TextBox 12">
            <a:extLst>
              <a:ext uri="{FF2B5EF4-FFF2-40B4-BE49-F238E27FC236}">
                <a16:creationId xmlns:a16="http://schemas.microsoft.com/office/drawing/2014/main" id="{8C5EED10-8246-EFBB-CD2F-A511F1B525C2}"/>
              </a:ext>
            </a:extLst>
          </p:cNvPr>
          <p:cNvSpPr txBox="1"/>
          <p:nvPr/>
        </p:nvSpPr>
        <p:spPr>
          <a:xfrm>
            <a:off x="5168900" y="2032000"/>
            <a:ext cx="2349500" cy="355600"/>
          </a:xfrm>
          <a:prstGeom prst="rect">
            <a:avLst/>
          </a:prstGeom>
          <a:noFill/>
        </p:spPr>
        <p:txBody>
          <a:bodyPr vert="horz" wrap="square" lIns="50800" tIns="25400" rIns="50800" bIns="25400" rtlCol="0" anchor="ctr">
            <a:noAutofit/>
          </a:bodyPr>
          <a:lstStyle/>
          <a:p>
            <a:r>
              <a:rPr lang="en-US" sz="1250" b="1">
                <a:solidFill>
                  <a:srgbClr val="0B1536"/>
                </a:solidFill>
                <a:latin typeface="Segoe UI" panose="020B0502040204020203" pitchFamily="34" charset="0"/>
              </a:rPr>
              <a:t>MAP STOCK</a:t>
            </a:r>
          </a:p>
        </p:txBody>
      </p:sp>
      <p:sp>
        <p:nvSpPr>
          <p:cNvPr id="14" name="TextBox 13">
            <a:extLst>
              <a:ext uri="{FF2B5EF4-FFF2-40B4-BE49-F238E27FC236}">
                <a16:creationId xmlns:a16="http://schemas.microsoft.com/office/drawing/2014/main" id="{3E8D3B8F-0DEF-6202-7C94-12FF16771037}"/>
              </a:ext>
            </a:extLst>
          </p:cNvPr>
          <p:cNvSpPr txBox="1"/>
          <p:nvPr/>
        </p:nvSpPr>
        <p:spPr>
          <a:xfrm>
            <a:off x="4572000" y="2590800"/>
            <a:ext cx="3048000" cy="698500"/>
          </a:xfrm>
          <a:prstGeom prst="rect">
            <a:avLst/>
          </a:prstGeom>
          <a:noFill/>
        </p:spPr>
        <p:txBody>
          <a:bodyPr vert="horz" wrap="square" lIns="50800" tIns="25400" rIns="50800" bIns="25400" rtlCol="0" anchor="t">
            <a:noAutofit/>
          </a:bodyPr>
          <a:lstStyle/>
          <a:p>
            <a:r>
              <a:rPr lang="en-US" sz="950">
                <a:solidFill>
                  <a:srgbClr val="667085"/>
                </a:solidFill>
                <a:latin typeface="Segoe UI" panose="020B0502040204020203" pitchFamily="34" charset="0"/>
              </a:rPr>
              <a:t>Define inventory-source-to-location truth, then rebuild recommendation inputs.</a:t>
            </a:r>
          </a:p>
        </p:txBody>
      </p:sp>
      <p:sp>
        <p:nvSpPr>
          <p:cNvPr id="15" name="Rectangle: Rounded Corners 14">
            <a:extLst>
              <a:ext uri="{FF2B5EF4-FFF2-40B4-BE49-F238E27FC236}">
                <a16:creationId xmlns:a16="http://schemas.microsoft.com/office/drawing/2014/main" id="{92F65B99-453F-4222-BCF7-0CF137720DF8}"/>
              </a:ext>
            </a:extLst>
          </p:cNvPr>
          <p:cNvSpPr/>
          <p:nvPr/>
        </p:nvSpPr>
        <p:spPr>
          <a:xfrm>
            <a:off x="8077200" y="1816100"/>
            <a:ext cx="3505200" cy="1676400"/>
          </a:xfrm>
          <a:prstGeom prst="roundRect">
            <a:avLst/>
          </a:prstGeom>
          <a:solidFill>
            <a:srgbClr val="FFFFFF"/>
          </a:solidFill>
          <a:ln w="12700">
            <a:solidFill>
              <a:srgbClr val="E58A00"/>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4404138-FD77-E534-A80D-B30883ABA647}"/>
              </a:ext>
            </a:extLst>
          </p:cNvPr>
          <p:cNvSpPr/>
          <p:nvPr/>
        </p:nvSpPr>
        <p:spPr>
          <a:xfrm>
            <a:off x="8293100" y="2019300"/>
            <a:ext cx="457200" cy="457200"/>
          </a:xfrm>
          <a:prstGeom prst="ellipse">
            <a:avLst/>
          </a:prstGeom>
          <a:solidFill>
            <a:srgbClr val="E58A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ED28B1D-FCFC-BE90-E8C8-3E03C594362A}"/>
              </a:ext>
            </a:extLst>
          </p:cNvPr>
          <p:cNvSpPr txBox="1"/>
          <p:nvPr/>
        </p:nvSpPr>
        <p:spPr>
          <a:xfrm>
            <a:off x="8293100" y="2019300"/>
            <a:ext cx="457200" cy="4572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3</a:t>
            </a:r>
          </a:p>
        </p:txBody>
      </p:sp>
      <p:sp>
        <p:nvSpPr>
          <p:cNvPr id="18" name="TextBox 17">
            <a:extLst>
              <a:ext uri="{FF2B5EF4-FFF2-40B4-BE49-F238E27FC236}">
                <a16:creationId xmlns:a16="http://schemas.microsoft.com/office/drawing/2014/main" id="{41C49EB0-7D89-DFA8-77D3-C6259EF1331F}"/>
              </a:ext>
            </a:extLst>
          </p:cNvPr>
          <p:cNvSpPr txBox="1"/>
          <p:nvPr/>
        </p:nvSpPr>
        <p:spPr>
          <a:xfrm>
            <a:off x="8902700" y="2032000"/>
            <a:ext cx="2349500" cy="355600"/>
          </a:xfrm>
          <a:prstGeom prst="rect">
            <a:avLst/>
          </a:prstGeom>
          <a:noFill/>
        </p:spPr>
        <p:txBody>
          <a:bodyPr vert="horz" wrap="square" lIns="50800" tIns="25400" rIns="50800" bIns="25400" rtlCol="0" anchor="ctr">
            <a:noAutofit/>
          </a:bodyPr>
          <a:lstStyle/>
          <a:p>
            <a:r>
              <a:rPr lang="en-US" sz="1250" b="1">
                <a:solidFill>
                  <a:srgbClr val="0B1536"/>
                </a:solidFill>
                <a:latin typeface="Segoe UI" panose="020B0502040204020203" pitchFamily="34" charset="0"/>
              </a:rPr>
              <a:t>CONTROL ACCESS</a:t>
            </a:r>
          </a:p>
        </p:txBody>
      </p:sp>
      <p:sp>
        <p:nvSpPr>
          <p:cNvPr id="19" name="TextBox 18">
            <a:extLst>
              <a:ext uri="{FF2B5EF4-FFF2-40B4-BE49-F238E27FC236}">
                <a16:creationId xmlns:a16="http://schemas.microsoft.com/office/drawing/2014/main" id="{1B5A34D7-DE84-5B4E-2FE1-57DB8928598B}"/>
              </a:ext>
            </a:extLst>
          </p:cNvPr>
          <p:cNvSpPr txBox="1"/>
          <p:nvPr/>
        </p:nvSpPr>
        <p:spPr>
          <a:xfrm>
            <a:off x="8305800" y="2590800"/>
            <a:ext cx="3048000" cy="698500"/>
          </a:xfrm>
          <a:prstGeom prst="rect">
            <a:avLst/>
          </a:prstGeom>
          <a:noFill/>
        </p:spPr>
        <p:txBody>
          <a:bodyPr vert="horz" wrap="square" lIns="50800" tIns="25400" rIns="50800" bIns="25400" rtlCol="0" anchor="t">
            <a:noAutofit/>
          </a:bodyPr>
          <a:lstStyle/>
          <a:p>
            <a:r>
              <a:rPr lang="en-US" sz="950">
                <a:solidFill>
                  <a:srgbClr val="667085"/>
                </a:solidFill>
                <a:latin typeface="Segoe UI" panose="020B0502040204020203" pitchFamily="34" charset="0"/>
              </a:rPr>
              <a:t>Roles, module permissions, operational triggers and account provisioning.</a:t>
            </a:r>
          </a:p>
        </p:txBody>
      </p:sp>
      <p:sp>
        <p:nvSpPr>
          <p:cNvPr id="20" name="Rectangle: Rounded Corners 19">
            <a:extLst>
              <a:ext uri="{FF2B5EF4-FFF2-40B4-BE49-F238E27FC236}">
                <a16:creationId xmlns:a16="http://schemas.microsoft.com/office/drawing/2014/main" id="{50A38EEE-4553-8725-4987-84323AD54639}"/>
              </a:ext>
            </a:extLst>
          </p:cNvPr>
          <p:cNvSpPr/>
          <p:nvPr/>
        </p:nvSpPr>
        <p:spPr>
          <a:xfrm>
            <a:off x="2476500" y="3822700"/>
            <a:ext cx="3505200" cy="1676400"/>
          </a:xfrm>
          <a:prstGeom prst="roundRect">
            <a:avLst/>
          </a:prstGeom>
          <a:solidFill>
            <a:srgbClr val="FFFFFF"/>
          </a:solidFill>
          <a:ln w="12700">
            <a:solidFill>
              <a:srgbClr val="6D3EF2"/>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059C108-B5AB-4C92-F68B-D07F9B0EDD48}"/>
              </a:ext>
            </a:extLst>
          </p:cNvPr>
          <p:cNvSpPr/>
          <p:nvPr/>
        </p:nvSpPr>
        <p:spPr>
          <a:xfrm>
            <a:off x="2692400" y="4025900"/>
            <a:ext cx="457200" cy="457200"/>
          </a:xfrm>
          <a:prstGeom prst="ellipse">
            <a:avLst/>
          </a:prstGeom>
          <a:solidFill>
            <a:srgbClr val="6D3EF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15A80B3C-DA76-5823-E853-AEBF59F4FF9D}"/>
              </a:ext>
            </a:extLst>
          </p:cNvPr>
          <p:cNvSpPr txBox="1"/>
          <p:nvPr/>
        </p:nvSpPr>
        <p:spPr>
          <a:xfrm>
            <a:off x="2692400" y="4025900"/>
            <a:ext cx="457200" cy="4572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4</a:t>
            </a:r>
          </a:p>
        </p:txBody>
      </p:sp>
      <p:sp>
        <p:nvSpPr>
          <p:cNvPr id="23" name="TextBox 22">
            <a:extLst>
              <a:ext uri="{FF2B5EF4-FFF2-40B4-BE49-F238E27FC236}">
                <a16:creationId xmlns:a16="http://schemas.microsoft.com/office/drawing/2014/main" id="{5533EE44-27CE-A131-A6A6-7D56CF9BF077}"/>
              </a:ext>
            </a:extLst>
          </p:cNvPr>
          <p:cNvSpPr txBox="1"/>
          <p:nvPr/>
        </p:nvSpPr>
        <p:spPr>
          <a:xfrm>
            <a:off x="3302000" y="4038600"/>
            <a:ext cx="2349500" cy="355600"/>
          </a:xfrm>
          <a:prstGeom prst="rect">
            <a:avLst/>
          </a:prstGeom>
          <a:noFill/>
        </p:spPr>
        <p:txBody>
          <a:bodyPr vert="horz" wrap="square" lIns="50800" tIns="25400" rIns="50800" bIns="25400" rtlCol="0" anchor="ctr">
            <a:noAutofit/>
          </a:bodyPr>
          <a:lstStyle/>
          <a:p>
            <a:r>
              <a:rPr lang="en-US" sz="1250" b="1">
                <a:solidFill>
                  <a:srgbClr val="0B1536"/>
                </a:solidFill>
                <a:latin typeface="Segoe UI" panose="020B0502040204020203" pitchFamily="34" charset="0"/>
              </a:rPr>
              <a:t>VALIDATE MODELS</a:t>
            </a:r>
          </a:p>
        </p:txBody>
      </p:sp>
      <p:sp>
        <p:nvSpPr>
          <p:cNvPr id="24" name="TextBox 23">
            <a:extLst>
              <a:ext uri="{FF2B5EF4-FFF2-40B4-BE49-F238E27FC236}">
                <a16:creationId xmlns:a16="http://schemas.microsoft.com/office/drawing/2014/main" id="{D7E2CE8C-7345-F0B8-449C-DB5FC8214790}"/>
              </a:ext>
            </a:extLst>
          </p:cNvPr>
          <p:cNvSpPr txBox="1"/>
          <p:nvPr/>
        </p:nvSpPr>
        <p:spPr>
          <a:xfrm>
            <a:off x="2705100" y="4597400"/>
            <a:ext cx="3048000" cy="698500"/>
          </a:xfrm>
          <a:prstGeom prst="rect">
            <a:avLst/>
          </a:prstGeom>
          <a:noFill/>
        </p:spPr>
        <p:txBody>
          <a:bodyPr vert="horz" wrap="square" lIns="50800" tIns="25400" rIns="50800" bIns="25400" rtlCol="0" anchor="t">
            <a:noAutofit/>
          </a:bodyPr>
          <a:lstStyle/>
          <a:p>
            <a:r>
              <a:rPr lang="en-US" sz="950">
                <a:solidFill>
                  <a:srgbClr val="667085"/>
                </a:solidFill>
                <a:latin typeface="Segoe UI" panose="020B0502040204020203" pitchFamily="34" charset="0"/>
              </a:rPr>
              <a:t>Use real history, scored horizons and a formal rule for changing the default.</a:t>
            </a:r>
          </a:p>
        </p:txBody>
      </p:sp>
      <p:sp>
        <p:nvSpPr>
          <p:cNvPr id="25" name="Rectangle: Rounded Corners 24">
            <a:extLst>
              <a:ext uri="{FF2B5EF4-FFF2-40B4-BE49-F238E27FC236}">
                <a16:creationId xmlns:a16="http://schemas.microsoft.com/office/drawing/2014/main" id="{C24EB095-7BAC-BA65-3174-0616FAE205A3}"/>
              </a:ext>
            </a:extLst>
          </p:cNvPr>
          <p:cNvSpPr/>
          <p:nvPr/>
        </p:nvSpPr>
        <p:spPr>
          <a:xfrm>
            <a:off x="6210300" y="3822700"/>
            <a:ext cx="3505200" cy="1676400"/>
          </a:xfrm>
          <a:prstGeom prst="roundRect">
            <a:avLst/>
          </a:prstGeom>
          <a:solidFill>
            <a:srgbClr val="FFFFFF"/>
          </a:solidFill>
          <a:ln w="12700">
            <a:solidFill>
              <a:srgbClr val="0E9F6E"/>
            </a:solidFill>
          </a:ln>
          <a:effectLst>
            <a:outerShdw blurRad="76200" dist="46361" dir="3315946" rotWithShape="0">
              <a:srgbClr val="0B1536">
                <a:alpha val="16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167A2484-D010-9A48-A399-BDBF69A38716}"/>
              </a:ext>
            </a:extLst>
          </p:cNvPr>
          <p:cNvSpPr/>
          <p:nvPr/>
        </p:nvSpPr>
        <p:spPr>
          <a:xfrm>
            <a:off x="6426200" y="4025900"/>
            <a:ext cx="457200" cy="457200"/>
          </a:xfrm>
          <a:prstGeom prst="ellipse">
            <a:avLst/>
          </a:prstGeom>
          <a:solidFill>
            <a:srgbClr val="0E9F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2FA62A44-81C5-0CDA-A114-2DC9C7758234}"/>
              </a:ext>
            </a:extLst>
          </p:cNvPr>
          <p:cNvSpPr txBox="1"/>
          <p:nvPr/>
        </p:nvSpPr>
        <p:spPr>
          <a:xfrm>
            <a:off x="6426200" y="4025900"/>
            <a:ext cx="457200" cy="4572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5</a:t>
            </a:r>
          </a:p>
        </p:txBody>
      </p:sp>
      <p:sp>
        <p:nvSpPr>
          <p:cNvPr id="28" name="TextBox 27">
            <a:extLst>
              <a:ext uri="{FF2B5EF4-FFF2-40B4-BE49-F238E27FC236}">
                <a16:creationId xmlns:a16="http://schemas.microsoft.com/office/drawing/2014/main" id="{572265F2-F6F5-2920-3C43-F64C9DD031F9}"/>
              </a:ext>
            </a:extLst>
          </p:cNvPr>
          <p:cNvSpPr txBox="1"/>
          <p:nvPr/>
        </p:nvSpPr>
        <p:spPr>
          <a:xfrm>
            <a:off x="7035800" y="4038600"/>
            <a:ext cx="2349500" cy="355600"/>
          </a:xfrm>
          <a:prstGeom prst="rect">
            <a:avLst/>
          </a:prstGeom>
          <a:noFill/>
        </p:spPr>
        <p:txBody>
          <a:bodyPr vert="horz" wrap="square" lIns="50800" tIns="25400" rIns="50800" bIns="25400" rtlCol="0" anchor="ctr">
            <a:noAutofit/>
          </a:bodyPr>
          <a:lstStyle/>
          <a:p>
            <a:r>
              <a:rPr lang="en-US" sz="1250" b="1">
                <a:solidFill>
                  <a:srgbClr val="0B1536"/>
                </a:solidFill>
                <a:latin typeface="Segoe UI" panose="020B0502040204020203" pitchFamily="34" charset="0"/>
              </a:rPr>
              <a:t>OPERATE</a:t>
            </a:r>
          </a:p>
        </p:txBody>
      </p:sp>
      <p:sp>
        <p:nvSpPr>
          <p:cNvPr id="29" name="TextBox 28">
            <a:extLst>
              <a:ext uri="{FF2B5EF4-FFF2-40B4-BE49-F238E27FC236}">
                <a16:creationId xmlns:a16="http://schemas.microsoft.com/office/drawing/2014/main" id="{57AB7D0A-743C-3C01-E887-C15BC4E70190}"/>
              </a:ext>
            </a:extLst>
          </p:cNvPr>
          <p:cNvSpPr txBox="1"/>
          <p:nvPr/>
        </p:nvSpPr>
        <p:spPr>
          <a:xfrm>
            <a:off x="6438900" y="4597400"/>
            <a:ext cx="3048000" cy="698500"/>
          </a:xfrm>
          <a:prstGeom prst="rect">
            <a:avLst/>
          </a:prstGeom>
          <a:noFill/>
        </p:spPr>
        <p:txBody>
          <a:bodyPr vert="horz" wrap="square" lIns="50800" tIns="25400" rIns="50800" bIns="25400" rtlCol="0" anchor="t">
            <a:noAutofit/>
          </a:bodyPr>
          <a:lstStyle/>
          <a:p>
            <a:r>
              <a:rPr lang="en-US" sz="950">
                <a:solidFill>
                  <a:srgbClr val="667085"/>
                </a:solidFill>
                <a:latin typeface="Segoe UI" panose="020B0502040204020203" pitchFamily="34" charset="0"/>
              </a:rPr>
              <a:t>Hosting, database/cache, backups, mail, workers, cron, Python and monitoring.</a:t>
            </a:r>
          </a:p>
        </p:txBody>
      </p:sp>
      <p:sp>
        <p:nvSpPr>
          <p:cNvPr id="30" name="Rectangle: Rounded Corners 29">
            <a:extLst>
              <a:ext uri="{FF2B5EF4-FFF2-40B4-BE49-F238E27FC236}">
                <a16:creationId xmlns:a16="http://schemas.microsoft.com/office/drawing/2014/main" id="{8723B0B4-9C00-8987-62C5-B142236B4D06}"/>
              </a:ext>
            </a:extLst>
          </p:cNvPr>
          <p:cNvSpPr/>
          <p:nvPr/>
        </p:nvSpPr>
        <p:spPr>
          <a:xfrm>
            <a:off x="1993900" y="5854700"/>
            <a:ext cx="8204200" cy="431800"/>
          </a:xfrm>
          <a:prstGeom prst="roundRect">
            <a:avLst/>
          </a:prstGeom>
          <a:solidFill>
            <a:srgbClr val="0B1536"/>
          </a:solidFill>
          <a:ln w="12700">
            <a:solidFill>
              <a:srgbClr val="0B153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F799414A-90C2-AB70-2C16-A2C109532E7C}"/>
              </a:ext>
            </a:extLst>
          </p:cNvPr>
          <p:cNvSpPr txBox="1"/>
          <p:nvPr/>
        </p:nvSpPr>
        <p:spPr>
          <a:xfrm>
            <a:off x="1993900" y="5854700"/>
            <a:ext cx="8204200" cy="431800"/>
          </a:xfrm>
          <a:prstGeom prst="rect">
            <a:avLst/>
          </a:prstGeom>
          <a:noFill/>
        </p:spPr>
        <p:txBody>
          <a:bodyPr vert="horz" wrap="square" lIns="50800" tIns="25400" rIns="50800" bIns="25400" rtlCol="0" anchor="ctr">
            <a:noAutofit/>
          </a:bodyPr>
          <a:lstStyle/>
          <a:p>
            <a:pPr algn="ctr"/>
            <a:r>
              <a:rPr lang="en-US" sz="930" b="1">
                <a:solidFill>
                  <a:srgbClr val="FFFFFF"/>
                </a:solidFill>
                <a:latin typeface="Segoe UI" panose="020B0502040204020203" pitchFamily="34" charset="0"/>
              </a:rPr>
              <a:t>CURRENT POSITION: management demo / controlled pilot - not production decision automation</a:t>
            </a:r>
          </a:p>
        </p:txBody>
      </p:sp>
      <p:sp>
        <p:nvSpPr>
          <p:cNvPr id="32" name="TextBox 31">
            <a:extLst>
              <a:ext uri="{FF2B5EF4-FFF2-40B4-BE49-F238E27FC236}">
                <a16:creationId xmlns:a16="http://schemas.microsoft.com/office/drawing/2014/main" id="{2A519029-84E2-771E-5401-3C6F8488A8E9}"/>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667085"/>
                </a:solidFill>
                <a:latin typeface="Segoe UI" panose="020B0502040204020203" pitchFamily="34" charset="0"/>
              </a:rPr>
              <a:t>Inventory Forecasting | Current-system briefing | 04 Sep 2026</a:t>
            </a:r>
          </a:p>
        </p:txBody>
      </p:sp>
      <p:sp>
        <p:nvSpPr>
          <p:cNvPr id="33" name="TextBox 32">
            <a:extLst>
              <a:ext uri="{FF2B5EF4-FFF2-40B4-BE49-F238E27FC236}">
                <a16:creationId xmlns:a16="http://schemas.microsoft.com/office/drawing/2014/main" id="{C677F527-596F-CF63-12EC-66D806CD24A1}"/>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667085"/>
                </a:solidFill>
                <a:latin typeface="Segoe UI" panose="020B0502040204020203" pitchFamily="34" charset="0"/>
              </a:rPr>
              <a:t>21</a:t>
            </a:r>
          </a:p>
        </p:txBody>
      </p:sp>
    </p:spTree>
    <p:extLst>
      <p:ext uri="{BB962C8B-B14F-4D97-AF65-F5344CB8AC3E}">
        <p14:creationId xmlns:p14="http://schemas.microsoft.com/office/powerpoint/2010/main" val="3184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536"/>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8E71101-3BB4-2B3E-A337-6022CD7ECBB7}"/>
              </a:ext>
            </a:extLst>
          </p:cNvPr>
          <p:cNvSpPr txBox="1"/>
          <p:nvPr/>
        </p:nvSpPr>
        <p:spPr>
          <a:xfrm>
            <a:off x="635000" y="431800"/>
            <a:ext cx="3810000" cy="279400"/>
          </a:xfrm>
          <a:prstGeom prst="rect">
            <a:avLst/>
          </a:prstGeom>
          <a:noFill/>
        </p:spPr>
        <p:txBody>
          <a:bodyPr vert="horz" wrap="square" lIns="50800" tIns="25400" rIns="50800" bIns="25400" rtlCol="0" anchor="ctr">
            <a:noAutofit/>
          </a:bodyPr>
          <a:lstStyle/>
          <a:p>
            <a:r>
              <a:rPr lang="en-US" sz="1000" b="1">
                <a:solidFill>
                  <a:srgbClr val="E4F7F8"/>
                </a:solidFill>
                <a:latin typeface="Segoe UI" panose="020B0502040204020203" pitchFamily="34" charset="0"/>
              </a:rPr>
              <a:t>LIVE DEMO</a:t>
            </a:r>
          </a:p>
        </p:txBody>
      </p:sp>
      <p:sp>
        <p:nvSpPr>
          <p:cNvPr id="3" name="TextBox 2">
            <a:extLst>
              <a:ext uri="{FF2B5EF4-FFF2-40B4-BE49-F238E27FC236}">
                <a16:creationId xmlns:a16="http://schemas.microsoft.com/office/drawing/2014/main" id="{3D5F3503-E5D0-34DF-A7A0-C97E54722661}"/>
              </a:ext>
            </a:extLst>
          </p:cNvPr>
          <p:cNvSpPr txBox="1"/>
          <p:nvPr/>
        </p:nvSpPr>
        <p:spPr>
          <a:xfrm>
            <a:off x="596900" y="787400"/>
            <a:ext cx="8890000" cy="571500"/>
          </a:xfrm>
          <a:prstGeom prst="rect">
            <a:avLst/>
          </a:prstGeom>
          <a:noFill/>
        </p:spPr>
        <p:txBody>
          <a:bodyPr vert="horz" wrap="square" lIns="50800" tIns="25400" rIns="50800" bIns="25400" rtlCol="0" anchor="t">
            <a:noAutofit/>
          </a:bodyPr>
          <a:lstStyle/>
          <a:p>
            <a:r>
              <a:rPr lang="en-US" sz="2900" b="1">
                <a:solidFill>
                  <a:srgbClr val="FFFFFF"/>
                </a:solidFill>
                <a:latin typeface="Segoe UI" panose="020B0502040204020203" pitchFamily="34" charset="0"/>
              </a:rPr>
              <a:t>A clear eight-minute route</a:t>
            </a:r>
          </a:p>
        </p:txBody>
      </p:sp>
      <p:sp>
        <p:nvSpPr>
          <p:cNvPr id="4" name="Rectangle: Rounded Corners 3">
            <a:extLst>
              <a:ext uri="{FF2B5EF4-FFF2-40B4-BE49-F238E27FC236}">
                <a16:creationId xmlns:a16="http://schemas.microsoft.com/office/drawing/2014/main" id="{468D4B15-0AD0-76DE-BCC3-1A9382536709}"/>
              </a:ext>
            </a:extLst>
          </p:cNvPr>
          <p:cNvSpPr/>
          <p:nvPr/>
        </p:nvSpPr>
        <p:spPr>
          <a:xfrm>
            <a:off x="609600" y="1676400"/>
            <a:ext cx="3429000" cy="1295400"/>
          </a:xfrm>
          <a:prstGeom prst="roundRect">
            <a:avLst/>
          </a:prstGeom>
          <a:solidFill>
            <a:srgbClr val="FFFFFF"/>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183BC03B-C61B-CE90-517A-ED68C5E230F2}"/>
              </a:ext>
            </a:extLst>
          </p:cNvPr>
          <p:cNvSpPr/>
          <p:nvPr/>
        </p:nvSpPr>
        <p:spPr>
          <a:xfrm>
            <a:off x="800100" y="18669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A9E0A34-242D-4D3C-B99A-08DE62FC3FC5}"/>
              </a:ext>
            </a:extLst>
          </p:cNvPr>
          <p:cNvSpPr txBox="1"/>
          <p:nvPr/>
        </p:nvSpPr>
        <p:spPr>
          <a:xfrm>
            <a:off x="800100" y="18669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1</a:t>
            </a:r>
          </a:p>
        </p:txBody>
      </p:sp>
      <p:sp>
        <p:nvSpPr>
          <p:cNvPr id="7" name="TextBox 6">
            <a:extLst>
              <a:ext uri="{FF2B5EF4-FFF2-40B4-BE49-F238E27FC236}">
                <a16:creationId xmlns:a16="http://schemas.microsoft.com/office/drawing/2014/main" id="{6857D1B4-6BD7-179D-5479-811AB6BAF176}"/>
              </a:ext>
            </a:extLst>
          </p:cNvPr>
          <p:cNvSpPr txBox="1"/>
          <p:nvPr/>
        </p:nvSpPr>
        <p:spPr>
          <a:xfrm>
            <a:off x="1358900" y="1854200"/>
            <a:ext cx="2413000" cy="355600"/>
          </a:xfrm>
          <a:prstGeom prst="rect">
            <a:avLst/>
          </a:prstGeom>
          <a:noFill/>
        </p:spPr>
        <p:txBody>
          <a:bodyPr vert="horz" wrap="square" lIns="50800" tIns="25400" rIns="50800" bIns="25400" rtlCol="0" anchor="ctr">
            <a:noAutofit/>
          </a:bodyPr>
          <a:lstStyle/>
          <a:p>
            <a:r>
              <a:rPr lang="en-US" sz="1150" b="1">
                <a:solidFill>
                  <a:srgbClr val="0B1536"/>
                </a:solidFill>
                <a:latin typeface="Segoe UI" panose="020B0502040204020203" pitchFamily="34" charset="0"/>
              </a:rPr>
              <a:t>DASHBOARD</a:t>
            </a:r>
          </a:p>
        </p:txBody>
      </p:sp>
      <p:sp>
        <p:nvSpPr>
          <p:cNvPr id="8" name="TextBox 7">
            <a:extLst>
              <a:ext uri="{FF2B5EF4-FFF2-40B4-BE49-F238E27FC236}">
                <a16:creationId xmlns:a16="http://schemas.microsoft.com/office/drawing/2014/main" id="{6DCA14A5-2201-2E5F-F72E-76F805D501E5}"/>
              </a:ext>
            </a:extLst>
          </p:cNvPr>
          <p:cNvSpPr txBox="1"/>
          <p:nvPr/>
        </p:nvSpPr>
        <p:spPr>
          <a:xfrm>
            <a:off x="825500" y="2374900"/>
            <a:ext cx="2997200" cy="431800"/>
          </a:xfrm>
          <a:prstGeom prst="rect">
            <a:avLst/>
          </a:prstGeom>
          <a:noFill/>
        </p:spPr>
        <p:txBody>
          <a:bodyPr vert="horz" wrap="square" lIns="50800" tIns="25400" rIns="50800" bIns="25400" rtlCol="0" anchor="t">
            <a:noAutofit/>
          </a:bodyPr>
          <a:lstStyle/>
          <a:p>
            <a:r>
              <a:rPr lang="en-US" sz="880">
                <a:solidFill>
                  <a:srgbClr val="667085"/>
                </a:solidFill>
                <a:latin typeface="Segoe UI" panose="020B0502040204020203" pitchFamily="34" charset="0"/>
              </a:rPr>
              <a:t>Trade, stock position and forecast health</a:t>
            </a:r>
          </a:p>
        </p:txBody>
      </p:sp>
      <p:sp>
        <p:nvSpPr>
          <p:cNvPr id="9" name="Rectangle: Rounded Corners 8">
            <a:extLst>
              <a:ext uri="{FF2B5EF4-FFF2-40B4-BE49-F238E27FC236}">
                <a16:creationId xmlns:a16="http://schemas.microsoft.com/office/drawing/2014/main" id="{7C6D65C6-A9DF-F7FF-4234-3EDED39DCF05}"/>
              </a:ext>
            </a:extLst>
          </p:cNvPr>
          <p:cNvSpPr/>
          <p:nvPr/>
        </p:nvSpPr>
        <p:spPr>
          <a:xfrm>
            <a:off x="4343400" y="1676400"/>
            <a:ext cx="3429000" cy="1295400"/>
          </a:xfrm>
          <a:prstGeom prst="roundRect">
            <a:avLst/>
          </a:prstGeom>
          <a:solidFill>
            <a:srgbClr val="FFFFFF"/>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1B86EED-2596-7B34-2315-65FAF473A171}"/>
              </a:ext>
            </a:extLst>
          </p:cNvPr>
          <p:cNvSpPr/>
          <p:nvPr/>
        </p:nvSpPr>
        <p:spPr>
          <a:xfrm>
            <a:off x="4533900" y="18669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F867D13-C49B-74E7-5A6A-3EC581BC0623}"/>
              </a:ext>
            </a:extLst>
          </p:cNvPr>
          <p:cNvSpPr txBox="1"/>
          <p:nvPr/>
        </p:nvSpPr>
        <p:spPr>
          <a:xfrm>
            <a:off x="4533900" y="18669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2</a:t>
            </a:r>
          </a:p>
        </p:txBody>
      </p:sp>
      <p:sp>
        <p:nvSpPr>
          <p:cNvPr id="12" name="TextBox 11">
            <a:extLst>
              <a:ext uri="{FF2B5EF4-FFF2-40B4-BE49-F238E27FC236}">
                <a16:creationId xmlns:a16="http://schemas.microsoft.com/office/drawing/2014/main" id="{5C7281F0-6D08-7A33-A144-AA0F827334B2}"/>
              </a:ext>
            </a:extLst>
          </p:cNvPr>
          <p:cNvSpPr txBox="1"/>
          <p:nvPr/>
        </p:nvSpPr>
        <p:spPr>
          <a:xfrm>
            <a:off x="5092700" y="1854200"/>
            <a:ext cx="2413000" cy="355600"/>
          </a:xfrm>
          <a:prstGeom prst="rect">
            <a:avLst/>
          </a:prstGeom>
          <a:noFill/>
        </p:spPr>
        <p:txBody>
          <a:bodyPr vert="horz" wrap="square" lIns="50800" tIns="25400" rIns="50800" bIns="25400" rtlCol="0" anchor="ctr">
            <a:noAutofit/>
          </a:bodyPr>
          <a:lstStyle/>
          <a:p>
            <a:r>
              <a:rPr lang="en-US" sz="1150" b="1">
                <a:solidFill>
                  <a:srgbClr val="0B1536"/>
                </a:solidFill>
                <a:latin typeface="Segoe UI" panose="020B0502040204020203" pitchFamily="34" charset="0"/>
              </a:rPr>
              <a:t>BUYABANS SYNC</a:t>
            </a:r>
          </a:p>
        </p:txBody>
      </p:sp>
      <p:sp>
        <p:nvSpPr>
          <p:cNvPr id="13" name="TextBox 12">
            <a:extLst>
              <a:ext uri="{FF2B5EF4-FFF2-40B4-BE49-F238E27FC236}">
                <a16:creationId xmlns:a16="http://schemas.microsoft.com/office/drawing/2014/main" id="{B22ACFC3-99A1-752E-B2CF-5171A6EA56A6}"/>
              </a:ext>
            </a:extLst>
          </p:cNvPr>
          <p:cNvSpPr txBox="1"/>
          <p:nvPr/>
        </p:nvSpPr>
        <p:spPr>
          <a:xfrm>
            <a:off x="4559300" y="2374900"/>
            <a:ext cx="2997200" cy="431800"/>
          </a:xfrm>
          <a:prstGeom prst="rect">
            <a:avLst/>
          </a:prstGeom>
          <a:noFill/>
        </p:spPr>
        <p:txBody>
          <a:bodyPr vert="horz" wrap="square" lIns="50800" tIns="25400" rIns="50800" bIns="25400" rtlCol="0" anchor="t">
            <a:noAutofit/>
          </a:bodyPr>
          <a:lstStyle/>
          <a:p>
            <a:r>
              <a:rPr lang="en-US" sz="880">
                <a:solidFill>
                  <a:srgbClr val="667085"/>
                </a:solidFill>
                <a:latin typeface="Segoe UI" panose="020B0502040204020203" pitchFamily="34" charset="0"/>
              </a:rPr>
              <a:t>Connection, stages and run history</a:t>
            </a:r>
          </a:p>
        </p:txBody>
      </p:sp>
      <p:sp>
        <p:nvSpPr>
          <p:cNvPr id="14" name="Rectangle: Rounded Corners 13">
            <a:extLst>
              <a:ext uri="{FF2B5EF4-FFF2-40B4-BE49-F238E27FC236}">
                <a16:creationId xmlns:a16="http://schemas.microsoft.com/office/drawing/2014/main" id="{6287CB21-B523-CDE8-6026-0992D2D7AE11}"/>
              </a:ext>
            </a:extLst>
          </p:cNvPr>
          <p:cNvSpPr/>
          <p:nvPr/>
        </p:nvSpPr>
        <p:spPr>
          <a:xfrm>
            <a:off x="8077200" y="1676400"/>
            <a:ext cx="3429000" cy="1295400"/>
          </a:xfrm>
          <a:prstGeom prst="roundRect">
            <a:avLst/>
          </a:prstGeom>
          <a:solidFill>
            <a:srgbClr val="FFFFFF"/>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99FCAEE-5E5A-4247-9D22-E093432F14D5}"/>
              </a:ext>
            </a:extLst>
          </p:cNvPr>
          <p:cNvSpPr/>
          <p:nvPr/>
        </p:nvSpPr>
        <p:spPr>
          <a:xfrm>
            <a:off x="8267700" y="18669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0B95219-5F6C-C2AD-9703-60F375892CCD}"/>
              </a:ext>
            </a:extLst>
          </p:cNvPr>
          <p:cNvSpPr txBox="1"/>
          <p:nvPr/>
        </p:nvSpPr>
        <p:spPr>
          <a:xfrm>
            <a:off x="8267700" y="18669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3</a:t>
            </a:r>
          </a:p>
        </p:txBody>
      </p:sp>
      <p:sp>
        <p:nvSpPr>
          <p:cNvPr id="17" name="TextBox 16">
            <a:extLst>
              <a:ext uri="{FF2B5EF4-FFF2-40B4-BE49-F238E27FC236}">
                <a16:creationId xmlns:a16="http://schemas.microsoft.com/office/drawing/2014/main" id="{BB4E5DEC-3027-45C9-82B0-7EECFD900C1F}"/>
              </a:ext>
            </a:extLst>
          </p:cNvPr>
          <p:cNvSpPr txBox="1"/>
          <p:nvPr/>
        </p:nvSpPr>
        <p:spPr>
          <a:xfrm>
            <a:off x="8826500" y="1854200"/>
            <a:ext cx="2413000" cy="355600"/>
          </a:xfrm>
          <a:prstGeom prst="rect">
            <a:avLst/>
          </a:prstGeom>
          <a:noFill/>
        </p:spPr>
        <p:txBody>
          <a:bodyPr vert="horz" wrap="square" lIns="50800" tIns="25400" rIns="50800" bIns="25400" rtlCol="0" anchor="ctr">
            <a:noAutofit/>
          </a:bodyPr>
          <a:lstStyle/>
          <a:p>
            <a:r>
              <a:rPr lang="en-US" sz="1150" b="1">
                <a:solidFill>
                  <a:srgbClr val="0B1536"/>
                </a:solidFill>
                <a:latin typeface="Segoe UI" panose="020B0502040204020203" pitchFamily="34" charset="0"/>
              </a:rPr>
              <a:t>PRODUCTS + VARIANTS</a:t>
            </a:r>
          </a:p>
        </p:txBody>
      </p:sp>
      <p:sp>
        <p:nvSpPr>
          <p:cNvPr id="18" name="TextBox 17">
            <a:extLst>
              <a:ext uri="{FF2B5EF4-FFF2-40B4-BE49-F238E27FC236}">
                <a16:creationId xmlns:a16="http://schemas.microsoft.com/office/drawing/2014/main" id="{19890577-A01D-5EEC-7AF9-F74DE68364B1}"/>
              </a:ext>
            </a:extLst>
          </p:cNvPr>
          <p:cNvSpPr txBox="1"/>
          <p:nvPr/>
        </p:nvSpPr>
        <p:spPr>
          <a:xfrm>
            <a:off x="8293100" y="2374900"/>
            <a:ext cx="2997200" cy="431800"/>
          </a:xfrm>
          <a:prstGeom prst="rect">
            <a:avLst/>
          </a:prstGeom>
          <a:noFill/>
        </p:spPr>
        <p:txBody>
          <a:bodyPr vert="horz" wrap="square" lIns="50800" tIns="25400" rIns="50800" bIns="25400" rtlCol="0" anchor="t">
            <a:noAutofit/>
          </a:bodyPr>
          <a:lstStyle/>
          <a:p>
            <a:r>
              <a:rPr lang="en-US" sz="880">
                <a:solidFill>
                  <a:srgbClr val="667085"/>
                </a:solidFill>
                <a:latin typeface="Segoe UI" panose="020B0502040204020203" pitchFamily="34" charset="0"/>
              </a:rPr>
              <a:t>Tree, normalized axes and SKU identity</a:t>
            </a:r>
          </a:p>
        </p:txBody>
      </p:sp>
      <p:sp>
        <p:nvSpPr>
          <p:cNvPr id="19" name="Rectangle: Rounded Corners 18">
            <a:extLst>
              <a:ext uri="{FF2B5EF4-FFF2-40B4-BE49-F238E27FC236}">
                <a16:creationId xmlns:a16="http://schemas.microsoft.com/office/drawing/2014/main" id="{1A5A6093-50E2-C46B-1B7F-B0E4796891A1}"/>
              </a:ext>
            </a:extLst>
          </p:cNvPr>
          <p:cNvSpPr/>
          <p:nvPr/>
        </p:nvSpPr>
        <p:spPr>
          <a:xfrm>
            <a:off x="609600" y="3276600"/>
            <a:ext cx="3429000" cy="1295400"/>
          </a:xfrm>
          <a:prstGeom prst="roundRect">
            <a:avLst/>
          </a:prstGeom>
          <a:solidFill>
            <a:srgbClr val="FFFFFF"/>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A7B8189-A218-6B80-F029-AEF010E44ABE}"/>
              </a:ext>
            </a:extLst>
          </p:cNvPr>
          <p:cNvSpPr/>
          <p:nvPr/>
        </p:nvSpPr>
        <p:spPr>
          <a:xfrm>
            <a:off x="800100" y="34671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B8B8CAFC-0E6E-F2E6-39C8-B8C8D77B517D}"/>
              </a:ext>
            </a:extLst>
          </p:cNvPr>
          <p:cNvSpPr txBox="1"/>
          <p:nvPr/>
        </p:nvSpPr>
        <p:spPr>
          <a:xfrm>
            <a:off x="800100" y="34671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4</a:t>
            </a:r>
          </a:p>
        </p:txBody>
      </p:sp>
      <p:sp>
        <p:nvSpPr>
          <p:cNvPr id="22" name="TextBox 21">
            <a:extLst>
              <a:ext uri="{FF2B5EF4-FFF2-40B4-BE49-F238E27FC236}">
                <a16:creationId xmlns:a16="http://schemas.microsoft.com/office/drawing/2014/main" id="{A5DD3DB9-2735-8A20-FEE2-ADFAA0C71ADE}"/>
              </a:ext>
            </a:extLst>
          </p:cNvPr>
          <p:cNvSpPr txBox="1"/>
          <p:nvPr/>
        </p:nvSpPr>
        <p:spPr>
          <a:xfrm>
            <a:off x="1358900" y="3454400"/>
            <a:ext cx="2413000" cy="355600"/>
          </a:xfrm>
          <a:prstGeom prst="rect">
            <a:avLst/>
          </a:prstGeom>
          <a:noFill/>
        </p:spPr>
        <p:txBody>
          <a:bodyPr vert="horz" wrap="square" lIns="50800" tIns="25400" rIns="50800" bIns="25400" rtlCol="0" anchor="ctr">
            <a:noAutofit/>
          </a:bodyPr>
          <a:lstStyle/>
          <a:p>
            <a:r>
              <a:rPr lang="en-US" sz="1150" b="1">
                <a:solidFill>
                  <a:srgbClr val="0B1536"/>
                </a:solidFill>
                <a:latin typeface="Segoe UI" panose="020B0502040204020203" pitchFamily="34" charset="0"/>
              </a:rPr>
              <a:t>FORECASTS</a:t>
            </a:r>
          </a:p>
        </p:txBody>
      </p:sp>
      <p:sp>
        <p:nvSpPr>
          <p:cNvPr id="23" name="TextBox 22">
            <a:extLst>
              <a:ext uri="{FF2B5EF4-FFF2-40B4-BE49-F238E27FC236}">
                <a16:creationId xmlns:a16="http://schemas.microsoft.com/office/drawing/2014/main" id="{7F711242-D92B-BD0D-20A0-9F763F62EB95}"/>
              </a:ext>
            </a:extLst>
          </p:cNvPr>
          <p:cNvSpPr txBox="1"/>
          <p:nvPr/>
        </p:nvSpPr>
        <p:spPr>
          <a:xfrm>
            <a:off x="825500" y="3975100"/>
            <a:ext cx="2997200" cy="431800"/>
          </a:xfrm>
          <a:prstGeom prst="rect">
            <a:avLst/>
          </a:prstGeom>
          <a:noFill/>
        </p:spPr>
        <p:txBody>
          <a:bodyPr vert="horz" wrap="square" lIns="50800" tIns="25400" rIns="50800" bIns="25400" rtlCol="0" anchor="t">
            <a:noAutofit/>
          </a:bodyPr>
          <a:lstStyle/>
          <a:p>
            <a:r>
              <a:rPr lang="en-US" sz="880">
                <a:solidFill>
                  <a:srgbClr val="667085"/>
                </a:solidFill>
                <a:latin typeface="Segoe UI" panose="020B0502040204020203" pitchFamily="34" charset="0"/>
              </a:rPr>
              <a:t>Headline, range, confidence and basis</a:t>
            </a:r>
          </a:p>
        </p:txBody>
      </p:sp>
      <p:sp>
        <p:nvSpPr>
          <p:cNvPr id="24" name="Rectangle: Rounded Corners 23">
            <a:extLst>
              <a:ext uri="{FF2B5EF4-FFF2-40B4-BE49-F238E27FC236}">
                <a16:creationId xmlns:a16="http://schemas.microsoft.com/office/drawing/2014/main" id="{208F7F90-874F-85CE-5D9E-F1CB7FCFD473}"/>
              </a:ext>
            </a:extLst>
          </p:cNvPr>
          <p:cNvSpPr/>
          <p:nvPr/>
        </p:nvSpPr>
        <p:spPr>
          <a:xfrm>
            <a:off x="4343400" y="3276600"/>
            <a:ext cx="3429000" cy="1295400"/>
          </a:xfrm>
          <a:prstGeom prst="roundRect">
            <a:avLst/>
          </a:prstGeom>
          <a:solidFill>
            <a:srgbClr val="FFFFFF"/>
          </a:solidFill>
          <a:ln w="12700">
            <a:solidFill>
              <a:srgbClr val="078A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B6CF5F63-0D45-B532-EA85-EA481F611C68}"/>
              </a:ext>
            </a:extLst>
          </p:cNvPr>
          <p:cNvSpPr/>
          <p:nvPr/>
        </p:nvSpPr>
        <p:spPr>
          <a:xfrm>
            <a:off x="4533900" y="3467100"/>
            <a:ext cx="431800" cy="431800"/>
          </a:xfrm>
          <a:prstGeom prst="ellipse">
            <a:avLst/>
          </a:prstGeom>
          <a:solidFill>
            <a:srgbClr val="078A9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F0AEE1A0-0B7C-1375-D9FB-6AEFA1E66EEC}"/>
              </a:ext>
            </a:extLst>
          </p:cNvPr>
          <p:cNvSpPr txBox="1"/>
          <p:nvPr/>
        </p:nvSpPr>
        <p:spPr>
          <a:xfrm>
            <a:off x="4533900" y="34671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5</a:t>
            </a:r>
          </a:p>
        </p:txBody>
      </p:sp>
      <p:sp>
        <p:nvSpPr>
          <p:cNvPr id="27" name="TextBox 26">
            <a:extLst>
              <a:ext uri="{FF2B5EF4-FFF2-40B4-BE49-F238E27FC236}">
                <a16:creationId xmlns:a16="http://schemas.microsoft.com/office/drawing/2014/main" id="{63657ED1-A219-A12F-2BC1-EA5AB5272687}"/>
              </a:ext>
            </a:extLst>
          </p:cNvPr>
          <p:cNvSpPr txBox="1"/>
          <p:nvPr/>
        </p:nvSpPr>
        <p:spPr>
          <a:xfrm>
            <a:off x="5092700" y="3454400"/>
            <a:ext cx="2413000" cy="355600"/>
          </a:xfrm>
          <a:prstGeom prst="rect">
            <a:avLst/>
          </a:prstGeom>
          <a:noFill/>
        </p:spPr>
        <p:txBody>
          <a:bodyPr vert="horz" wrap="square" lIns="50800" tIns="25400" rIns="50800" bIns="25400" rtlCol="0" anchor="ctr">
            <a:noAutofit/>
          </a:bodyPr>
          <a:lstStyle/>
          <a:p>
            <a:r>
              <a:rPr lang="en-US" sz="1150" b="1">
                <a:solidFill>
                  <a:srgbClr val="0B1536"/>
                </a:solidFill>
                <a:latin typeface="Segoe UI" panose="020B0502040204020203" pitchFamily="34" charset="0"/>
              </a:rPr>
              <a:t>FORECAST RUNS</a:t>
            </a:r>
          </a:p>
        </p:txBody>
      </p:sp>
      <p:sp>
        <p:nvSpPr>
          <p:cNvPr id="28" name="TextBox 27">
            <a:extLst>
              <a:ext uri="{FF2B5EF4-FFF2-40B4-BE49-F238E27FC236}">
                <a16:creationId xmlns:a16="http://schemas.microsoft.com/office/drawing/2014/main" id="{0B368598-6A29-2EF9-5358-56A7E9FEF663}"/>
              </a:ext>
            </a:extLst>
          </p:cNvPr>
          <p:cNvSpPr txBox="1"/>
          <p:nvPr/>
        </p:nvSpPr>
        <p:spPr>
          <a:xfrm>
            <a:off x="4559300" y="3975100"/>
            <a:ext cx="2997200" cy="431800"/>
          </a:xfrm>
          <a:prstGeom prst="rect">
            <a:avLst/>
          </a:prstGeom>
          <a:noFill/>
        </p:spPr>
        <p:txBody>
          <a:bodyPr vert="horz" wrap="square" lIns="50800" tIns="25400" rIns="50800" bIns="25400" rtlCol="0" anchor="t">
            <a:noAutofit/>
          </a:bodyPr>
          <a:lstStyle/>
          <a:p>
            <a:r>
              <a:rPr lang="en-US" sz="880">
                <a:solidFill>
                  <a:srgbClr val="667085"/>
                </a:solidFill>
                <a:latin typeface="Segoe UI" panose="020B0502040204020203" pitchFamily="34" charset="0"/>
              </a:rPr>
              <a:t>Queued processing and completed evidence</a:t>
            </a:r>
          </a:p>
        </p:txBody>
      </p:sp>
      <p:sp>
        <p:nvSpPr>
          <p:cNvPr id="29" name="Rectangle: Rounded Corners 28">
            <a:extLst>
              <a:ext uri="{FF2B5EF4-FFF2-40B4-BE49-F238E27FC236}">
                <a16:creationId xmlns:a16="http://schemas.microsoft.com/office/drawing/2014/main" id="{D38FB925-1985-E18D-627A-5ECE8EE16B77}"/>
              </a:ext>
            </a:extLst>
          </p:cNvPr>
          <p:cNvSpPr/>
          <p:nvPr/>
        </p:nvSpPr>
        <p:spPr>
          <a:xfrm>
            <a:off x="8077200" y="3276600"/>
            <a:ext cx="3429000" cy="1295400"/>
          </a:xfrm>
          <a:prstGeom prst="roundRect">
            <a:avLst/>
          </a:prstGeom>
          <a:solidFill>
            <a:srgbClr val="FFFFFF"/>
          </a:solidFill>
          <a:ln w="12700">
            <a:solidFill>
              <a:srgbClr val="E58A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D5027C36-71EA-2AE5-B299-85D4B61016A6}"/>
              </a:ext>
            </a:extLst>
          </p:cNvPr>
          <p:cNvSpPr/>
          <p:nvPr/>
        </p:nvSpPr>
        <p:spPr>
          <a:xfrm>
            <a:off x="8267700" y="3467100"/>
            <a:ext cx="431800" cy="431800"/>
          </a:xfrm>
          <a:prstGeom prst="ellipse">
            <a:avLst/>
          </a:prstGeom>
          <a:solidFill>
            <a:srgbClr val="E58A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B7B84E67-1586-0E5F-2261-4D49C36B513C}"/>
              </a:ext>
            </a:extLst>
          </p:cNvPr>
          <p:cNvSpPr txBox="1"/>
          <p:nvPr/>
        </p:nvSpPr>
        <p:spPr>
          <a:xfrm>
            <a:off x="8267700" y="3467100"/>
            <a:ext cx="431800" cy="431800"/>
          </a:xfrm>
          <a:prstGeom prst="rect">
            <a:avLst/>
          </a:prstGeom>
          <a:noFill/>
        </p:spPr>
        <p:txBody>
          <a:bodyPr vert="horz" wrap="square" lIns="50800" tIns="25400" rIns="50800" bIns="25400" rtlCol="0" anchor="ctr">
            <a:noAutofit/>
          </a:bodyPr>
          <a:lstStyle/>
          <a:p>
            <a:pPr algn="ctr"/>
            <a:r>
              <a:rPr lang="en-US" sz="1000" b="1">
                <a:solidFill>
                  <a:srgbClr val="FFFFFF"/>
                </a:solidFill>
                <a:latin typeface="Segoe UI" panose="020B0502040204020203" pitchFamily="34" charset="0"/>
              </a:rPr>
              <a:t>6</a:t>
            </a:r>
          </a:p>
        </p:txBody>
      </p:sp>
      <p:sp>
        <p:nvSpPr>
          <p:cNvPr id="32" name="TextBox 31">
            <a:extLst>
              <a:ext uri="{FF2B5EF4-FFF2-40B4-BE49-F238E27FC236}">
                <a16:creationId xmlns:a16="http://schemas.microsoft.com/office/drawing/2014/main" id="{4B1C7343-A889-0B7D-7635-EA66F0183075}"/>
              </a:ext>
            </a:extLst>
          </p:cNvPr>
          <p:cNvSpPr txBox="1"/>
          <p:nvPr/>
        </p:nvSpPr>
        <p:spPr>
          <a:xfrm>
            <a:off x="8826500" y="3454400"/>
            <a:ext cx="2413000" cy="355600"/>
          </a:xfrm>
          <a:prstGeom prst="rect">
            <a:avLst/>
          </a:prstGeom>
          <a:noFill/>
        </p:spPr>
        <p:txBody>
          <a:bodyPr vert="horz" wrap="square" lIns="50800" tIns="25400" rIns="50800" bIns="25400" rtlCol="0" anchor="ctr">
            <a:noAutofit/>
          </a:bodyPr>
          <a:lstStyle/>
          <a:p>
            <a:r>
              <a:rPr lang="en-US" sz="1150" b="1">
                <a:solidFill>
                  <a:srgbClr val="0B1536"/>
                </a:solidFill>
                <a:latin typeface="Segoe UI" panose="020B0502040204020203" pitchFamily="34" charset="0"/>
              </a:rPr>
              <a:t>RECOMMENDATIONS</a:t>
            </a:r>
          </a:p>
        </p:txBody>
      </p:sp>
      <p:sp>
        <p:nvSpPr>
          <p:cNvPr id="33" name="TextBox 32">
            <a:extLst>
              <a:ext uri="{FF2B5EF4-FFF2-40B4-BE49-F238E27FC236}">
                <a16:creationId xmlns:a16="http://schemas.microsoft.com/office/drawing/2014/main" id="{B49C0CCB-2459-8D3F-84CC-0F4EDC7961F8}"/>
              </a:ext>
            </a:extLst>
          </p:cNvPr>
          <p:cNvSpPr txBox="1"/>
          <p:nvPr/>
        </p:nvSpPr>
        <p:spPr>
          <a:xfrm>
            <a:off x="8293100" y="3975100"/>
            <a:ext cx="2997200" cy="431800"/>
          </a:xfrm>
          <a:prstGeom prst="rect">
            <a:avLst/>
          </a:prstGeom>
          <a:noFill/>
        </p:spPr>
        <p:txBody>
          <a:bodyPr vert="horz" wrap="square" lIns="50800" tIns="25400" rIns="50800" bIns="25400" rtlCol="0" anchor="t">
            <a:noAutofit/>
          </a:bodyPr>
          <a:lstStyle/>
          <a:p>
            <a:r>
              <a:rPr lang="en-US" sz="880">
                <a:solidFill>
                  <a:srgbClr val="667085"/>
                </a:solidFill>
                <a:latin typeface="Segoe UI" panose="020B0502040204020203" pitchFamily="34" charset="0"/>
              </a:rPr>
              <a:t>Show workflow - state the stock-source gap</a:t>
            </a:r>
          </a:p>
        </p:txBody>
      </p:sp>
      <p:sp>
        <p:nvSpPr>
          <p:cNvPr id="34" name="TextBox 33">
            <a:extLst>
              <a:ext uri="{FF2B5EF4-FFF2-40B4-BE49-F238E27FC236}">
                <a16:creationId xmlns:a16="http://schemas.microsoft.com/office/drawing/2014/main" id="{E784B2E7-17DA-3A80-12D8-14CD59246215}"/>
              </a:ext>
            </a:extLst>
          </p:cNvPr>
          <p:cNvSpPr txBox="1"/>
          <p:nvPr/>
        </p:nvSpPr>
        <p:spPr>
          <a:xfrm>
            <a:off x="698500" y="5130800"/>
            <a:ext cx="4064000" cy="355600"/>
          </a:xfrm>
          <a:prstGeom prst="rect">
            <a:avLst/>
          </a:prstGeom>
          <a:noFill/>
        </p:spPr>
        <p:txBody>
          <a:bodyPr vert="horz" wrap="square" lIns="50800" tIns="25400" rIns="50800" bIns="25400" rtlCol="0" anchor="ctr">
            <a:noAutofit/>
          </a:bodyPr>
          <a:lstStyle/>
          <a:p>
            <a:r>
              <a:rPr lang="en-US" sz="1400" b="1">
                <a:solidFill>
                  <a:srgbClr val="E4F7F8"/>
                </a:solidFill>
                <a:latin typeface="Segoe UI" panose="020B0502040204020203" pitchFamily="34" charset="0"/>
              </a:rPr>
              <a:t>Close with the accurate story:</a:t>
            </a:r>
          </a:p>
        </p:txBody>
      </p:sp>
      <p:sp>
        <p:nvSpPr>
          <p:cNvPr id="35" name="TextBox 34">
            <a:extLst>
              <a:ext uri="{FF2B5EF4-FFF2-40B4-BE49-F238E27FC236}">
                <a16:creationId xmlns:a16="http://schemas.microsoft.com/office/drawing/2014/main" id="{2C6974FD-3237-57E7-3208-08460D42A27F}"/>
              </a:ext>
            </a:extLst>
          </p:cNvPr>
          <p:cNvSpPr txBox="1"/>
          <p:nvPr/>
        </p:nvSpPr>
        <p:spPr>
          <a:xfrm>
            <a:off x="698500" y="5588000"/>
            <a:ext cx="10693400" cy="698500"/>
          </a:xfrm>
          <a:prstGeom prst="rect">
            <a:avLst/>
          </a:prstGeom>
          <a:noFill/>
        </p:spPr>
        <p:txBody>
          <a:bodyPr vert="horz" wrap="square" lIns="50800" tIns="25400" rIns="50800" bIns="25400" rtlCol="0" anchor="t">
            <a:noAutofit/>
          </a:bodyPr>
          <a:lstStyle/>
          <a:p>
            <a:r>
              <a:rPr lang="en-US" sz="1500" b="1">
                <a:solidFill>
                  <a:srgbClr val="FFFFFF"/>
                </a:solidFill>
                <a:latin typeface="Segoe UI" panose="020B0502040204020203" pitchFamily="34" charset="0"/>
              </a:rPr>
              <a:t>BuyAbans remains operational truth. This application turns that truth into visible performance, explainable forecasts and governed decisions.</a:t>
            </a:r>
          </a:p>
        </p:txBody>
      </p:sp>
      <p:sp>
        <p:nvSpPr>
          <p:cNvPr id="36" name="TextBox 35">
            <a:extLst>
              <a:ext uri="{FF2B5EF4-FFF2-40B4-BE49-F238E27FC236}">
                <a16:creationId xmlns:a16="http://schemas.microsoft.com/office/drawing/2014/main" id="{2D11D0D7-68BE-04D3-9DF5-322A888A93FE}"/>
              </a:ext>
            </a:extLst>
          </p:cNvPr>
          <p:cNvSpPr txBox="1"/>
          <p:nvPr/>
        </p:nvSpPr>
        <p:spPr>
          <a:xfrm>
            <a:off x="609600" y="6527800"/>
            <a:ext cx="7874000" cy="203200"/>
          </a:xfrm>
          <a:prstGeom prst="rect">
            <a:avLst/>
          </a:prstGeom>
          <a:noFill/>
        </p:spPr>
        <p:txBody>
          <a:bodyPr vert="horz" wrap="square" lIns="50800" tIns="25400" rIns="50800" bIns="25400" rtlCol="0" anchor="t">
            <a:noAutofit/>
          </a:bodyPr>
          <a:lstStyle/>
          <a:p>
            <a:r>
              <a:rPr lang="en-US" sz="800">
                <a:solidFill>
                  <a:srgbClr val="98A2B3"/>
                </a:solidFill>
                <a:latin typeface="Segoe UI" panose="020B0502040204020203" pitchFamily="34" charset="0"/>
              </a:rPr>
              <a:t>Inventory Forecasting | Current-system briefing | 04 Sep 2026</a:t>
            </a:r>
          </a:p>
        </p:txBody>
      </p:sp>
      <p:sp>
        <p:nvSpPr>
          <p:cNvPr id="37" name="TextBox 36">
            <a:extLst>
              <a:ext uri="{FF2B5EF4-FFF2-40B4-BE49-F238E27FC236}">
                <a16:creationId xmlns:a16="http://schemas.microsoft.com/office/drawing/2014/main" id="{A2222C58-B597-CE9E-37C9-DBDCCB52BB32}"/>
              </a:ext>
            </a:extLst>
          </p:cNvPr>
          <p:cNvSpPr txBox="1"/>
          <p:nvPr/>
        </p:nvSpPr>
        <p:spPr>
          <a:xfrm>
            <a:off x="10668000" y="6502400"/>
            <a:ext cx="914400" cy="228600"/>
          </a:xfrm>
          <a:prstGeom prst="rect">
            <a:avLst/>
          </a:prstGeom>
          <a:noFill/>
        </p:spPr>
        <p:txBody>
          <a:bodyPr vert="horz" wrap="square" lIns="50800" tIns="25400" rIns="50800" bIns="25400" rtlCol="0" anchor="t">
            <a:noAutofit/>
          </a:bodyPr>
          <a:lstStyle/>
          <a:p>
            <a:pPr algn="r"/>
            <a:r>
              <a:rPr lang="en-US" sz="800" b="1">
                <a:solidFill>
                  <a:srgbClr val="98A2B3"/>
                </a:solidFill>
                <a:latin typeface="Segoe UI" panose="020B0502040204020203" pitchFamily="34" charset="0"/>
              </a:rPr>
              <a:t>22</a:t>
            </a:r>
          </a:p>
        </p:txBody>
      </p:sp>
    </p:spTree>
    <p:extLst>
      <p:ext uri="{BB962C8B-B14F-4D97-AF65-F5344CB8AC3E}">
        <p14:creationId xmlns:p14="http://schemas.microsoft.com/office/powerpoint/2010/main" val="9201606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3326</Words>
  <Application>Microsoft Office PowerPoint</Application>
  <PresentationFormat>Custom</PresentationFormat>
  <Paragraphs>586</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Sameera Pathmakumara</dc:creator>
  <cp:lastModifiedBy>Sameera Pathmakumara</cp:lastModifiedBy>
  <cp:revision>1</cp:revision>
  <dcterms:created xsi:type="dcterms:W3CDTF">2026-09-04T15:49:17Z</dcterms:created>
  <dcterms:modified xsi:type="dcterms:W3CDTF">2026-09-04T15:49:17Z</dcterms:modified>
</cp:coreProperties>
</file>