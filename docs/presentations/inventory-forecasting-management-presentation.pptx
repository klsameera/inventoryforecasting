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276648-FB7F-485F-BCF0-A7996DEF00C9}" type="datetimeFigureOut">
              <a:rPr lang="en-US" smtClean="0"/>
              <a:t>03/Sep/2026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DD498-3259-4399-B84B-FF91F78151EF}" type="slidenum">
              <a:rPr lang="en-US" smtClean="0"/>
              <a:t>‹#›</a:t>
            </a:fld>
            <a:endParaRPr lang="en-US"/>
          </a:p>
        </p:txBody>
      </p:sp>
    </p:spTree>
    <p:extLst>
      <p:ext uri="{BB962C8B-B14F-4D97-AF65-F5344CB8AC3E}">
        <p14:creationId xmlns:p14="http://schemas.microsoft.com/office/powerpoint/2010/main" val="167512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business outcome: this system closes the loop between transactions and inventory action. It is not only a forecasting screen. It manages catalog, warehouse stock, purchasing, sales, trusted history, analytics, forecasts, and controlled recommendations. State the governance position early: recommendations remain human decisions, and production controls are still required.</a:t>
            </a:r>
          </a:p>
        </p:txBody>
      </p:sp>
      <p:sp>
        <p:nvSpPr>
          <p:cNvPr id="4" name="Slide Number Placeholder 3"/>
          <p:cNvSpPr>
            <a:spLocks noGrp="1"/>
          </p:cNvSpPr>
          <p:nvPr>
            <p:ph type="sldNum" sz="quarter" idx="5"/>
          </p:nvPr>
        </p:nvSpPr>
        <p:spPr/>
        <p:txBody>
          <a:bodyPr/>
          <a:lstStyle/>
          <a:p>
            <a:fld id="{7E6DD498-3259-4399-B84B-FF91F78151EF}" type="slidenum">
              <a:rPr lang="en-US" smtClean="0"/>
              <a:t>1</a:t>
            </a:fld>
            <a:endParaRPr lang="en-US"/>
          </a:p>
        </p:txBody>
      </p:sp>
    </p:spTree>
    <p:extLst>
      <p:ext uri="{BB962C8B-B14F-4D97-AF65-F5344CB8AC3E}">
        <p14:creationId xmlns:p14="http://schemas.microsoft.com/office/powerpoint/2010/main" val="145955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the application in three verbs: observe, understand, act. Observe means the operational record is complete. Understand means history is transformed into analytics, forecasts and intelligence. Act means the engine proposes one of five inventory responses, but a user still accepts, changes or rejects it. The amber banner is the go-live boundary, not a criticism of the delivered feature set.</a:t>
            </a:r>
          </a:p>
        </p:txBody>
      </p:sp>
      <p:sp>
        <p:nvSpPr>
          <p:cNvPr id="4" name="Slide Number Placeholder 3"/>
          <p:cNvSpPr>
            <a:spLocks noGrp="1"/>
          </p:cNvSpPr>
          <p:nvPr>
            <p:ph type="sldNum" sz="quarter" idx="5"/>
          </p:nvPr>
        </p:nvSpPr>
        <p:spPr/>
        <p:txBody>
          <a:bodyPr/>
          <a:lstStyle/>
          <a:p>
            <a:fld id="{7E6DD498-3259-4399-B84B-FF91F78151EF}" type="slidenum">
              <a:rPr lang="en-US" smtClean="0"/>
              <a:t>2</a:t>
            </a:fld>
            <a:endParaRPr lang="en-US"/>
          </a:p>
        </p:txBody>
      </p:sp>
    </p:spTree>
    <p:extLst>
      <p:ext uri="{BB962C8B-B14F-4D97-AF65-F5344CB8AC3E}">
        <p14:creationId xmlns:p14="http://schemas.microsoft.com/office/powerpoint/2010/main" val="400272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Master data defines what can be stocked and where. Operational transactions create the movement history. Daily snapshots convert movement history into a time series. Intelligence explains demand and stock health. The decision engine recommends five action types. The green bar is essential: every recommendation remains subject to human review.</a:t>
            </a:r>
          </a:p>
        </p:txBody>
      </p:sp>
      <p:sp>
        <p:nvSpPr>
          <p:cNvPr id="4" name="Slide Number Placeholder 3"/>
          <p:cNvSpPr>
            <a:spLocks noGrp="1"/>
          </p:cNvSpPr>
          <p:nvPr>
            <p:ph type="sldNum" sz="quarter" idx="5"/>
          </p:nvPr>
        </p:nvSpPr>
        <p:spPr/>
        <p:txBody>
          <a:bodyPr/>
          <a:lstStyle/>
          <a:p>
            <a:fld id="{7E6DD498-3259-4399-B84B-FF91F78151EF}" type="slidenum">
              <a:rPr lang="en-US" smtClean="0"/>
              <a:t>3</a:t>
            </a:fld>
            <a:endParaRPr lang="en-US"/>
          </a:p>
        </p:txBody>
      </p:sp>
    </p:spTree>
    <p:extLst>
      <p:ext uri="{BB962C8B-B14F-4D97-AF65-F5344CB8AC3E}">
        <p14:creationId xmlns:p14="http://schemas.microsoft.com/office/powerpoint/2010/main" val="3692149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daily operating loop. Setup is performed once and maintained. Buying, receiving, managing stock, selling and returning create real transactions. Those transactions build trusted history. Forecasting and recommendation then use that history. Accepted recommendations are deliberately executed through controlled purchase-order or stock-transfer workflows; the engine does not bypass operations.</a:t>
            </a:r>
          </a:p>
        </p:txBody>
      </p:sp>
      <p:sp>
        <p:nvSpPr>
          <p:cNvPr id="4" name="Slide Number Placeholder 3"/>
          <p:cNvSpPr>
            <a:spLocks noGrp="1"/>
          </p:cNvSpPr>
          <p:nvPr>
            <p:ph type="sldNum" sz="quarter" idx="5"/>
          </p:nvPr>
        </p:nvSpPr>
        <p:spPr/>
        <p:txBody>
          <a:bodyPr/>
          <a:lstStyle/>
          <a:p>
            <a:fld id="{7E6DD498-3259-4399-B84B-FF91F78151EF}" type="slidenum">
              <a:rPr lang="en-US" smtClean="0"/>
              <a:t>4</a:t>
            </a:fld>
            <a:endParaRPr lang="en-US"/>
          </a:p>
        </p:txBody>
      </p:sp>
    </p:spTree>
    <p:extLst>
      <p:ext uri="{BB962C8B-B14F-4D97-AF65-F5344CB8AC3E}">
        <p14:creationId xmlns:p14="http://schemas.microsoft.com/office/powerpoint/2010/main" val="1703936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the table of contents for the application. Catalog defines the sellable unit. Inventory is the trusted stock core. Purchasing and sales create the commercial movements. Forecasting turns history into future demand and controlled inventory actions. Advanced intelligence adds supplier, demand, product, pricing and promotion signals. Every verified user can currently reach these areas because RBAC is not yet implemented.</a:t>
            </a:r>
          </a:p>
        </p:txBody>
      </p:sp>
      <p:sp>
        <p:nvSpPr>
          <p:cNvPr id="4" name="Slide Number Placeholder 3"/>
          <p:cNvSpPr>
            <a:spLocks noGrp="1"/>
          </p:cNvSpPr>
          <p:nvPr>
            <p:ph type="sldNum" sz="quarter" idx="5"/>
          </p:nvPr>
        </p:nvSpPr>
        <p:spPr/>
        <p:txBody>
          <a:bodyPr/>
          <a:lstStyle/>
          <a:p>
            <a:fld id="{7E6DD498-3259-4399-B84B-FF91F78151EF}" type="slidenum">
              <a:rPr lang="en-US" smtClean="0"/>
              <a:t>5</a:t>
            </a:fld>
            <a:endParaRPr lang="en-US"/>
          </a:p>
        </p:txBody>
      </p:sp>
    </p:spTree>
    <p:extLst>
      <p:ext uri="{BB962C8B-B14F-4D97-AF65-F5344CB8AC3E}">
        <p14:creationId xmlns:p14="http://schemas.microsoft.com/office/powerpoint/2010/main" val="3101857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the business fields, not the visual design: SKU and warehouse, recommendation type, current and incoming stock, 30-day forecast, proposed quantity, risk badges, status and actions. Users can filter and sort the list. Accept, modify and reject are explicit decisions. This screenshot uses seeded data, so the numbers prove the workflow, not real-world performance.</a:t>
            </a:r>
          </a:p>
        </p:txBody>
      </p:sp>
      <p:sp>
        <p:nvSpPr>
          <p:cNvPr id="4" name="Slide Number Placeholder 3"/>
          <p:cNvSpPr>
            <a:spLocks noGrp="1"/>
          </p:cNvSpPr>
          <p:nvPr>
            <p:ph type="sldNum" sz="quarter" idx="5"/>
          </p:nvPr>
        </p:nvSpPr>
        <p:spPr/>
        <p:txBody>
          <a:bodyPr/>
          <a:lstStyle/>
          <a:p>
            <a:fld id="{7E6DD498-3259-4399-B84B-FF91F78151EF}" type="slidenum">
              <a:rPr lang="en-US" smtClean="0"/>
              <a:t>6</a:t>
            </a:fld>
            <a:endParaRPr lang="en-US"/>
          </a:p>
        </p:txBody>
      </p:sp>
    </p:spTree>
    <p:extLst>
      <p:ext uri="{BB962C8B-B14F-4D97-AF65-F5344CB8AC3E}">
        <p14:creationId xmlns:p14="http://schemas.microsoft.com/office/powerpoint/2010/main" val="287181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screens show the same design pattern across intelligence modules: filters, transparent calculations and row-level evidence. Supplier performance comes from real purchase-order and receipt dates. Promotion impact compares the promotion window with an equal preceding window. Similar transparency applies to lost-sales estimates, anomalies, similarity, cannibalization and price elasticity.</a:t>
            </a:r>
          </a:p>
        </p:txBody>
      </p:sp>
      <p:sp>
        <p:nvSpPr>
          <p:cNvPr id="4" name="Slide Number Placeholder 3"/>
          <p:cNvSpPr>
            <a:spLocks noGrp="1"/>
          </p:cNvSpPr>
          <p:nvPr>
            <p:ph type="sldNum" sz="quarter" idx="5"/>
          </p:nvPr>
        </p:nvSpPr>
        <p:spPr/>
        <p:txBody>
          <a:bodyPr/>
          <a:lstStyle/>
          <a:p>
            <a:fld id="{7E6DD498-3259-4399-B84B-FF91F78151EF}" type="slidenum">
              <a:rPr lang="en-US" smtClean="0"/>
              <a:t>7</a:t>
            </a:fld>
            <a:endParaRPr lang="en-US"/>
          </a:p>
        </p:txBody>
      </p:sp>
    </p:spTree>
    <p:extLst>
      <p:ext uri="{BB962C8B-B14F-4D97-AF65-F5344CB8AC3E}">
        <p14:creationId xmlns:p14="http://schemas.microsoft.com/office/powerpoint/2010/main" val="768792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integrity backbone. Receipts, sales, returns, adjustments and transfers do not rewrite a balance directly. Each creates ledger entries inside a database transaction. The balance and FIFO batch records are updated from the same event. Outbound actions that would make stock negative are rejected. Daily snapshots then convert this audited event history into forecasting data.</a:t>
            </a:r>
          </a:p>
        </p:txBody>
      </p:sp>
      <p:sp>
        <p:nvSpPr>
          <p:cNvPr id="4" name="Slide Number Placeholder 3"/>
          <p:cNvSpPr>
            <a:spLocks noGrp="1"/>
          </p:cNvSpPr>
          <p:nvPr>
            <p:ph type="sldNum" sz="quarter" idx="5"/>
          </p:nvPr>
        </p:nvSpPr>
        <p:spPr/>
        <p:txBody>
          <a:bodyPr/>
          <a:lstStyle/>
          <a:p>
            <a:fld id="{7E6DD498-3259-4399-B84B-FF91F78151EF}" type="slidenum">
              <a:rPr lang="en-US" smtClean="0"/>
              <a:t>8</a:t>
            </a:fld>
            <a:endParaRPr lang="en-US"/>
          </a:p>
        </p:txBody>
      </p:sp>
    </p:spTree>
    <p:extLst>
      <p:ext uri="{BB962C8B-B14F-4D97-AF65-F5344CB8AC3E}">
        <p14:creationId xmlns:p14="http://schemas.microsoft.com/office/powerpoint/2010/main" val="4055687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when stock actually moves. A purchase order creates incoming expectations; the posted goods receipt creates inventory. A transfer deducts at dispatch and adds at receipt. A confirmed sale consumes FIFO and captures actual cost. Posted receipts and returns are immutable so their stock consequences remain auditable.</a:t>
            </a:r>
          </a:p>
        </p:txBody>
      </p:sp>
      <p:sp>
        <p:nvSpPr>
          <p:cNvPr id="4" name="Slide Number Placeholder 3"/>
          <p:cNvSpPr>
            <a:spLocks noGrp="1"/>
          </p:cNvSpPr>
          <p:nvPr>
            <p:ph type="sldNum" sz="quarter" idx="5"/>
          </p:nvPr>
        </p:nvSpPr>
        <p:spPr/>
        <p:txBody>
          <a:bodyPr/>
          <a:lstStyle/>
          <a:p>
            <a:fld id="{7E6DD498-3259-4399-B84B-FF91F78151EF}" type="slidenum">
              <a:rPr lang="en-US" smtClean="0"/>
              <a:t>9</a:t>
            </a:fld>
            <a:endParaRPr lang="en-US"/>
          </a:p>
        </p:txBody>
      </p:sp>
    </p:spTree>
    <p:extLst>
      <p:ext uri="{BB962C8B-B14F-4D97-AF65-F5344CB8AC3E}">
        <p14:creationId xmlns:p14="http://schemas.microsoft.com/office/powerpoint/2010/main" val="4259064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page answers operational questions without a forecasting model. Velocity and turnover describe movement. Days of stock describes coverage. FIFO batch age exposes ageing capital. ABC and movement classes prioritize attention. The reorder point uses supplier lead time plus configurable safety days. The user can change the lookback and safety assumptions without changing any transaction.</a:t>
            </a:r>
          </a:p>
        </p:txBody>
      </p:sp>
      <p:sp>
        <p:nvSpPr>
          <p:cNvPr id="4" name="Slide Number Placeholder 3"/>
          <p:cNvSpPr>
            <a:spLocks noGrp="1"/>
          </p:cNvSpPr>
          <p:nvPr>
            <p:ph type="sldNum" sz="quarter" idx="5"/>
          </p:nvPr>
        </p:nvSpPr>
        <p:spPr/>
        <p:txBody>
          <a:bodyPr/>
          <a:lstStyle/>
          <a:p>
            <a:fld id="{7E6DD498-3259-4399-B84B-FF91F78151EF}" type="slidenum">
              <a:rPr lang="en-US" smtClean="0"/>
              <a:t>10</a:t>
            </a:fld>
            <a:endParaRPr lang="en-US"/>
          </a:p>
        </p:txBody>
      </p:sp>
    </p:spTree>
    <p:extLst>
      <p:ext uri="{BB962C8B-B14F-4D97-AF65-F5344CB8AC3E}">
        <p14:creationId xmlns:p14="http://schemas.microsoft.com/office/powerpoint/2010/main" val="2500485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Forecasting is a two-stage selection problem. First, maturity determines whether the SKU's own history is trustworthy or whether a peer profile is needed. Second, the model selector chooses among EWMA, seasonal naive, TFT and DeepAR using scored accuracy when available. Until accuracy history exists, configuration chooses the default; it is currently EWMA. If a neural model cannot honestly serve a pair, Python returns a baseline and Laravel records the algorithm that actually ran.</a:t>
            </a:r>
          </a:p>
        </p:txBody>
      </p:sp>
      <p:sp>
        <p:nvSpPr>
          <p:cNvPr id="4" name="Slide Number Placeholder 3"/>
          <p:cNvSpPr>
            <a:spLocks noGrp="1"/>
          </p:cNvSpPr>
          <p:nvPr>
            <p:ph type="sldNum" sz="quarter" idx="5"/>
          </p:nvPr>
        </p:nvSpPr>
        <p:spPr/>
        <p:txBody>
          <a:bodyPr/>
          <a:lstStyle/>
          <a:p>
            <a:fld id="{7E6DD498-3259-4399-B84B-FF91F78151EF}" type="slidenum">
              <a:rPr lang="en-US" smtClean="0"/>
              <a:t>11</a:t>
            </a:fld>
            <a:endParaRPr lang="en-US"/>
          </a:p>
        </p:txBody>
      </p:sp>
    </p:spTree>
    <p:extLst>
      <p:ext uri="{BB962C8B-B14F-4D97-AF65-F5344CB8AC3E}">
        <p14:creationId xmlns:p14="http://schemas.microsoft.com/office/powerpoint/2010/main" val="3489705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precise here. The neural serving path works and was demonstrated at full seeded scale. The accuracy decision is separate. On the latest scorable 30-day window, both baselines beat TFT and DeepAR, so EWMA remains the configured default. A broader rolling experiment found a fresh TFT about 7.8 percent better for the first three windows, but the training history is generated. Management should treat the neural result as technical readiness, not production business evidence.</a:t>
            </a:r>
          </a:p>
        </p:txBody>
      </p:sp>
      <p:sp>
        <p:nvSpPr>
          <p:cNvPr id="4" name="Slide Number Placeholder 3"/>
          <p:cNvSpPr>
            <a:spLocks noGrp="1"/>
          </p:cNvSpPr>
          <p:nvPr>
            <p:ph type="sldNum" sz="quarter" idx="5"/>
          </p:nvPr>
        </p:nvSpPr>
        <p:spPr/>
        <p:txBody>
          <a:bodyPr/>
          <a:lstStyle/>
          <a:p>
            <a:fld id="{7E6DD498-3259-4399-B84B-FF91F78151EF}" type="slidenum">
              <a:rPr lang="en-US" smtClean="0"/>
              <a:t>12</a:t>
            </a:fld>
            <a:endParaRPr lang="en-US"/>
          </a:p>
        </p:txBody>
      </p:sp>
    </p:spTree>
    <p:extLst>
      <p:ext uri="{BB962C8B-B14F-4D97-AF65-F5344CB8AC3E}">
        <p14:creationId xmlns:p14="http://schemas.microsoft.com/office/powerpoint/2010/main" val="290621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engine does more than a simple reorder point. It looks at current and incoming stock, forecast demand, supplier lead time, dynamic safety stock, order minimums and multiples, FIFO ageing, overstock risk and stock elsewhere. It proposes one of five actions. A person then accepts, modifies with a reason, or rejects. Even acceptance does not directly create stock; it feeds the normal purchasing or transfer control process.</a:t>
            </a:r>
          </a:p>
        </p:txBody>
      </p:sp>
      <p:sp>
        <p:nvSpPr>
          <p:cNvPr id="4" name="Slide Number Placeholder 3"/>
          <p:cNvSpPr>
            <a:spLocks noGrp="1"/>
          </p:cNvSpPr>
          <p:nvPr>
            <p:ph type="sldNum" sz="quarter" idx="5"/>
          </p:nvPr>
        </p:nvSpPr>
        <p:spPr/>
        <p:txBody>
          <a:bodyPr/>
          <a:lstStyle/>
          <a:p>
            <a:fld id="{7E6DD498-3259-4399-B84B-FF91F78151EF}" type="slidenum">
              <a:rPr lang="en-US" smtClean="0"/>
              <a:t>13</a:t>
            </a:fld>
            <a:endParaRPr lang="en-US"/>
          </a:p>
        </p:txBody>
      </p:sp>
    </p:spTree>
    <p:extLst>
      <p:ext uri="{BB962C8B-B14F-4D97-AF65-F5344CB8AC3E}">
        <p14:creationId xmlns:p14="http://schemas.microsoft.com/office/powerpoint/2010/main" val="1308536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optimization is intentionally understandable. If another warehouse has enough surplus to cover a recipient's full need, the system proposes a transfer before a purchase. After transfers, purchase-type recommendations for the same SKU across at least two warehouses are rolled into a central allocation view. This is not yet a transport-cost or multi-source optimization solver.</a:t>
            </a:r>
          </a:p>
        </p:txBody>
      </p:sp>
      <p:sp>
        <p:nvSpPr>
          <p:cNvPr id="4" name="Slide Number Placeholder 3"/>
          <p:cNvSpPr>
            <a:spLocks noGrp="1"/>
          </p:cNvSpPr>
          <p:nvPr>
            <p:ph type="sldNum" sz="quarter" idx="5"/>
          </p:nvPr>
        </p:nvSpPr>
        <p:spPr/>
        <p:txBody>
          <a:bodyPr/>
          <a:lstStyle/>
          <a:p>
            <a:fld id="{7E6DD498-3259-4399-B84B-FF91F78151EF}" type="slidenum">
              <a:rPr lang="en-US" smtClean="0"/>
              <a:t>14</a:t>
            </a:fld>
            <a:endParaRPr lang="en-US"/>
          </a:p>
        </p:txBody>
      </p:sp>
    </p:spTree>
    <p:extLst>
      <p:ext uri="{BB962C8B-B14F-4D97-AF65-F5344CB8AC3E}">
        <p14:creationId xmlns:p14="http://schemas.microsoft.com/office/powerpoint/2010/main" val="3449817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Describe these as management signals, not guaranteed causes. Supplier performance and promotion impact have concrete business sources. Lost sales and anomalies are estimates. Similarity, cannibalization and elasticity are useful for investigation, but can be unstable when history is thin. The UI exposes counts and evidence so users can judge confidence instead of treating every number as an instruction.</a:t>
            </a:r>
          </a:p>
        </p:txBody>
      </p:sp>
      <p:sp>
        <p:nvSpPr>
          <p:cNvPr id="4" name="Slide Number Placeholder 3"/>
          <p:cNvSpPr>
            <a:spLocks noGrp="1"/>
          </p:cNvSpPr>
          <p:nvPr>
            <p:ph type="sldNum" sz="quarter" idx="5"/>
          </p:nvPr>
        </p:nvSpPr>
        <p:spPr/>
        <p:txBody>
          <a:bodyPr/>
          <a:lstStyle/>
          <a:p>
            <a:fld id="{7E6DD498-3259-4399-B84B-FF91F78151EF}" type="slidenum">
              <a:rPr lang="en-US" smtClean="0"/>
              <a:t>15</a:t>
            </a:fld>
            <a:endParaRPr lang="en-US"/>
          </a:p>
        </p:txBody>
      </p:sp>
    </p:spTree>
    <p:extLst>
      <p:ext uri="{BB962C8B-B14F-4D97-AF65-F5344CB8AC3E}">
        <p14:creationId xmlns:p14="http://schemas.microsoft.com/office/powerpoint/2010/main" val="3053989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daily sequence matters. Snapshots run first so yesterday's actual demand exists. Accuracy scoring runs next. Recommendations run last using the newest history and scores. Supplier performance and neural retraining run monthly. In production, a host cron must invoke Laravel's scheduler, the queue worker must be supervised, and the Python service must be available. Manual controls exist for backfills and checks.</a:t>
            </a:r>
          </a:p>
        </p:txBody>
      </p:sp>
      <p:sp>
        <p:nvSpPr>
          <p:cNvPr id="4" name="Slide Number Placeholder 3"/>
          <p:cNvSpPr>
            <a:spLocks noGrp="1"/>
          </p:cNvSpPr>
          <p:nvPr>
            <p:ph type="sldNum" sz="quarter" idx="5"/>
          </p:nvPr>
        </p:nvSpPr>
        <p:spPr/>
        <p:txBody>
          <a:bodyPr/>
          <a:lstStyle/>
          <a:p>
            <a:fld id="{7E6DD498-3259-4399-B84B-FF91F78151EF}" type="slidenum">
              <a:rPr lang="en-US" smtClean="0"/>
              <a:t>16</a:t>
            </a:fld>
            <a:endParaRPr lang="en-US"/>
          </a:p>
        </p:txBody>
      </p:sp>
    </p:spTree>
    <p:extLst>
      <p:ext uri="{BB962C8B-B14F-4D97-AF65-F5344CB8AC3E}">
        <p14:creationId xmlns:p14="http://schemas.microsoft.com/office/powerpoint/2010/main" val="1256745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browser sees one application. React and Inertia render the experience. Laravel remains the source of business truth and enforces the project's thin-controller, facade, service and model flow. MySQL stores all operational and intelligence records. Forecast jobs run through the queue and call a separate FastAPI service. Python never receives raw transaction tables; Laravel sends compact daily series and covariates.</a:t>
            </a:r>
          </a:p>
        </p:txBody>
      </p:sp>
      <p:sp>
        <p:nvSpPr>
          <p:cNvPr id="4" name="Slide Number Placeholder 3"/>
          <p:cNvSpPr>
            <a:spLocks noGrp="1"/>
          </p:cNvSpPr>
          <p:nvPr>
            <p:ph type="sldNum" sz="quarter" idx="5"/>
          </p:nvPr>
        </p:nvSpPr>
        <p:spPr/>
        <p:txBody>
          <a:bodyPr/>
          <a:lstStyle/>
          <a:p>
            <a:fld id="{7E6DD498-3259-4399-B84B-FF91F78151EF}" type="slidenum">
              <a:rPr lang="en-US" smtClean="0"/>
              <a:t>17</a:t>
            </a:fld>
            <a:endParaRPr lang="en-US"/>
          </a:p>
        </p:txBody>
      </p:sp>
    </p:spTree>
    <p:extLst>
      <p:ext uri="{BB962C8B-B14F-4D97-AF65-F5344CB8AC3E}">
        <p14:creationId xmlns:p14="http://schemas.microsoft.com/office/powerpoint/2010/main" val="944377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Separate account security from authorization. The application has strong authentication options and rate limits. Its stock writes are also carefully controlled. The production blocker is role-based authorization: every verified user currently has broad business access. Management must define who maintains master data, posts operations, reviews recommendations and administers users before the application is exposed.</a:t>
            </a:r>
          </a:p>
        </p:txBody>
      </p:sp>
      <p:sp>
        <p:nvSpPr>
          <p:cNvPr id="4" name="Slide Number Placeholder 3"/>
          <p:cNvSpPr>
            <a:spLocks noGrp="1"/>
          </p:cNvSpPr>
          <p:nvPr>
            <p:ph type="sldNum" sz="quarter" idx="5"/>
          </p:nvPr>
        </p:nvSpPr>
        <p:spPr/>
        <p:txBody>
          <a:bodyPr/>
          <a:lstStyle/>
          <a:p>
            <a:fld id="{7E6DD498-3259-4399-B84B-FF91F78151EF}" type="slidenum">
              <a:rPr lang="en-US" smtClean="0"/>
              <a:t>18</a:t>
            </a:fld>
            <a:endParaRPr lang="en-US"/>
          </a:p>
        </p:txBody>
      </p:sp>
    </p:spTree>
    <p:extLst>
      <p:ext uri="{BB962C8B-B14F-4D97-AF65-F5344CB8AC3E}">
        <p14:creationId xmlns:p14="http://schemas.microsoft.com/office/powerpoint/2010/main" val="1992902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engineering and integration assurance measures, not adoption KPIs. The latest logged checks passed 254 Pest tests and 62 Python tests. The real seeded pipeline processed 441 warehouse-SKU pairs and generated 197 recommendations. The dashboard remains a starter shell with empty metric props; detailed operational and intelligence pages contain the real implemented value today.</a:t>
            </a:r>
          </a:p>
        </p:txBody>
      </p:sp>
      <p:sp>
        <p:nvSpPr>
          <p:cNvPr id="4" name="Slide Number Placeholder 3"/>
          <p:cNvSpPr>
            <a:spLocks noGrp="1"/>
          </p:cNvSpPr>
          <p:nvPr>
            <p:ph type="sldNum" sz="quarter" idx="5"/>
          </p:nvPr>
        </p:nvSpPr>
        <p:spPr/>
        <p:txBody>
          <a:bodyPr/>
          <a:lstStyle/>
          <a:p>
            <a:fld id="{7E6DD498-3259-4399-B84B-FF91F78151EF}" type="slidenum">
              <a:rPr lang="en-US" smtClean="0"/>
              <a:t>19</a:t>
            </a:fld>
            <a:endParaRPr lang="en-US"/>
          </a:p>
        </p:txBody>
      </p:sp>
    </p:spTree>
    <p:extLst>
      <p:ext uri="{BB962C8B-B14F-4D97-AF65-F5344CB8AC3E}">
        <p14:creationId xmlns:p14="http://schemas.microsoft.com/office/powerpoint/2010/main" val="3738299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the handoff plainly: the functional controls are delivered, but go-live is an operating decision. The largest blocker is RBAC. The remaining items are production platform, backups, real mail, supervised workers and schedule, private token-protected Python hosting, monitoring and full release validation.</a:t>
            </a:r>
          </a:p>
        </p:txBody>
      </p:sp>
      <p:sp>
        <p:nvSpPr>
          <p:cNvPr id="4" name="Slide Number Placeholder 3"/>
          <p:cNvSpPr>
            <a:spLocks noGrp="1"/>
          </p:cNvSpPr>
          <p:nvPr>
            <p:ph type="sldNum" sz="quarter" idx="5"/>
          </p:nvPr>
        </p:nvSpPr>
        <p:spPr/>
        <p:txBody>
          <a:bodyPr/>
          <a:lstStyle/>
          <a:p>
            <a:fld id="{7E6DD498-3259-4399-B84B-FF91F78151EF}" type="slidenum">
              <a:rPr lang="en-US" smtClean="0"/>
              <a:t>20</a:t>
            </a:fld>
            <a:endParaRPr lang="en-US"/>
          </a:p>
        </p:txBody>
      </p:sp>
    </p:spTree>
    <p:extLst>
      <p:ext uri="{BB962C8B-B14F-4D97-AF65-F5344CB8AC3E}">
        <p14:creationId xmlns:p14="http://schemas.microsoft.com/office/powerpoint/2010/main" val="2336895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Finish the management section with ownership. Daily work is exception-driven. Weekly work is approval and operational review. Monthly work is supplier, forecast, promotion and data-quality governance. The five decisions are the bridge to production. The most important analytical decision is to validate models on real history before changing the default away from EWMA.</a:t>
            </a:r>
          </a:p>
        </p:txBody>
      </p:sp>
      <p:sp>
        <p:nvSpPr>
          <p:cNvPr id="4" name="Slide Number Placeholder 3"/>
          <p:cNvSpPr>
            <a:spLocks noGrp="1"/>
          </p:cNvSpPr>
          <p:nvPr>
            <p:ph type="sldNum" sz="quarter" idx="5"/>
          </p:nvPr>
        </p:nvSpPr>
        <p:spPr/>
        <p:txBody>
          <a:bodyPr/>
          <a:lstStyle/>
          <a:p>
            <a:fld id="{7E6DD498-3259-4399-B84B-FF91F78151EF}" type="slidenum">
              <a:rPr lang="en-US" smtClean="0"/>
              <a:t>21</a:t>
            </a:fld>
            <a:endParaRPr lang="en-US"/>
          </a:p>
        </p:txBody>
      </p:sp>
    </p:spTree>
    <p:extLst>
      <p:ext uri="{BB962C8B-B14F-4D97-AF65-F5344CB8AC3E}">
        <p14:creationId xmlns:p14="http://schemas.microsoft.com/office/powerpoint/2010/main" val="3006216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time is limited, follow this six-stop demo. Avoid the empty dashboard. Start with Products and Inventory, prove the audit trail in Stock Movements, show a forecast with its source and algorithm, then show the recommendation decision workflow. Finish with one supplier or promotion insight. The closing sentence is the core message of the entire presentation.</a:t>
            </a:r>
          </a:p>
        </p:txBody>
      </p:sp>
      <p:sp>
        <p:nvSpPr>
          <p:cNvPr id="4" name="Slide Number Placeholder 3"/>
          <p:cNvSpPr>
            <a:spLocks noGrp="1"/>
          </p:cNvSpPr>
          <p:nvPr>
            <p:ph type="sldNum" sz="quarter" idx="5"/>
          </p:nvPr>
        </p:nvSpPr>
        <p:spPr/>
        <p:txBody>
          <a:bodyPr/>
          <a:lstStyle/>
          <a:p>
            <a:fld id="{7E6DD498-3259-4399-B84B-FF91F78151EF}" type="slidenum">
              <a:rPr lang="en-US" smtClean="0"/>
              <a:t>22</a:t>
            </a:fld>
            <a:endParaRPr lang="en-US"/>
          </a:p>
        </p:txBody>
      </p:sp>
    </p:spTree>
    <p:extLst>
      <p:ext uri="{BB962C8B-B14F-4D97-AF65-F5344CB8AC3E}">
        <p14:creationId xmlns:p14="http://schemas.microsoft.com/office/powerpoint/2010/main" val="4257712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6A3-3298-5290-6430-6DECF67A1E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519933-285E-30BA-424D-9B4D0CE6FF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F1A5FA-ABF7-6EE6-2AF9-26BDE845B354}"/>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5B24E580-3402-A8A4-BFCB-92166653C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5916F-A02C-B63D-8177-09094AF56027}"/>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665010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C13C-A96B-CBC1-D5FD-22517DF884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501754-328C-9AEF-CF54-9E89F2D832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62DB6-8FAE-3DDE-FC22-90EAE98A7CF5}"/>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27A0CC0B-65EC-9425-38DE-E16525E70F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98997D-D806-8DB2-FA05-B75E4657BC0B}"/>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504565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0102-5A02-49FA-4D3E-BCC5545D54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0055B5-DBE2-9C0C-41C5-5490B89E64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DD449-DFD5-6AA0-DEC3-FFD0A4050AFB}"/>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2A3209D3-407C-8374-45BB-60F7BF16E3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B2E7A-CD9C-1A8B-65AE-6A123476E9EE}"/>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56852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35CAA-D7DC-259E-1DD0-05D3EF4874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32AE68-18A3-6163-14F2-C35F325BF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AEBDB7-C0D5-D9AA-C80D-408D7CCC2F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F7C09E-2437-1BDD-CF6F-D7963EAC059B}"/>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6" name="Footer Placeholder 5">
            <a:extLst>
              <a:ext uri="{FF2B5EF4-FFF2-40B4-BE49-F238E27FC236}">
                <a16:creationId xmlns:a16="http://schemas.microsoft.com/office/drawing/2014/main" id="{D7213927-71BF-C52B-8E08-63F9880869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F433F-D34D-2DA3-E66F-9C4992A3A285}"/>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260526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B697-EED8-8091-6D9D-B141AA9D1A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F2A7BA-0B96-C1A3-BD84-2D8089982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DF5A8D-E1B6-2E7C-E7E8-D39B59A00B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945BCB-EC28-49E7-6EC4-5297E83D54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2DA8F0-A844-83F9-24E2-0F07AD55B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B0C0C9-E05B-4BED-E084-0F39800EDE01}"/>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8" name="Footer Placeholder 7">
            <a:extLst>
              <a:ext uri="{FF2B5EF4-FFF2-40B4-BE49-F238E27FC236}">
                <a16:creationId xmlns:a16="http://schemas.microsoft.com/office/drawing/2014/main" id="{3477DE4D-9052-ECAE-31C0-91D9F6DC05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9FB258-4FC8-856A-945B-9DEB0054FD38}"/>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3562780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9CAB6-11E3-3628-8414-49049E554A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F7B97B-D7FB-15C7-928D-89AE73CF6F1D}"/>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4" name="Footer Placeholder 3">
            <a:extLst>
              <a:ext uri="{FF2B5EF4-FFF2-40B4-BE49-F238E27FC236}">
                <a16:creationId xmlns:a16="http://schemas.microsoft.com/office/drawing/2014/main" id="{E1A3D18C-2C28-44A7-2CDB-2CD72B8B97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D443F8-64AD-204C-EA47-87F991B7D5DA}"/>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578328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913E03-43BA-2581-46B3-8510F267421F}"/>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3" name="Footer Placeholder 2">
            <a:extLst>
              <a:ext uri="{FF2B5EF4-FFF2-40B4-BE49-F238E27FC236}">
                <a16:creationId xmlns:a16="http://schemas.microsoft.com/office/drawing/2014/main" id="{9CD5FC2F-F9B6-8646-7AF4-A4793FB383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DD7819-6DDD-4527-AF90-7F405D0888F3}"/>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1696819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DF735-872A-CE70-D4A6-5A5CBA1C02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A6D48B-480F-0703-86DA-A37302DCE7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991A94-709F-EC8B-9C66-CD604DC918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E7E2C2-1B3F-C8F6-9FC3-4D7EA2354B01}"/>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6" name="Footer Placeholder 5">
            <a:extLst>
              <a:ext uri="{FF2B5EF4-FFF2-40B4-BE49-F238E27FC236}">
                <a16:creationId xmlns:a16="http://schemas.microsoft.com/office/drawing/2014/main" id="{9C367B9C-7792-5AEC-3681-AE04F7B5DE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80D4A2-4F17-B1D8-0FDB-37162943DFC6}"/>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3906520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D9C1D-09F8-EAB1-E0B0-2EAE09F2EB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9B3EB0-70E5-A400-4C70-D366FA347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51A928-C780-EEBF-C1EA-EFCAA7AA9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ED238-600B-EBF5-9047-AF37A51E42C8}"/>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6" name="Footer Placeholder 5">
            <a:extLst>
              <a:ext uri="{FF2B5EF4-FFF2-40B4-BE49-F238E27FC236}">
                <a16:creationId xmlns:a16="http://schemas.microsoft.com/office/drawing/2014/main" id="{4210B425-8E88-01A8-31CE-DC27C3A2C4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1D5BEA-0C8C-1BE8-9C58-5DB32CB0B274}"/>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1103348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17570-FC2C-3E48-DA91-A074B143D6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9E1B16-2981-206B-8C34-22A1608699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6CB39-F20C-A049-EF73-0B0A95CF8654}"/>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FA1A1180-D457-EABA-C41C-AE9122F798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6E8D03-57FB-2F88-CD61-A2F107F7F6E5}"/>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718659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16686D-3F3E-CC22-7BAB-94780C70FC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F7923A-393D-9B11-03FF-B79B3CD338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9696F8-9796-A288-19B0-A8DFD7353656}"/>
              </a:ext>
            </a:extLst>
          </p:cNvPr>
          <p:cNvSpPr>
            <a:spLocks noGrp="1"/>
          </p:cNvSpPr>
          <p:nvPr>
            <p:ph type="dt" sz="half" idx="10"/>
          </p:nvPr>
        </p:nvSpPr>
        <p:spPr/>
        <p:txBody>
          <a:body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311E4921-F555-D39C-BEFF-3564767FA9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53E35-882C-F689-8C48-251E67A6B25B}"/>
              </a:ext>
            </a:extLst>
          </p:cNvPr>
          <p:cNvSpPr>
            <a:spLocks noGrp="1"/>
          </p:cNvSpPr>
          <p:nvPr>
            <p:ph type="sldNum" sz="quarter" idx="12"/>
          </p:nvPr>
        </p:nvSpPr>
        <p:spPr/>
        <p:txBody>
          <a:bodyPr/>
          <a:lstStyle/>
          <a:p>
            <a:fld id="{898E1EA3-4373-4B3E-9F78-08EA548E183F}" type="slidenum">
              <a:rPr lang="en-US" smtClean="0"/>
              <a:t>‹#›</a:t>
            </a:fld>
            <a:endParaRPr lang="en-US"/>
          </a:p>
        </p:txBody>
      </p:sp>
    </p:spTree>
    <p:extLst>
      <p:ext uri="{BB962C8B-B14F-4D97-AF65-F5344CB8AC3E}">
        <p14:creationId xmlns:p14="http://schemas.microsoft.com/office/powerpoint/2010/main" val="2465142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2CB3B0-E345-EA06-B1A1-57892EBFB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1CA080-D079-DAAF-518F-CEA1747BBF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18D64B-E059-04AB-2C38-A15408F407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B453CE-1521-4CD7-BD05-B4C7559E526D}" type="datetimeFigureOut">
              <a:rPr lang="en-US" smtClean="0"/>
              <a:t>03/Sep/2026</a:t>
            </a:fld>
            <a:endParaRPr lang="en-US"/>
          </a:p>
        </p:txBody>
      </p:sp>
      <p:sp>
        <p:nvSpPr>
          <p:cNvPr id="5" name="Footer Placeholder 4">
            <a:extLst>
              <a:ext uri="{FF2B5EF4-FFF2-40B4-BE49-F238E27FC236}">
                <a16:creationId xmlns:a16="http://schemas.microsoft.com/office/drawing/2014/main" id="{9900AF19-A255-5B8D-453A-8FDA6A4A4F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856095-C9E7-3C9A-E7C2-FD42F7D2B1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8E1EA3-4373-4B3E-9F78-08EA548E183F}" type="slidenum">
              <a:rPr lang="en-US" smtClean="0"/>
              <a:t>‹#›</a:t>
            </a:fld>
            <a:endParaRPr lang="en-US"/>
          </a:p>
        </p:txBody>
      </p:sp>
    </p:spTree>
    <p:extLst>
      <p:ext uri="{BB962C8B-B14F-4D97-AF65-F5344CB8AC3E}">
        <p14:creationId xmlns:p14="http://schemas.microsoft.com/office/powerpoint/2010/main" val="2116354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536"/>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FEE4DD-B5C1-A9E7-BD43-A3E5516E6AF9}"/>
              </a:ext>
            </a:extLst>
          </p:cNvPr>
          <p:cNvSpPr/>
          <p:nvPr/>
        </p:nvSpPr>
        <p:spPr>
          <a:xfrm rot="1080000">
            <a:off x="8255000" y="-889000"/>
            <a:ext cx="4953000" cy="3302000"/>
          </a:xfrm>
          <a:prstGeom prst="roundRect">
            <a:avLst/>
          </a:prstGeom>
          <a:solidFill>
            <a:srgbClr val="6D3EF2">
              <a:alpha val="88000"/>
            </a:srgbClr>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7A06D124-6B8A-6FBE-E58D-CE231E171707}"/>
              </a:ext>
            </a:extLst>
          </p:cNvPr>
          <p:cNvSpPr/>
          <p:nvPr/>
        </p:nvSpPr>
        <p:spPr>
          <a:xfrm rot="-720000">
            <a:off x="9144000" y="3937000"/>
            <a:ext cx="3937000" cy="2413000"/>
          </a:xfrm>
          <a:prstGeom prst="roundRect">
            <a:avLst/>
          </a:prstGeom>
          <a:solidFill>
            <a:srgbClr val="078A99">
              <a:alpha val="80000"/>
            </a:srgbClr>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CE8488C1-0AF5-79F4-BF86-92AF7D75D949}"/>
              </a:ext>
            </a:extLst>
          </p:cNvPr>
          <p:cNvSpPr/>
          <p:nvPr/>
        </p:nvSpPr>
        <p:spPr>
          <a:xfrm>
            <a:off x="736600" y="584200"/>
            <a:ext cx="3022600" cy="3810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3B9E8F-C2FB-E25C-936E-4317E9774A6B}"/>
              </a:ext>
            </a:extLst>
          </p:cNvPr>
          <p:cNvSpPr txBox="1"/>
          <p:nvPr/>
        </p:nvSpPr>
        <p:spPr>
          <a:xfrm>
            <a:off x="736600" y="584200"/>
            <a:ext cx="3022600" cy="3810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MANAGEMENT &amp; TEAM BRIEFING</a:t>
            </a:r>
          </a:p>
        </p:txBody>
      </p:sp>
      <p:sp>
        <p:nvSpPr>
          <p:cNvPr id="6" name="TextBox 5">
            <a:extLst>
              <a:ext uri="{FF2B5EF4-FFF2-40B4-BE49-F238E27FC236}">
                <a16:creationId xmlns:a16="http://schemas.microsoft.com/office/drawing/2014/main" id="{A39B11F8-A328-7DC1-1DA0-CEE6271F2D05}"/>
              </a:ext>
            </a:extLst>
          </p:cNvPr>
          <p:cNvSpPr txBox="1"/>
          <p:nvPr/>
        </p:nvSpPr>
        <p:spPr>
          <a:xfrm>
            <a:off x="685800" y="1358900"/>
            <a:ext cx="7747000" cy="863600"/>
          </a:xfrm>
          <a:prstGeom prst="rect">
            <a:avLst/>
          </a:prstGeom>
          <a:noFill/>
        </p:spPr>
        <p:txBody>
          <a:bodyPr vert="horz" wrap="square" lIns="50800" tIns="25400" rIns="50800" bIns="25400" rtlCol="0" anchor="t">
            <a:noAutofit/>
          </a:bodyPr>
          <a:lstStyle/>
          <a:p>
            <a:r>
              <a:rPr lang="en-US" sz="3800" b="1">
                <a:solidFill>
                  <a:srgbClr val="FFFFFF"/>
                </a:solidFill>
                <a:latin typeface="Segoe UI" panose="020B0502040204020203" pitchFamily="34" charset="0"/>
              </a:rPr>
              <a:t>Inventory Forecasting</a:t>
            </a:r>
          </a:p>
        </p:txBody>
      </p:sp>
      <p:sp>
        <p:nvSpPr>
          <p:cNvPr id="7" name="TextBox 6">
            <a:extLst>
              <a:ext uri="{FF2B5EF4-FFF2-40B4-BE49-F238E27FC236}">
                <a16:creationId xmlns:a16="http://schemas.microsoft.com/office/drawing/2014/main" id="{F41B21A9-A96C-3008-F6F9-FDB09500EC1D}"/>
              </a:ext>
            </a:extLst>
          </p:cNvPr>
          <p:cNvSpPr txBox="1"/>
          <p:nvPr/>
        </p:nvSpPr>
        <p:spPr>
          <a:xfrm>
            <a:off x="736600" y="2298700"/>
            <a:ext cx="7366000" cy="736600"/>
          </a:xfrm>
          <a:prstGeom prst="rect">
            <a:avLst/>
          </a:prstGeom>
          <a:noFill/>
        </p:spPr>
        <p:txBody>
          <a:bodyPr vert="horz" wrap="square" lIns="50800" tIns="25400" rIns="50800" bIns="25400" rtlCol="0" anchor="t">
            <a:noAutofit/>
          </a:bodyPr>
          <a:lstStyle/>
          <a:p>
            <a:r>
              <a:rPr lang="en-US" sz="1900">
                <a:solidFill>
                  <a:srgbClr val="FFFFFF"/>
                </a:solidFill>
                <a:latin typeface="Segoe UI" panose="020B0502040204020203" pitchFamily="34" charset="0"/>
              </a:rPr>
              <a:t>From daily transactions to trusted, human-controlled inventory decisions</a:t>
            </a:r>
          </a:p>
        </p:txBody>
      </p:sp>
      <p:cxnSp>
        <p:nvCxnSpPr>
          <p:cNvPr id="8" name="Straight Connector 7">
            <a:extLst>
              <a:ext uri="{FF2B5EF4-FFF2-40B4-BE49-F238E27FC236}">
                <a16:creationId xmlns:a16="http://schemas.microsoft.com/office/drawing/2014/main" id="{A4654521-501A-9249-07C8-B32E5114918B}"/>
              </a:ext>
            </a:extLst>
          </p:cNvPr>
          <p:cNvCxnSpPr/>
          <p:nvPr/>
        </p:nvCxnSpPr>
        <p:spPr>
          <a:xfrm>
            <a:off x="762000" y="3505200"/>
            <a:ext cx="9461500" cy="0"/>
          </a:xfrm>
          <a:prstGeom prst="line">
            <a:avLst/>
          </a:prstGeom>
          <a:ln w="38100">
            <a:solidFill>
              <a:srgbClr val="078A99"/>
            </a:solidFill>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D867C0A3-6CC5-8B5C-B77E-88B3075817BA}"/>
              </a:ext>
            </a:extLst>
          </p:cNvPr>
          <p:cNvSpPr/>
          <p:nvPr/>
        </p:nvSpPr>
        <p:spPr>
          <a:xfrm>
            <a:off x="762000" y="3822700"/>
            <a:ext cx="431800" cy="4318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F5DAC8E-2C41-7401-44BE-3E326F269A61}"/>
              </a:ext>
            </a:extLst>
          </p:cNvPr>
          <p:cNvSpPr txBox="1"/>
          <p:nvPr/>
        </p:nvSpPr>
        <p:spPr>
          <a:xfrm>
            <a:off x="762000" y="3822700"/>
            <a:ext cx="431800" cy="431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01</a:t>
            </a:r>
          </a:p>
        </p:txBody>
      </p:sp>
      <p:sp>
        <p:nvSpPr>
          <p:cNvPr id="11" name="TextBox 10">
            <a:extLst>
              <a:ext uri="{FF2B5EF4-FFF2-40B4-BE49-F238E27FC236}">
                <a16:creationId xmlns:a16="http://schemas.microsoft.com/office/drawing/2014/main" id="{C306B040-9AE4-EAE5-B4E8-A8100938A7AF}"/>
              </a:ext>
            </a:extLst>
          </p:cNvPr>
          <p:cNvSpPr txBox="1"/>
          <p:nvPr/>
        </p:nvSpPr>
        <p:spPr>
          <a:xfrm>
            <a:off x="1308100" y="3810000"/>
            <a:ext cx="1879600" cy="279400"/>
          </a:xfrm>
          <a:prstGeom prst="rect">
            <a:avLst/>
          </a:prstGeom>
          <a:noFill/>
        </p:spPr>
        <p:txBody>
          <a:bodyPr vert="horz" wrap="square" lIns="50800" tIns="25400" rIns="50800" bIns="25400" rtlCol="0" anchor="t">
            <a:noAutofit/>
          </a:bodyPr>
          <a:lstStyle/>
          <a:p>
            <a:r>
              <a:rPr lang="en-US" sz="1100" b="1">
                <a:solidFill>
                  <a:srgbClr val="FFFFFF"/>
                </a:solidFill>
                <a:latin typeface="Segoe UI" panose="020B0502040204020203" pitchFamily="34" charset="0"/>
              </a:rPr>
              <a:t>CAPTURE</a:t>
            </a:r>
          </a:p>
        </p:txBody>
      </p:sp>
      <p:sp>
        <p:nvSpPr>
          <p:cNvPr id="12" name="TextBox 11">
            <a:extLst>
              <a:ext uri="{FF2B5EF4-FFF2-40B4-BE49-F238E27FC236}">
                <a16:creationId xmlns:a16="http://schemas.microsoft.com/office/drawing/2014/main" id="{946BDDB3-8E00-C086-D17D-231370F7699C}"/>
              </a:ext>
            </a:extLst>
          </p:cNvPr>
          <p:cNvSpPr txBox="1"/>
          <p:nvPr/>
        </p:nvSpPr>
        <p:spPr>
          <a:xfrm>
            <a:off x="1308100" y="4102100"/>
            <a:ext cx="1905000" cy="558800"/>
          </a:xfrm>
          <a:prstGeom prst="rect">
            <a:avLst/>
          </a:prstGeom>
          <a:noFill/>
        </p:spPr>
        <p:txBody>
          <a:bodyPr vert="horz" wrap="square" lIns="50800" tIns="25400" rIns="50800" bIns="25400" rtlCol="0" anchor="t">
            <a:noAutofit/>
          </a:bodyPr>
          <a:lstStyle/>
          <a:p>
            <a:r>
              <a:rPr lang="en-US" sz="950">
                <a:solidFill>
                  <a:srgbClr val="98A2B3"/>
                </a:solidFill>
                <a:latin typeface="Segoe UI" panose="020B0502040204020203" pitchFamily="34" charset="0"/>
              </a:rPr>
              <a:t>Sales, receipts, returns, transfers</a:t>
            </a:r>
          </a:p>
        </p:txBody>
      </p:sp>
      <p:sp>
        <p:nvSpPr>
          <p:cNvPr id="13" name="Oval 12">
            <a:extLst>
              <a:ext uri="{FF2B5EF4-FFF2-40B4-BE49-F238E27FC236}">
                <a16:creationId xmlns:a16="http://schemas.microsoft.com/office/drawing/2014/main" id="{C51CD53E-47D1-AB72-9732-55EE5DC44411}"/>
              </a:ext>
            </a:extLst>
          </p:cNvPr>
          <p:cNvSpPr/>
          <p:nvPr/>
        </p:nvSpPr>
        <p:spPr>
          <a:xfrm>
            <a:off x="3365500" y="3822700"/>
            <a:ext cx="431800" cy="4318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2E50212-9675-83F6-0F70-CB809762EDE1}"/>
              </a:ext>
            </a:extLst>
          </p:cNvPr>
          <p:cNvSpPr txBox="1"/>
          <p:nvPr/>
        </p:nvSpPr>
        <p:spPr>
          <a:xfrm>
            <a:off x="3365500" y="3822700"/>
            <a:ext cx="431800" cy="431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02</a:t>
            </a:r>
          </a:p>
        </p:txBody>
      </p:sp>
      <p:sp>
        <p:nvSpPr>
          <p:cNvPr id="15" name="TextBox 14">
            <a:extLst>
              <a:ext uri="{FF2B5EF4-FFF2-40B4-BE49-F238E27FC236}">
                <a16:creationId xmlns:a16="http://schemas.microsoft.com/office/drawing/2014/main" id="{DF9E18EE-A5F5-93EC-875E-B11DB5D8083D}"/>
              </a:ext>
            </a:extLst>
          </p:cNvPr>
          <p:cNvSpPr txBox="1"/>
          <p:nvPr/>
        </p:nvSpPr>
        <p:spPr>
          <a:xfrm>
            <a:off x="3911600" y="3810000"/>
            <a:ext cx="1879600" cy="279400"/>
          </a:xfrm>
          <a:prstGeom prst="rect">
            <a:avLst/>
          </a:prstGeom>
          <a:noFill/>
        </p:spPr>
        <p:txBody>
          <a:bodyPr vert="horz" wrap="square" lIns="50800" tIns="25400" rIns="50800" bIns="25400" rtlCol="0" anchor="t">
            <a:noAutofit/>
          </a:bodyPr>
          <a:lstStyle/>
          <a:p>
            <a:r>
              <a:rPr lang="en-US" sz="1100" b="1">
                <a:solidFill>
                  <a:srgbClr val="FFFFFF"/>
                </a:solidFill>
                <a:latin typeface="Segoe UI" panose="020B0502040204020203" pitchFamily="34" charset="0"/>
              </a:rPr>
              <a:t>UNDERSTAND</a:t>
            </a:r>
          </a:p>
        </p:txBody>
      </p:sp>
      <p:sp>
        <p:nvSpPr>
          <p:cNvPr id="16" name="TextBox 15">
            <a:extLst>
              <a:ext uri="{FF2B5EF4-FFF2-40B4-BE49-F238E27FC236}">
                <a16:creationId xmlns:a16="http://schemas.microsoft.com/office/drawing/2014/main" id="{79E4F00B-C198-147F-B340-FA0D5DE2E8E5}"/>
              </a:ext>
            </a:extLst>
          </p:cNvPr>
          <p:cNvSpPr txBox="1"/>
          <p:nvPr/>
        </p:nvSpPr>
        <p:spPr>
          <a:xfrm>
            <a:off x="3911600" y="4102100"/>
            <a:ext cx="1905000" cy="558800"/>
          </a:xfrm>
          <a:prstGeom prst="rect">
            <a:avLst/>
          </a:prstGeom>
          <a:noFill/>
        </p:spPr>
        <p:txBody>
          <a:bodyPr vert="horz" wrap="square" lIns="50800" tIns="25400" rIns="50800" bIns="25400" rtlCol="0" anchor="t">
            <a:noAutofit/>
          </a:bodyPr>
          <a:lstStyle/>
          <a:p>
            <a:r>
              <a:rPr lang="en-US" sz="950">
                <a:solidFill>
                  <a:srgbClr val="98A2B3"/>
                </a:solidFill>
                <a:latin typeface="Segoe UI" panose="020B0502040204020203" pitchFamily="34" charset="0"/>
              </a:rPr>
              <a:t>Ledger, FIFO, analytics, snapshots</a:t>
            </a:r>
          </a:p>
        </p:txBody>
      </p:sp>
      <p:sp>
        <p:nvSpPr>
          <p:cNvPr id="17" name="Oval 16">
            <a:extLst>
              <a:ext uri="{FF2B5EF4-FFF2-40B4-BE49-F238E27FC236}">
                <a16:creationId xmlns:a16="http://schemas.microsoft.com/office/drawing/2014/main" id="{43006B53-E9D4-83AD-F6B9-0CBC635D29E9}"/>
              </a:ext>
            </a:extLst>
          </p:cNvPr>
          <p:cNvSpPr/>
          <p:nvPr/>
        </p:nvSpPr>
        <p:spPr>
          <a:xfrm>
            <a:off x="5969000" y="3822700"/>
            <a:ext cx="431800" cy="4318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AF230DF-6D3D-2841-3B98-F3378ACE8489}"/>
              </a:ext>
            </a:extLst>
          </p:cNvPr>
          <p:cNvSpPr txBox="1"/>
          <p:nvPr/>
        </p:nvSpPr>
        <p:spPr>
          <a:xfrm>
            <a:off x="5969000" y="3822700"/>
            <a:ext cx="431800" cy="431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03</a:t>
            </a:r>
          </a:p>
        </p:txBody>
      </p:sp>
      <p:sp>
        <p:nvSpPr>
          <p:cNvPr id="19" name="TextBox 18">
            <a:extLst>
              <a:ext uri="{FF2B5EF4-FFF2-40B4-BE49-F238E27FC236}">
                <a16:creationId xmlns:a16="http://schemas.microsoft.com/office/drawing/2014/main" id="{AA1D11DE-3864-23D3-7675-29B68F6DB7BF}"/>
              </a:ext>
            </a:extLst>
          </p:cNvPr>
          <p:cNvSpPr txBox="1"/>
          <p:nvPr/>
        </p:nvSpPr>
        <p:spPr>
          <a:xfrm>
            <a:off x="6515100" y="3810000"/>
            <a:ext cx="1879600" cy="279400"/>
          </a:xfrm>
          <a:prstGeom prst="rect">
            <a:avLst/>
          </a:prstGeom>
          <a:noFill/>
        </p:spPr>
        <p:txBody>
          <a:bodyPr vert="horz" wrap="square" lIns="50800" tIns="25400" rIns="50800" bIns="25400" rtlCol="0" anchor="t">
            <a:noAutofit/>
          </a:bodyPr>
          <a:lstStyle/>
          <a:p>
            <a:r>
              <a:rPr lang="en-US" sz="1100" b="1">
                <a:solidFill>
                  <a:srgbClr val="FFFFFF"/>
                </a:solidFill>
                <a:latin typeface="Segoe UI" panose="020B0502040204020203" pitchFamily="34" charset="0"/>
              </a:rPr>
              <a:t>PREDICT</a:t>
            </a:r>
          </a:p>
        </p:txBody>
      </p:sp>
      <p:sp>
        <p:nvSpPr>
          <p:cNvPr id="20" name="TextBox 19">
            <a:extLst>
              <a:ext uri="{FF2B5EF4-FFF2-40B4-BE49-F238E27FC236}">
                <a16:creationId xmlns:a16="http://schemas.microsoft.com/office/drawing/2014/main" id="{FB5EE2F2-612B-7029-3284-3F4C42751CD5}"/>
              </a:ext>
            </a:extLst>
          </p:cNvPr>
          <p:cNvSpPr txBox="1"/>
          <p:nvPr/>
        </p:nvSpPr>
        <p:spPr>
          <a:xfrm>
            <a:off x="6515100" y="4102100"/>
            <a:ext cx="1905000" cy="558800"/>
          </a:xfrm>
          <a:prstGeom prst="rect">
            <a:avLst/>
          </a:prstGeom>
          <a:noFill/>
        </p:spPr>
        <p:txBody>
          <a:bodyPr vert="horz" wrap="square" lIns="50800" tIns="25400" rIns="50800" bIns="25400" rtlCol="0" anchor="t">
            <a:noAutofit/>
          </a:bodyPr>
          <a:lstStyle/>
          <a:p>
            <a:r>
              <a:rPr lang="en-US" sz="950">
                <a:solidFill>
                  <a:srgbClr val="98A2B3"/>
                </a:solidFill>
                <a:latin typeface="Segoe UI" panose="020B0502040204020203" pitchFamily="34" charset="0"/>
              </a:rPr>
              <a:t>Baselines + trained neural models</a:t>
            </a:r>
          </a:p>
        </p:txBody>
      </p:sp>
      <p:sp>
        <p:nvSpPr>
          <p:cNvPr id="21" name="Oval 20">
            <a:extLst>
              <a:ext uri="{FF2B5EF4-FFF2-40B4-BE49-F238E27FC236}">
                <a16:creationId xmlns:a16="http://schemas.microsoft.com/office/drawing/2014/main" id="{85C1CE50-B7D9-E14C-20DC-E80E949C526E}"/>
              </a:ext>
            </a:extLst>
          </p:cNvPr>
          <p:cNvSpPr/>
          <p:nvPr/>
        </p:nvSpPr>
        <p:spPr>
          <a:xfrm>
            <a:off x="8572500" y="3822700"/>
            <a:ext cx="431800" cy="4318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29D2AF6-C3D2-56E4-F48E-B091384A8710}"/>
              </a:ext>
            </a:extLst>
          </p:cNvPr>
          <p:cNvSpPr txBox="1"/>
          <p:nvPr/>
        </p:nvSpPr>
        <p:spPr>
          <a:xfrm>
            <a:off x="8572500" y="3822700"/>
            <a:ext cx="431800" cy="431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04</a:t>
            </a:r>
          </a:p>
        </p:txBody>
      </p:sp>
      <p:sp>
        <p:nvSpPr>
          <p:cNvPr id="23" name="TextBox 22">
            <a:extLst>
              <a:ext uri="{FF2B5EF4-FFF2-40B4-BE49-F238E27FC236}">
                <a16:creationId xmlns:a16="http://schemas.microsoft.com/office/drawing/2014/main" id="{FBC165AE-55F0-A83A-D230-93159F42CAD2}"/>
              </a:ext>
            </a:extLst>
          </p:cNvPr>
          <p:cNvSpPr txBox="1"/>
          <p:nvPr/>
        </p:nvSpPr>
        <p:spPr>
          <a:xfrm>
            <a:off x="9118600" y="3810000"/>
            <a:ext cx="1879600" cy="279400"/>
          </a:xfrm>
          <a:prstGeom prst="rect">
            <a:avLst/>
          </a:prstGeom>
          <a:noFill/>
        </p:spPr>
        <p:txBody>
          <a:bodyPr vert="horz" wrap="square" lIns="50800" tIns="25400" rIns="50800" bIns="25400" rtlCol="0" anchor="t">
            <a:noAutofit/>
          </a:bodyPr>
          <a:lstStyle/>
          <a:p>
            <a:r>
              <a:rPr lang="en-US" sz="1100" b="1">
                <a:solidFill>
                  <a:srgbClr val="FFFFFF"/>
                </a:solidFill>
                <a:latin typeface="Segoe UI" panose="020B0502040204020203" pitchFamily="34" charset="0"/>
              </a:rPr>
              <a:t>DECIDE</a:t>
            </a:r>
          </a:p>
        </p:txBody>
      </p:sp>
      <p:sp>
        <p:nvSpPr>
          <p:cNvPr id="24" name="TextBox 23">
            <a:extLst>
              <a:ext uri="{FF2B5EF4-FFF2-40B4-BE49-F238E27FC236}">
                <a16:creationId xmlns:a16="http://schemas.microsoft.com/office/drawing/2014/main" id="{C4CE409E-2B57-CFE9-53F1-A8561896C75E}"/>
              </a:ext>
            </a:extLst>
          </p:cNvPr>
          <p:cNvSpPr txBox="1"/>
          <p:nvPr/>
        </p:nvSpPr>
        <p:spPr>
          <a:xfrm>
            <a:off x="9118600" y="4102100"/>
            <a:ext cx="1905000" cy="558800"/>
          </a:xfrm>
          <a:prstGeom prst="rect">
            <a:avLst/>
          </a:prstGeom>
          <a:noFill/>
        </p:spPr>
        <p:txBody>
          <a:bodyPr vert="horz" wrap="square" lIns="50800" tIns="25400" rIns="50800" bIns="25400" rtlCol="0" anchor="t">
            <a:noAutofit/>
          </a:bodyPr>
          <a:lstStyle/>
          <a:p>
            <a:r>
              <a:rPr lang="en-US" sz="950">
                <a:solidFill>
                  <a:srgbClr val="98A2B3"/>
                </a:solidFill>
                <a:latin typeface="Segoe UI" panose="020B0502040204020203" pitchFamily="34" charset="0"/>
              </a:rPr>
              <a:t>Buy, reduce, stop, transfer, clear</a:t>
            </a:r>
          </a:p>
        </p:txBody>
      </p:sp>
      <p:sp>
        <p:nvSpPr>
          <p:cNvPr id="25" name="Rectangle: Rounded Corners 24">
            <a:extLst>
              <a:ext uri="{FF2B5EF4-FFF2-40B4-BE49-F238E27FC236}">
                <a16:creationId xmlns:a16="http://schemas.microsoft.com/office/drawing/2014/main" id="{61E2ABE4-0AC6-0462-AB27-E9620D62AB03}"/>
              </a:ext>
            </a:extLst>
          </p:cNvPr>
          <p:cNvSpPr/>
          <p:nvPr/>
        </p:nvSpPr>
        <p:spPr>
          <a:xfrm>
            <a:off x="736600" y="5346700"/>
            <a:ext cx="2159000" cy="406400"/>
          </a:xfrm>
          <a:prstGeom prst="roundRect">
            <a:avLst/>
          </a:prstGeom>
          <a:solidFill>
            <a:srgbClr val="0E9F6E"/>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BBD56CE-9434-BFAA-C3D3-FAEDFBC37B53}"/>
              </a:ext>
            </a:extLst>
          </p:cNvPr>
          <p:cNvSpPr txBox="1"/>
          <p:nvPr/>
        </p:nvSpPr>
        <p:spPr>
          <a:xfrm>
            <a:off x="736600" y="5346700"/>
            <a:ext cx="21590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10 phases delivered</a:t>
            </a:r>
          </a:p>
        </p:txBody>
      </p:sp>
      <p:sp>
        <p:nvSpPr>
          <p:cNvPr id="27" name="Rectangle: Rounded Corners 26">
            <a:extLst>
              <a:ext uri="{FF2B5EF4-FFF2-40B4-BE49-F238E27FC236}">
                <a16:creationId xmlns:a16="http://schemas.microsoft.com/office/drawing/2014/main" id="{0605E9BB-09D3-ED8B-7422-5E926291B28E}"/>
              </a:ext>
            </a:extLst>
          </p:cNvPr>
          <p:cNvSpPr/>
          <p:nvPr/>
        </p:nvSpPr>
        <p:spPr>
          <a:xfrm>
            <a:off x="3048000" y="5346700"/>
            <a:ext cx="2514600" cy="4064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92F5D04-F702-C07E-287E-47CBA5308D77}"/>
              </a:ext>
            </a:extLst>
          </p:cNvPr>
          <p:cNvSpPr txBox="1"/>
          <p:nvPr/>
        </p:nvSpPr>
        <p:spPr>
          <a:xfrm>
            <a:off x="3048000" y="5346700"/>
            <a:ext cx="25146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Human approval retained</a:t>
            </a:r>
          </a:p>
        </p:txBody>
      </p:sp>
      <p:sp>
        <p:nvSpPr>
          <p:cNvPr id="29" name="Rectangle: Rounded Corners 28">
            <a:extLst>
              <a:ext uri="{FF2B5EF4-FFF2-40B4-BE49-F238E27FC236}">
                <a16:creationId xmlns:a16="http://schemas.microsoft.com/office/drawing/2014/main" id="{CD93593B-FD2A-DAED-99F0-19E765825DDE}"/>
              </a:ext>
            </a:extLst>
          </p:cNvPr>
          <p:cNvSpPr/>
          <p:nvPr/>
        </p:nvSpPr>
        <p:spPr>
          <a:xfrm>
            <a:off x="5715000" y="5346700"/>
            <a:ext cx="3251200" cy="406400"/>
          </a:xfrm>
          <a:prstGeom prst="roundRect">
            <a:avLst/>
          </a:prstGeom>
          <a:solidFill>
            <a:srgbClr val="E58A00"/>
          </a:solidFill>
          <a:ln w="12700">
            <a:solidFill>
              <a:srgbClr val="E58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6C4C67D-715F-2C93-E77A-A50F27FCC1E6}"/>
              </a:ext>
            </a:extLst>
          </p:cNvPr>
          <p:cNvSpPr txBox="1"/>
          <p:nvPr/>
        </p:nvSpPr>
        <p:spPr>
          <a:xfrm>
            <a:off x="5715000" y="5346700"/>
            <a:ext cx="3251200" cy="406400"/>
          </a:xfrm>
          <a:prstGeom prst="rect">
            <a:avLst/>
          </a:prstGeom>
          <a:noFill/>
        </p:spPr>
        <p:txBody>
          <a:bodyPr vert="horz" wrap="square" lIns="50800" tIns="25400" rIns="50800" bIns="25400" rtlCol="0" anchor="ctr">
            <a:noAutofit/>
          </a:bodyPr>
          <a:lstStyle/>
          <a:p>
            <a:pPr algn="ctr"/>
            <a:r>
              <a:rPr lang="en-US" sz="1000" b="1">
                <a:solidFill>
                  <a:srgbClr val="0B1536"/>
                </a:solidFill>
                <a:latin typeface="Segoe UI" panose="020B0502040204020203" pitchFamily="34" charset="0"/>
              </a:rPr>
              <a:t>Production controls still required</a:t>
            </a:r>
          </a:p>
        </p:txBody>
      </p:sp>
      <p:sp>
        <p:nvSpPr>
          <p:cNvPr id="31" name="TextBox 30">
            <a:extLst>
              <a:ext uri="{FF2B5EF4-FFF2-40B4-BE49-F238E27FC236}">
                <a16:creationId xmlns:a16="http://schemas.microsoft.com/office/drawing/2014/main" id="{68CF69F1-86D1-0828-317A-40052C806DDB}"/>
              </a:ext>
            </a:extLst>
          </p:cNvPr>
          <p:cNvSpPr txBox="1"/>
          <p:nvPr/>
        </p:nvSpPr>
        <p:spPr>
          <a:xfrm>
            <a:off x="762000" y="6248400"/>
            <a:ext cx="3048000" cy="254000"/>
          </a:xfrm>
          <a:prstGeom prst="rect">
            <a:avLst/>
          </a:prstGeom>
          <a:noFill/>
        </p:spPr>
        <p:txBody>
          <a:bodyPr vert="horz" wrap="square" lIns="50800" tIns="25400" rIns="50800" bIns="25400" rtlCol="0" anchor="t">
            <a:noAutofit/>
          </a:bodyPr>
          <a:lstStyle/>
          <a:p>
            <a:r>
              <a:rPr lang="en-US" sz="900">
                <a:solidFill>
                  <a:srgbClr val="98A2B3"/>
                </a:solidFill>
                <a:latin typeface="Segoe UI" panose="020B0502040204020203" pitchFamily="34" charset="0"/>
              </a:rPr>
              <a:t>03 September 2026</a:t>
            </a:r>
          </a:p>
        </p:txBody>
      </p:sp>
    </p:spTree>
    <p:extLst>
      <p:ext uri="{BB962C8B-B14F-4D97-AF65-F5344CB8AC3E}">
        <p14:creationId xmlns:p14="http://schemas.microsoft.com/office/powerpoint/2010/main" val="383322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D94437-31E8-A453-2D46-E86492F2957C}"/>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EXECUTIVE SUMMARY</a:t>
            </a:r>
          </a:p>
        </p:txBody>
      </p:sp>
      <p:sp>
        <p:nvSpPr>
          <p:cNvPr id="3" name="TextBox 2">
            <a:extLst>
              <a:ext uri="{FF2B5EF4-FFF2-40B4-BE49-F238E27FC236}">
                <a16:creationId xmlns:a16="http://schemas.microsoft.com/office/drawing/2014/main" id="{5E97371E-B0A3-07A8-A091-BC4A2BE67D0D}"/>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A single operating system for stock decisions</a:t>
            </a:r>
          </a:p>
        </p:txBody>
      </p:sp>
      <p:sp>
        <p:nvSpPr>
          <p:cNvPr id="4" name="TextBox 3">
            <a:extLst>
              <a:ext uri="{FF2B5EF4-FFF2-40B4-BE49-F238E27FC236}">
                <a16:creationId xmlns:a16="http://schemas.microsoft.com/office/drawing/2014/main" id="{5E732709-4349-06AE-C884-D815C22B20D9}"/>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One source of operational truth, translated into measurable action without removing management control.</a:t>
            </a:r>
          </a:p>
        </p:txBody>
      </p:sp>
      <p:sp>
        <p:nvSpPr>
          <p:cNvPr id="5" name="Rectangle: Rounded Corners 4">
            <a:extLst>
              <a:ext uri="{FF2B5EF4-FFF2-40B4-BE49-F238E27FC236}">
                <a16:creationId xmlns:a16="http://schemas.microsoft.com/office/drawing/2014/main" id="{64CC18DF-82C7-1CC5-F2CB-84F7B7E18A44}"/>
              </a:ext>
            </a:extLst>
          </p:cNvPr>
          <p:cNvSpPr/>
          <p:nvPr/>
        </p:nvSpPr>
        <p:spPr>
          <a:xfrm>
            <a:off x="609600" y="1841500"/>
            <a:ext cx="3327400" cy="33020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2FD146E-2349-FC5A-B2AB-FE71E3B17B23}"/>
              </a:ext>
            </a:extLst>
          </p:cNvPr>
          <p:cNvSpPr/>
          <p:nvPr/>
        </p:nvSpPr>
        <p:spPr>
          <a:xfrm>
            <a:off x="609600" y="1841500"/>
            <a:ext cx="3327400" cy="114300"/>
          </a:xfrm>
          <a:prstGeom prst="roundRect">
            <a:avLst/>
          </a:prstGeom>
          <a:solidFill>
            <a:srgbClr val="1769E0"/>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C825283-336D-485B-CF16-9E760CDE500E}"/>
              </a:ext>
            </a:extLst>
          </p:cNvPr>
          <p:cNvSpPr/>
          <p:nvPr/>
        </p:nvSpPr>
        <p:spPr>
          <a:xfrm>
            <a:off x="863600" y="2184400"/>
            <a:ext cx="482600" cy="4826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81A2DE6-71C4-E912-3DE3-15ABD955B262}"/>
              </a:ext>
            </a:extLst>
          </p:cNvPr>
          <p:cNvSpPr txBox="1"/>
          <p:nvPr/>
        </p:nvSpPr>
        <p:spPr>
          <a:xfrm>
            <a:off x="8636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1</a:t>
            </a:r>
          </a:p>
        </p:txBody>
      </p:sp>
      <p:sp>
        <p:nvSpPr>
          <p:cNvPr id="9" name="TextBox 8">
            <a:extLst>
              <a:ext uri="{FF2B5EF4-FFF2-40B4-BE49-F238E27FC236}">
                <a16:creationId xmlns:a16="http://schemas.microsoft.com/office/drawing/2014/main" id="{733BBED2-3A54-F6BE-B597-F41EB55187CC}"/>
              </a:ext>
            </a:extLst>
          </p:cNvPr>
          <p:cNvSpPr txBox="1"/>
          <p:nvPr/>
        </p:nvSpPr>
        <p:spPr>
          <a:xfrm>
            <a:off x="1498600" y="2184400"/>
            <a:ext cx="2159000" cy="508000"/>
          </a:xfrm>
          <a:prstGeom prst="rect">
            <a:avLst/>
          </a:prstGeom>
          <a:noFill/>
        </p:spPr>
        <p:txBody>
          <a:bodyPr vert="horz" wrap="square" lIns="50800" tIns="25400" rIns="50800" bIns="25400" rtlCol="0" anchor="ctr">
            <a:noAutofit/>
          </a:bodyPr>
          <a:lstStyle/>
          <a:p>
            <a:r>
              <a:rPr lang="en-US" sz="1700" b="1">
                <a:solidFill>
                  <a:srgbClr val="0B1536"/>
                </a:solidFill>
                <a:latin typeface="Segoe UI" panose="020B0502040204020203" pitchFamily="34" charset="0"/>
              </a:rPr>
              <a:t>OBSERVE</a:t>
            </a:r>
          </a:p>
        </p:txBody>
      </p:sp>
      <p:sp>
        <p:nvSpPr>
          <p:cNvPr id="10" name="TextBox 9">
            <a:extLst>
              <a:ext uri="{FF2B5EF4-FFF2-40B4-BE49-F238E27FC236}">
                <a16:creationId xmlns:a16="http://schemas.microsoft.com/office/drawing/2014/main" id="{DCB09300-6140-55D3-D82B-3A36D64FC069}"/>
              </a:ext>
            </a:extLst>
          </p:cNvPr>
          <p:cNvSpPr txBox="1"/>
          <p:nvPr/>
        </p:nvSpPr>
        <p:spPr>
          <a:xfrm>
            <a:off x="889000" y="2946400"/>
            <a:ext cx="2768600" cy="1752600"/>
          </a:xfrm>
          <a:prstGeom prst="rect">
            <a:avLst/>
          </a:prstGeom>
          <a:noFill/>
        </p:spPr>
        <p:txBody>
          <a:bodyPr vert="horz" wrap="square" lIns="50800" tIns="25400" rIns="50800" bIns="25400" rtlCol="0" anchor="t">
            <a:noAutofit/>
          </a:bodyPr>
          <a:lstStyle/>
          <a:p>
            <a:r>
              <a:rPr lang="en-US" sz="1300">
                <a:solidFill>
                  <a:srgbClr val="344054"/>
                </a:solidFill>
                <a:latin typeface="Segoe UI" panose="020B0502040204020203" pitchFamily="34" charset="0"/>
              </a:rPr>
              <a:t>Multi-warehouse balances</a:t>
            </a:r>
          </a:p>
          <a:p>
            <a:r>
              <a:rPr lang="en-US" sz="1300">
                <a:solidFill>
                  <a:srgbClr val="344054"/>
                </a:solidFill>
                <a:latin typeface="Segoe UI" panose="020B0502040204020203" pitchFamily="34" charset="0"/>
              </a:rPr>
              <a:t>Append-only stock ledger</a:t>
            </a:r>
          </a:p>
          <a:p>
            <a:r>
              <a:rPr lang="en-US" sz="1300">
                <a:solidFill>
                  <a:srgbClr val="344054"/>
                </a:solidFill>
                <a:latin typeface="Segoe UI" panose="020B0502040204020203" pitchFamily="34" charset="0"/>
              </a:rPr>
              <a:t>FIFO batches and costs</a:t>
            </a:r>
          </a:p>
          <a:p>
            <a:r>
              <a:rPr lang="en-US" sz="1300">
                <a:solidFill>
                  <a:srgbClr val="344054"/>
                </a:solidFill>
                <a:latin typeface="Segoe UI" panose="020B0502040204020203" pitchFamily="34" charset="0"/>
              </a:rPr>
              <a:t>Purchasing, sales and returns</a:t>
            </a:r>
          </a:p>
        </p:txBody>
      </p:sp>
      <p:sp>
        <p:nvSpPr>
          <p:cNvPr id="11" name="Rectangle: Rounded Corners 10">
            <a:extLst>
              <a:ext uri="{FF2B5EF4-FFF2-40B4-BE49-F238E27FC236}">
                <a16:creationId xmlns:a16="http://schemas.microsoft.com/office/drawing/2014/main" id="{856928F3-0FB7-5D6A-9B92-B62A3A55ABD5}"/>
              </a:ext>
            </a:extLst>
          </p:cNvPr>
          <p:cNvSpPr/>
          <p:nvPr/>
        </p:nvSpPr>
        <p:spPr>
          <a:xfrm>
            <a:off x="4432300" y="1841500"/>
            <a:ext cx="3327400" cy="33020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9BE14DBB-63EA-CD3D-5BBB-8885EB155E63}"/>
              </a:ext>
            </a:extLst>
          </p:cNvPr>
          <p:cNvSpPr/>
          <p:nvPr/>
        </p:nvSpPr>
        <p:spPr>
          <a:xfrm>
            <a:off x="4432300" y="1841500"/>
            <a:ext cx="3327400" cy="1143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A128177-8D16-9744-0BA1-BD432F23C1B1}"/>
              </a:ext>
            </a:extLst>
          </p:cNvPr>
          <p:cNvSpPr/>
          <p:nvPr/>
        </p:nvSpPr>
        <p:spPr>
          <a:xfrm>
            <a:off x="4686300" y="2184400"/>
            <a:ext cx="482600" cy="4826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5CACAB-F4B8-3E50-267B-D384D3AAFD9B}"/>
              </a:ext>
            </a:extLst>
          </p:cNvPr>
          <p:cNvSpPr txBox="1"/>
          <p:nvPr/>
        </p:nvSpPr>
        <p:spPr>
          <a:xfrm>
            <a:off x="46863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2</a:t>
            </a:r>
          </a:p>
        </p:txBody>
      </p:sp>
      <p:sp>
        <p:nvSpPr>
          <p:cNvPr id="15" name="TextBox 14">
            <a:extLst>
              <a:ext uri="{FF2B5EF4-FFF2-40B4-BE49-F238E27FC236}">
                <a16:creationId xmlns:a16="http://schemas.microsoft.com/office/drawing/2014/main" id="{CE1E411A-90E9-D93B-66C3-E90D93CD141D}"/>
              </a:ext>
            </a:extLst>
          </p:cNvPr>
          <p:cNvSpPr txBox="1"/>
          <p:nvPr/>
        </p:nvSpPr>
        <p:spPr>
          <a:xfrm>
            <a:off x="5321300" y="2184400"/>
            <a:ext cx="2159000" cy="508000"/>
          </a:xfrm>
          <a:prstGeom prst="rect">
            <a:avLst/>
          </a:prstGeom>
          <a:noFill/>
        </p:spPr>
        <p:txBody>
          <a:bodyPr vert="horz" wrap="square" lIns="50800" tIns="25400" rIns="50800" bIns="25400" rtlCol="0" anchor="ctr">
            <a:noAutofit/>
          </a:bodyPr>
          <a:lstStyle/>
          <a:p>
            <a:r>
              <a:rPr lang="en-US" sz="1700" b="1">
                <a:solidFill>
                  <a:srgbClr val="0B1536"/>
                </a:solidFill>
                <a:latin typeface="Segoe UI" panose="020B0502040204020203" pitchFamily="34" charset="0"/>
              </a:rPr>
              <a:t>UNDERSTAND</a:t>
            </a:r>
          </a:p>
        </p:txBody>
      </p:sp>
      <p:sp>
        <p:nvSpPr>
          <p:cNvPr id="16" name="TextBox 15">
            <a:extLst>
              <a:ext uri="{FF2B5EF4-FFF2-40B4-BE49-F238E27FC236}">
                <a16:creationId xmlns:a16="http://schemas.microsoft.com/office/drawing/2014/main" id="{FC9215B8-880A-4794-63E8-156962A428F3}"/>
              </a:ext>
            </a:extLst>
          </p:cNvPr>
          <p:cNvSpPr txBox="1"/>
          <p:nvPr/>
        </p:nvSpPr>
        <p:spPr>
          <a:xfrm>
            <a:off x="4711700" y="2946400"/>
            <a:ext cx="2768600" cy="1752600"/>
          </a:xfrm>
          <a:prstGeom prst="rect">
            <a:avLst/>
          </a:prstGeom>
          <a:noFill/>
        </p:spPr>
        <p:txBody>
          <a:bodyPr vert="horz" wrap="square" lIns="50800" tIns="25400" rIns="50800" bIns="25400" rtlCol="0" anchor="t">
            <a:noAutofit/>
          </a:bodyPr>
          <a:lstStyle/>
          <a:p>
            <a:r>
              <a:rPr lang="en-US" sz="1300">
                <a:solidFill>
                  <a:srgbClr val="344054"/>
                </a:solidFill>
                <a:latin typeface="Segoe UI" panose="020B0502040204020203" pitchFamily="34" charset="0"/>
              </a:rPr>
              <a:t>Inventory health analytics</a:t>
            </a:r>
          </a:p>
          <a:p>
            <a:r>
              <a:rPr lang="en-US" sz="1300">
                <a:solidFill>
                  <a:srgbClr val="344054"/>
                </a:solidFill>
                <a:latin typeface="Segoe UI" panose="020B0502040204020203" pitchFamily="34" charset="0"/>
              </a:rPr>
              <a:t>Daily stock and demand history</a:t>
            </a:r>
          </a:p>
          <a:p>
            <a:r>
              <a:rPr lang="en-US" sz="1300">
                <a:solidFill>
                  <a:srgbClr val="344054"/>
                </a:solidFill>
                <a:latin typeface="Segoe UI" panose="020B0502040204020203" pitchFamily="34" charset="0"/>
              </a:rPr>
              <a:t>Forecasts with uncertainty</a:t>
            </a:r>
          </a:p>
          <a:p>
            <a:r>
              <a:rPr lang="en-US" sz="1300">
                <a:solidFill>
                  <a:srgbClr val="344054"/>
                </a:solidFill>
                <a:latin typeface="Segoe UI" panose="020B0502040204020203" pitchFamily="34" charset="0"/>
              </a:rPr>
              <a:t>Seven intelligence views</a:t>
            </a:r>
          </a:p>
        </p:txBody>
      </p:sp>
      <p:sp>
        <p:nvSpPr>
          <p:cNvPr id="17" name="Rectangle: Rounded Corners 16">
            <a:extLst>
              <a:ext uri="{FF2B5EF4-FFF2-40B4-BE49-F238E27FC236}">
                <a16:creationId xmlns:a16="http://schemas.microsoft.com/office/drawing/2014/main" id="{F445E908-8C02-5A6D-B5BD-2DF40C7BE1E3}"/>
              </a:ext>
            </a:extLst>
          </p:cNvPr>
          <p:cNvSpPr/>
          <p:nvPr/>
        </p:nvSpPr>
        <p:spPr>
          <a:xfrm>
            <a:off x="8255000" y="1841500"/>
            <a:ext cx="3327400" cy="33020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4E40BEA4-7F02-50C2-118A-6EBF27DD3A29}"/>
              </a:ext>
            </a:extLst>
          </p:cNvPr>
          <p:cNvSpPr/>
          <p:nvPr/>
        </p:nvSpPr>
        <p:spPr>
          <a:xfrm>
            <a:off x="8255000" y="1841500"/>
            <a:ext cx="3327400" cy="114300"/>
          </a:xfrm>
          <a:prstGeom prst="roundRect">
            <a:avLst/>
          </a:prstGeom>
          <a:solidFill>
            <a:srgbClr val="0E9F6E"/>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23AE54C-3A82-7F04-57D6-2E94558710C8}"/>
              </a:ext>
            </a:extLst>
          </p:cNvPr>
          <p:cNvSpPr/>
          <p:nvPr/>
        </p:nvSpPr>
        <p:spPr>
          <a:xfrm>
            <a:off x="8509000" y="2184400"/>
            <a:ext cx="482600" cy="4826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A973970-2E61-CC05-3141-781C2B25D5F8}"/>
              </a:ext>
            </a:extLst>
          </p:cNvPr>
          <p:cNvSpPr txBox="1"/>
          <p:nvPr/>
        </p:nvSpPr>
        <p:spPr>
          <a:xfrm>
            <a:off x="85090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3</a:t>
            </a:r>
          </a:p>
        </p:txBody>
      </p:sp>
      <p:sp>
        <p:nvSpPr>
          <p:cNvPr id="21" name="TextBox 20">
            <a:extLst>
              <a:ext uri="{FF2B5EF4-FFF2-40B4-BE49-F238E27FC236}">
                <a16:creationId xmlns:a16="http://schemas.microsoft.com/office/drawing/2014/main" id="{13FA2698-A781-FE12-AE1A-2DEDD7E54A50}"/>
              </a:ext>
            </a:extLst>
          </p:cNvPr>
          <p:cNvSpPr txBox="1"/>
          <p:nvPr/>
        </p:nvSpPr>
        <p:spPr>
          <a:xfrm>
            <a:off x="9144000" y="2184400"/>
            <a:ext cx="2159000" cy="508000"/>
          </a:xfrm>
          <a:prstGeom prst="rect">
            <a:avLst/>
          </a:prstGeom>
          <a:noFill/>
        </p:spPr>
        <p:txBody>
          <a:bodyPr vert="horz" wrap="square" lIns="50800" tIns="25400" rIns="50800" bIns="25400" rtlCol="0" anchor="ctr">
            <a:noAutofit/>
          </a:bodyPr>
          <a:lstStyle/>
          <a:p>
            <a:r>
              <a:rPr lang="en-US" sz="1700" b="1">
                <a:solidFill>
                  <a:srgbClr val="0B1536"/>
                </a:solidFill>
                <a:latin typeface="Segoe UI" panose="020B0502040204020203" pitchFamily="34" charset="0"/>
              </a:rPr>
              <a:t>ACT</a:t>
            </a:r>
          </a:p>
        </p:txBody>
      </p:sp>
      <p:sp>
        <p:nvSpPr>
          <p:cNvPr id="22" name="TextBox 21">
            <a:extLst>
              <a:ext uri="{FF2B5EF4-FFF2-40B4-BE49-F238E27FC236}">
                <a16:creationId xmlns:a16="http://schemas.microsoft.com/office/drawing/2014/main" id="{EAB32B5C-E595-3893-DC6A-0310FB10A21C}"/>
              </a:ext>
            </a:extLst>
          </p:cNvPr>
          <p:cNvSpPr txBox="1"/>
          <p:nvPr/>
        </p:nvSpPr>
        <p:spPr>
          <a:xfrm>
            <a:off x="8534400" y="2946400"/>
            <a:ext cx="2768600" cy="1752600"/>
          </a:xfrm>
          <a:prstGeom prst="rect">
            <a:avLst/>
          </a:prstGeom>
          <a:noFill/>
        </p:spPr>
        <p:txBody>
          <a:bodyPr vert="horz" wrap="square" lIns="50800" tIns="25400" rIns="50800" bIns="25400" rtlCol="0" anchor="t">
            <a:noAutofit/>
          </a:bodyPr>
          <a:lstStyle/>
          <a:p>
            <a:r>
              <a:rPr lang="en-US" sz="1300">
                <a:solidFill>
                  <a:srgbClr val="344054"/>
                </a:solidFill>
                <a:latin typeface="Segoe UI" panose="020B0502040204020203" pitchFamily="34" charset="0"/>
              </a:rPr>
              <a:t>Purchase or reduce buying</a:t>
            </a:r>
          </a:p>
          <a:p>
            <a:r>
              <a:rPr lang="en-US" sz="1300">
                <a:solidFill>
                  <a:srgbClr val="344054"/>
                </a:solidFill>
                <a:latin typeface="Segoe UI" panose="020B0502040204020203" pitchFamily="34" charset="0"/>
              </a:rPr>
              <a:t>Do not reorder or clear</a:t>
            </a:r>
          </a:p>
          <a:p>
            <a:r>
              <a:rPr lang="en-US" sz="1300">
                <a:solidFill>
                  <a:srgbClr val="344054"/>
                </a:solidFill>
                <a:latin typeface="Segoe UI" panose="020B0502040204020203" pitchFamily="34" charset="0"/>
              </a:rPr>
              <a:t>Transfer between warehouses</a:t>
            </a:r>
          </a:p>
          <a:p>
            <a:r>
              <a:rPr lang="en-US" sz="1300">
                <a:solidFill>
                  <a:srgbClr val="344054"/>
                </a:solidFill>
                <a:latin typeface="Segoe UI" panose="020B0502040204020203" pitchFamily="34" charset="0"/>
              </a:rPr>
              <a:t>Accept, modify or reject</a:t>
            </a:r>
          </a:p>
        </p:txBody>
      </p:sp>
      <p:sp>
        <p:nvSpPr>
          <p:cNvPr id="23" name="Rectangle: Rounded Corners 22">
            <a:extLst>
              <a:ext uri="{FF2B5EF4-FFF2-40B4-BE49-F238E27FC236}">
                <a16:creationId xmlns:a16="http://schemas.microsoft.com/office/drawing/2014/main" id="{1314486F-2399-EC51-B5E9-E7EA274AA781}"/>
              </a:ext>
            </a:extLst>
          </p:cNvPr>
          <p:cNvSpPr/>
          <p:nvPr/>
        </p:nvSpPr>
        <p:spPr>
          <a:xfrm>
            <a:off x="609600" y="5410200"/>
            <a:ext cx="10972800" cy="787400"/>
          </a:xfrm>
          <a:prstGeom prst="roundRect">
            <a:avLst/>
          </a:prstGeom>
          <a:solidFill>
            <a:srgbClr val="FFF2D9"/>
          </a:solidFill>
          <a:ln w="12700">
            <a:solidFill>
              <a:srgbClr val="E58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E09114B-359A-1EE2-A878-90C13DD56E70}"/>
              </a:ext>
            </a:extLst>
          </p:cNvPr>
          <p:cNvSpPr txBox="1"/>
          <p:nvPr/>
        </p:nvSpPr>
        <p:spPr>
          <a:xfrm>
            <a:off x="850900" y="5562600"/>
            <a:ext cx="1752600" cy="355600"/>
          </a:xfrm>
          <a:prstGeom prst="rect">
            <a:avLst/>
          </a:prstGeom>
          <a:noFill/>
        </p:spPr>
        <p:txBody>
          <a:bodyPr vert="horz" wrap="square" lIns="50800" tIns="25400" rIns="50800" bIns="25400" rtlCol="0" anchor="ctr">
            <a:noAutofit/>
          </a:bodyPr>
          <a:lstStyle/>
          <a:p>
            <a:r>
              <a:rPr lang="en-US" sz="1200" b="1">
                <a:solidFill>
                  <a:srgbClr val="E58A00"/>
                </a:solidFill>
                <a:latin typeface="Segoe UI" panose="020B0502040204020203" pitchFamily="34" charset="0"/>
              </a:rPr>
              <a:t>Management truth:</a:t>
            </a:r>
          </a:p>
        </p:txBody>
      </p:sp>
      <p:sp>
        <p:nvSpPr>
          <p:cNvPr id="25" name="TextBox 24">
            <a:extLst>
              <a:ext uri="{FF2B5EF4-FFF2-40B4-BE49-F238E27FC236}">
                <a16:creationId xmlns:a16="http://schemas.microsoft.com/office/drawing/2014/main" id="{AD1120B7-1F7C-069C-06CE-0ED144778ED8}"/>
              </a:ext>
            </a:extLst>
          </p:cNvPr>
          <p:cNvSpPr txBox="1"/>
          <p:nvPr/>
        </p:nvSpPr>
        <p:spPr>
          <a:xfrm>
            <a:off x="2578100" y="5524500"/>
            <a:ext cx="8699500" cy="482600"/>
          </a:xfrm>
          <a:prstGeom prst="rect">
            <a:avLst/>
          </a:prstGeom>
          <a:noFill/>
        </p:spPr>
        <p:txBody>
          <a:bodyPr vert="horz" wrap="square" lIns="50800" tIns="25400" rIns="50800" bIns="25400" rtlCol="0" anchor="ctr">
            <a:noAutofit/>
          </a:bodyPr>
          <a:lstStyle/>
          <a:p>
            <a:r>
              <a:rPr lang="en-US" sz="1150" b="1">
                <a:solidFill>
                  <a:srgbClr val="0B1536"/>
                </a:solidFill>
                <a:latin typeface="Segoe UI" panose="020B0502040204020203" pitchFamily="34" charset="0"/>
              </a:rPr>
              <a:t>Functionally complete, but not production-ready until access roles, registration policy, hosting, backups, mail, workers, scheduler and monitoring are controlled.</a:t>
            </a:r>
          </a:p>
        </p:txBody>
      </p:sp>
      <p:sp>
        <p:nvSpPr>
          <p:cNvPr id="26" name="TextBox 25">
            <a:extLst>
              <a:ext uri="{FF2B5EF4-FFF2-40B4-BE49-F238E27FC236}">
                <a16:creationId xmlns:a16="http://schemas.microsoft.com/office/drawing/2014/main" id="{81A61D55-085F-2505-4F15-192AA740EDC8}"/>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27" name="TextBox 26">
            <a:extLst>
              <a:ext uri="{FF2B5EF4-FFF2-40B4-BE49-F238E27FC236}">
                <a16:creationId xmlns:a16="http://schemas.microsoft.com/office/drawing/2014/main" id="{FA60C142-328B-39A2-BBAA-3217ACB6B39F}"/>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2</a:t>
            </a:r>
          </a:p>
        </p:txBody>
      </p:sp>
    </p:spTree>
    <p:extLst>
      <p:ext uri="{BB962C8B-B14F-4D97-AF65-F5344CB8AC3E}">
        <p14:creationId xmlns:p14="http://schemas.microsoft.com/office/powerpoint/2010/main" val="290868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E14FAD-C4FC-CFEA-7F04-795A1A2FDE7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5429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DDD89B-4D53-E2EB-4D58-A442A73556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88265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FA81F2-AEE2-B8C2-E65C-1715F299B2BC}"/>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CAPABILITY MAP</a:t>
            </a:r>
          </a:p>
        </p:txBody>
      </p:sp>
      <p:sp>
        <p:nvSpPr>
          <p:cNvPr id="3" name="TextBox 2">
            <a:extLst>
              <a:ext uri="{FF2B5EF4-FFF2-40B4-BE49-F238E27FC236}">
                <a16:creationId xmlns:a16="http://schemas.microsoft.com/office/drawing/2014/main" id="{5B3F14AC-F2E0-2B6A-EBDD-FE7088FD41D1}"/>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What the application contains</a:t>
            </a:r>
          </a:p>
        </p:txBody>
      </p:sp>
      <p:sp>
        <p:nvSpPr>
          <p:cNvPr id="4" name="TextBox 3">
            <a:extLst>
              <a:ext uri="{FF2B5EF4-FFF2-40B4-BE49-F238E27FC236}">
                <a16:creationId xmlns:a16="http://schemas.microsoft.com/office/drawing/2014/main" id="{9F1F0899-9478-CDEA-65D1-B5FDC96383D4}"/>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Six connected work areas cover the full inventory lifecycle and the intelligence built on top of it.</a:t>
            </a:r>
          </a:p>
        </p:txBody>
      </p:sp>
      <p:sp>
        <p:nvSpPr>
          <p:cNvPr id="5" name="Rectangle: Rounded Corners 4">
            <a:extLst>
              <a:ext uri="{FF2B5EF4-FFF2-40B4-BE49-F238E27FC236}">
                <a16:creationId xmlns:a16="http://schemas.microsoft.com/office/drawing/2014/main" id="{61E331ED-88BD-B530-EB6B-89215E59D22D}"/>
              </a:ext>
            </a:extLst>
          </p:cNvPr>
          <p:cNvSpPr/>
          <p:nvPr/>
        </p:nvSpPr>
        <p:spPr>
          <a:xfrm>
            <a:off x="609600" y="17145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F3C21B7-1089-CA02-8133-F4004E16635B}"/>
              </a:ext>
            </a:extLst>
          </p:cNvPr>
          <p:cNvSpPr/>
          <p:nvPr/>
        </p:nvSpPr>
        <p:spPr>
          <a:xfrm>
            <a:off x="838200" y="1943100"/>
            <a:ext cx="533400" cy="5334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1CE2D06-F7F8-953C-A3CA-0E93C1542CF9}"/>
              </a:ext>
            </a:extLst>
          </p:cNvPr>
          <p:cNvSpPr txBox="1"/>
          <p:nvPr/>
        </p:nvSpPr>
        <p:spPr>
          <a:xfrm>
            <a:off x="838200" y="19431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CAT</a:t>
            </a:r>
          </a:p>
        </p:txBody>
      </p:sp>
      <p:sp>
        <p:nvSpPr>
          <p:cNvPr id="8" name="TextBox 7">
            <a:extLst>
              <a:ext uri="{FF2B5EF4-FFF2-40B4-BE49-F238E27FC236}">
                <a16:creationId xmlns:a16="http://schemas.microsoft.com/office/drawing/2014/main" id="{4516F9FD-D37D-410F-4ABF-E430C6C5C95D}"/>
              </a:ext>
            </a:extLst>
          </p:cNvPr>
          <p:cNvSpPr txBox="1"/>
          <p:nvPr/>
        </p:nvSpPr>
        <p:spPr>
          <a:xfrm>
            <a:off x="1524000" y="19050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Catalog</a:t>
            </a:r>
          </a:p>
        </p:txBody>
      </p:sp>
      <p:sp>
        <p:nvSpPr>
          <p:cNvPr id="9" name="TextBox 8">
            <a:extLst>
              <a:ext uri="{FF2B5EF4-FFF2-40B4-BE49-F238E27FC236}">
                <a16:creationId xmlns:a16="http://schemas.microsoft.com/office/drawing/2014/main" id="{2F857A6B-4CDB-AAFE-5DBB-E3BBC2880A0F}"/>
              </a:ext>
            </a:extLst>
          </p:cNvPr>
          <p:cNvSpPr txBox="1"/>
          <p:nvPr/>
        </p:nvSpPr>
        <p:spPr>
          <a:xfrm>
            <a:off x="863600" y="26289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Categories, brands, attributes</a:t>
            </a:r>
          </a:p>
          <a:p>
            <a:r>
              <a:rPr lang="en-US" sz="1050">
                <a:solidFill>
                  <a:srgbClr val="667085"/>
                </a:solidFill>
                <a:latin typeface="Segoe UI" panose="020B0502040204020203" pitchFamily="34" charset="0"/>
              </a:rPr>
              <a:t>Products, variants and SKUs</a:t>
            </a:r>
          </a:p>
        </p:txBody>
      </p:sp>
      <p:sp>
        <p:nvSpPr>
          <p:cNvPr id="10" name="Rectangle: Rounded Corners 9">
            <a:extLst>
              <a:ext uri="{FF2B5EF4-FFF2-40B4-BE49-F238E27FC236}">
                <a16:creationId xmlns:a16="http://schemas.microsoft.com/office/drawing/2014/main" id="{1C9F1E7A-E4C8-AB07-4DDC-FCABA67CAEA3}"/>
              </a:ext>
            </a:extLst>
          </p:cNvPr>
          <p:cNvSpPr/>
          <p:nvPr/>
        </p:nvSpPr>
        <p:spPr>
          <a:xfrm>
            <a:off x="4343400" y="17145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8940325-CA14-E4BF-8637-BD83C3853B99}"/>
              </a:ext>
            </a:extLst>
          </p:cNvPr>
          <p:cNvSpPr/>
          <p:nvPr/>
        </p:nvSpPr>
        <p:spPr>
          <a:xfrm>
            <a:off x="4572000" y="1943100"/>
            <a:ext cx="533400" cy="5334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D3C3698-41F9-B8B5-C8CF-81415C8E8CD2}"/>
              </a:ext>
            </a:extLst>
          </p:cNvPr>
          <p:cNvSpPr txBox="1"/>
          <p:nvPr/>
        </p:nvSpPr>
        <p:spPr>
          <a:xfrm>
            <a:off x="4572000" y="19431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INV</a:t>
            </a:r>
          </a:p>
        </p:txBody>
      </p:sp>
      <p:sp>
        <p:nvSpPr>
          <p:cNvPr id="13" name="TextBox 12">
            <a:extLst>
              <a:ext uri="{FF2B5EF4-FFF2-40B4-BE49-F238E27FC236}">
                <a16:creationId xmlns:a16="http://schemas.microsoft.com/office/drawing/2014/main" id="{66A9A55D-CCB4-2DB6-9139-C355775D371A}"/>
              </a:ext>
            </a:extLst>
          </p:cNvPr>
          <p:cNvSpPr txBox="1"/>
          <p:nvPr/>
        </p:nvSpPr>
        <p:spPr>
          <a:xfrm>
            <a:off x="5257800" y="19050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Inventory</a:t>
            </a:r>
          </a:p>
        </p:txBody>
      </p:sp>
      <p:sp>
        <p:nvSpPr>
          <p:cNvPr id="14" name="TextBox 13">
            <a:extLst>
              <a:ext uri="{FF2B5EF4-FFF2-40B4-BE49-F238E27FC236}">
                <a16:creationId xmlns:a16="http://schemas.microsoft.com/office/drawing/2014/main" id="{1B01A6D7-78D8-5918-2B3F-9C7AB62D5A81}"/>
              </a:ext>
            </a:extLst>
          </p:cNvPr>
          <p:cNvSpPr txBox="1"/>
          <p:nvPr/>
        </p:nvSpPr>
        <p:spPr>
          <a:xfrm>
            <a:off x="4597400" y="26289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Warehouses, balances, movements</a:t>
            </a:r>
          </a:p>
          <a:p>
            <a:r>
              <a:rPr lang="en-US" sz="1050">
                <a:solidFill>
                  <a:srgbClr val="667085"/>
                </a:solidFill>
                <a:latin typeface="Segoe UI" panose="020B0502040204020203" pitchFamily="34" charset="0"/>
              </a:rPr>
              <a:t>Adjustments, FIFO, transfers, snapshots</a:t>
            </a:r>
          </a:p>
        </p:txBody>
      </p:sp>
      <p:sp>
        <p:nvSpPr>
          <p:cNvPr id="15" name="Rectangle: Rounded Corners 14">
            <a:extLst>
              <a:ext uri="{FF2B5EF4-FFF2-40B4-BE49-F238E27FC236}">
                <a16:creationId xmlns:a16="http://schemas.microsoft.com/office/drawing/2014/main" id="{9D9DA12F-A092-F991-ED21-02EF80D1EB47}"/>
              </a:ext>
            </a:extLst>
          </p:cNvPr>
          <p:cNvSpPr/>
          <p:nvPr/>
        </p:nvSpPr>
        <p:spPr>
          <a:xfrm>
            <a:off x="8077200" y="17145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22FC34C-33FD-EEC5-FB7A-11FF3C76F2AD}"/>
              </a:ext>
            </a:extLst>
          </p:cNvPr>
          <p:cNvSpPr/>
          <p:nvPr/>
        </p:nvSpPr>
        <p:spPr>
          <a:xfrm>
            <a:off x="8305800" y="1943100"/>
            <a:ext cx="533400" cy="533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3083BFB-FB8A-0323-D355-6C191711B2CE}"/>
              </a:ext>
            </a:extLst>
          </p:cNvPr>
          <p:cNvSpPr txBox="1"/>
          <p:nvPr/>
        </p:nvSpPr>
        <p:spPr>
          <a:xfrm>
            <a:off x="8305800" y="19431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BUY</a:t>
            </a:r>
          </a:p>
        </p:txBody>
      </p:sp>
      <p:sp>
        <p:nvSpPr>
          <p:cNvPr id="18" name="TextBox 17">
            <a:extLst>
              <a:ext uri="{FF2B5EF4-FFF2-40B4-BE49-F238E27FC236}">
                <a16:creationId xmlns:a16="http://schemas.microsoft.com/office/drawing/2014/main" id="{58E11D72-4770-9E71-DA5A-06DE479F8B48}"/>
              </a:ext>
            </a:extLst>
          </p:cNvPr>
          <p:cNvSpPr txBox="1"/>
          <p:nvPr/>
        </p:nvSpPr>
        <p:spPr>
          <a:xfrm>
            <a:off x="8991600" y="19050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Purchasing</a:t>
            </a:r>
          </a:p>
        </p:txBody>
      </p:sp>
      <p:sp>
        <p:nvSpPr>
          <p:cNvPr id="19" name="TextBox 18">
            <a:extLst>
              <a:ext uri="{FF2B5EF4-FFF2-40B4-BE49-F238E27FC236}">
                <a16:creationId xmlns:a16="http://schemas.microsoft.com/office/drawing/2014/main" id="{94415657-19D8-01F8-2B8F-77F97467026D}"/>
              </a:ext>
            </a:extLst>
          </p:cNvPr>
          <p:cNvSpPr txBox="1"/>
          <p:nvPr/>
        </p:nvSpPr>
        <p:spPr>
          <a:xfrm>
            <a:off x="8331200" y="26289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Suppliers and SKU terms</a:t>
            </a:r>
          </a:p>
          <a:p>
            <a:r>
              <a:rPr lang="en-US" sz="1050">
                <a:solidFill>
                  <a:srgbClr val="667085"/>
                </a:solidFill>
                <a:latin typeface="Segoe UI" panose="020B0502040204020203" pitchFamily="34" charset="0"/>
              </a:rPr>
              <a:t>Purchase orders and goods receipts</a:t>
            </a:r>
          </a:p>
        </p:txBody>
      </p:sp>
      <p:sp>
        <p:nvSpPr>
          <p:cNvPr id="20" name="Rectangle: Rounded Corners 19">
            <a:extLst>
              <a:ext uri="{FF2B5EF4-FFF2-40B4-BE49-F238E27FC236}">
                <a16:creationId xmlns:a16="http://schemas.microsoft.com/office/drawing/2014/main" id="{6D6949A6-8C5B-7687-11DA-EAB7D9AC26A1}"/>
              </a:ext>
            </a:extLst>
          </p:cNvPr>
          <p:cNvSpPr/>
          <p:nvPr/>
        </p:nvSpPr>
        <p:spPr>
          <a:xfrm>
            <a:off x="609600" y="38608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68B4499-ED5C-B55F-D11D-20BC3D246BCA}"/>
              </a:ext>
            </a:extLst>
          </p:cNvPr>
          <p:cNvSpPr/>
          <p:nvPr/>
        </p:nvSpPr>
        <p:spPr>
          <a:xfrm>
            <a:off x="838200" y="4089400"/>
            <a:ext cx="533400" cy="5334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77E21B2-8437-9FC0-F4DA-B7F0C293FA2C}"/>
              </a:ext>
            </a:extLst>
          </p:cNvPr>
          <p:cNvSpPr txBox="1"/>
          <p:nvPr/>
        </p:nvSpPr>
        <p:spPr>
          <a:xfrm>
            <a:off x="838200" y="40894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SELL</a:t>
            </a:r>
          </a:p>
        </p:txBody>
      </p:sp>
      <p:sp>
        <p:nvSpPr>
          <p:cNvPr id="23" name="TextBox 22">
            <a:extLst>
              <a:ext uri="{FF2B5EF4-FFF2-40B4-BE49-F238E27FC236}">
                <a16:creationId xmlns:a16="http://schemas.microsoft.com/office/drawing/2014/main" id="{E0FAF625-52E6-E858-E486-163920533BC3}"/>
              </a:ext>
            </a:extLst>
          </p:cNvPr>
          <p:cNvSpPr txBox="1"/>
          <p:nvPr/>
        </p:nvSpPr>
        <p:spPr>
          <a:xfrm>
            <a:off x="1524000" y="40513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Sales</a:t>
            </a:r>
          </a:p>
        </p:txBody>
      </p:sp>
      <p:sp>
        <p:nvSpPr>
          <p:cNvPr id="24" name="TextBox 23">
            <a:extLst>
              <a:ext uri="{FF2B5EF4-FFF2-40B4-BE49-F238E27FC236}">
                <a16:creationId xmlns:a16="http://schemas.microsoft.com/office/drawing/2014/main" id="{1920F371-CFE2-5F1D-D210-E17C473E94D4}"/>
              </a:ext>
            </a:extLst>
          </p:cNvPr>
          <p:cNvSpPr txBox="1"/>
          <p:nvPr/>
        </p:nvSpPr>
        <p:spPr>
          <a:xfrm>
            <a:off x="863600" y="47752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Draft and confirmed sales orders</a:t>
            </a:r>
          </a:p>
          <a:p>
            <a:r>
              <a:rPr lang="en-US" sz="1050">
                <a:solidFill>
                  <a:srgbClr val="667085"/>
                </a:solidFill>
                <a:latin typeface="Segoe UI" panose="020B0502040204020203" pitchFamily="34" charset="0"/>
              </a:rPr>
              <a:t>Sellable and damaged returns</a:t>
            </a:r>
          </a:p>
        </p:txBody>
      </p:sp>
      <p:sp>
        <p:nvSpPr>
          <p:cNvPr id="25" name="Rectangle: Rounded Corners 24">
            <a:extLst>
              <a:ext uri="{FF2B5EF4-FFF2-40B4-BE49-F238E27FC236}">
                <a16:creationId xmlns:a16="http://schemas.microsoft.com/office/drawing/2014/main" id="{F7F86B4A-E6D2-6F73-1C1E-B2A102C3FDDB}"/>
              </a:ext>
            </a:extLst>
          </p:cNvPr>
          <p:cNvSpPr/>
          <p:nvPr/>
        </p:nvSpPr>
        <p:spPr>
          <a:xfrm>
            <a:off x="4343400" y="38608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8B91C7D-4D12-6311-9F79-E55BF75BB50C}"/>
              </a:ext>
            </a:extLst>
          </p:cNvPr>
          <p:cNvSpPr/>
          <p:nvPr/>
        </p:nvSpPr>
        <p:spPr>
          <a:xfrm>
            <a:off x="4572000" y="4089400"/>
            <a:ext cx="533400" cy="533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6891438-9D17-74C9-DA58-68654A93CA28}"/>
              </a:ext>
            </a:extLst>
          </p:cNvPr>
          <p:cNvSpPr txBox="1"/>
          <p:nvPr/>
        </p:nvSpPr>
        <p:spPr>
          <a:xfrm>
            <a:off x="4572000" y="40894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FCST</a:t>
            </a:r>
          </a:p>
        </p:txBody>
      </p:sp>
      <p:sp>
        <p:nvSpPr>
          <p:cNvPr id="28" name="TextBox 27">
            <a:extLst>
              <a:ext uri="{FF2B5EF4-FFF2-40B4-BE49-F238E27FC236}">
                <a16:creationId xmlns:a16="http://schemas.microsoft.com/office/drawing/2014/main" id="{26AF3CA2-444B-0AA9-B116-70A7631069E5}"/>
              </a:ext>
            </a:extLst>
          </p:cNvPr>
          <p:cNvSpPr txBox="1"/>
          <p:nvPr/>
        </p:nvSpPr>
        <p:spPr>
          <a:xfrm>
            <a:off x="5257800" y="40513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Forecasting &amp; decisions</a:t>
            </a:r>
          </a:p>
        </p:txBody>
      </p:sp>
      <p:sp>
        <p:nvSpPr>
          <p:cNvPr id="29" name="TextBox 28">
            <a:extLst>
              <a:ext uri="{FF2B5EF4-FFF2-40B4-BE49-F238E27FC236}">
                <a16:creationId xmlns:a16="http://schemas.microsoft.com/office/drawing/2014/main" id="{F7912D19-1516-3176-C693-D6F9665A743D}"/>
              </a:ext>
            </a:extLst>
          </p:cNvPr>
          <p:cNvSpPr txBox="1"/>
          <p:nvPr/>
        </p:nvSpPr>
        <p:spPr>
          <a:xfrm>
            <a:off x="4597400" y="47752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Runs, forecasts and accuracy</a:t>
            </a:r>
          </a:p>
          <a:p>
            <a:r>
              <a:rPr lang="en-US" sz="1050">
                <a:solidFill>
                  <a:srgbClr val="667085"/>
                </a:solidFill>
                <a:latin typeface="Segoe UI" panose="020B0502040204020203" pitchFamily="34" charset="0"/>
              </a:rPr>
              <a:t>Recommendations and central allocation</a:t>
            </a:r>
          </a:p>
        </p:txBody>
      </p:sp>
      <p:sp>
        <p:nvSpPr>
          <p:cNvPr id="30" name="Rectangle: Rounded Corners 29">
            <a:extLst>
              <a:ext uri="{FF2B5EF4-FFF2-40B4-BE49-F238E27FC236}">
                <a16:creationId xmlns:a16="http://schemas.microsoft.com/office/drawing/2014/main" id="{73B10B7E-73B7-8891-8F0B-19A86CCF45D2}"/>
              </a:ext>
            </a:extLst>
          </p:cNvPr>
          <p:cNvSpPr/>
          <p:nvPr/>
        </p:nvSpPr>
        <p:spPr>
          <a:xfrm>
            <a:off x="8077200" y="3860800"/>
            <a:ext cx="3505200" cy="17399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2EC6AF2-A70B-FBFB-BAC1-081F86D9562F}"/>
              </a:ext>
            </a:extLst>
          </p:cNvPr>
          <p:cNvSpPr/>
          <p:nvPr/>
        </p:nvSpPr>
        <p:spPr>
          <a:xfrm>
            <a:off x="8305800" y="4089400"/>
            <a:ext cx="533400" cy="5334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4FF75AE-8593-004F-FEA8-EE7AB0D072D1}"/>
              </a:ext>
            </a:extLst>
          </p:cNvPr>
          <p:cNvSpPr txBox="1"/>
          <p:nvPr/>
        </p:nvSpPr>
        <p:spPr>
          <a:xfrm>
            <a:off x="8305800" y="4089400"/>
            <a:ext cx="533400" cy="5334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AI</a:t>
            </a:r>
          </a:p>
        </p:txBody>
      </p:sp>
      <p:sp>
        <p:nvSpPr>
          <p:cNvPr id="33" name="TextBox 32">
            <a:extLst>
              <a:ext uri="{FF2B5EF4-FFF2-40B4-BE49-F238E27FC236}">
                <a16:creationId xmlns:a16="http://schemas.microsoft.com/office/drawing/2014/main" id="{6E37C6E0-EA00-E563-5DF4-2D547F64D33E}"/>
              </a:ext>
            </a:extLst>
          </p:cNvPr>
          <p:cNvSpPr txBox="1"/>
          <p:nvPr/>
        </p:nvSpPr>
        <p:spPr>
          <a:xfrm>
            <a:off x="8991600" y="4051300"/>
            <a:ext cx="2349500" cy="571500"/>
          </a:xfrm>
          <a:prstGeom prst="rect">
            <a:avLst/>
          </a:prstGeom>
          <a:noFill/>
        </p:spPr>
        <p:txBody>
          <a:bodyPr vert="horz" wrap="square" lIns="50800" tIns="25400" rIns="50800" bIns="25400" rtlCol="0" anchor="ctr">
            <a:noAutofit/>
          </a:bodyPr>
          <a:lstStyle/>
          <a:p>
            <a:r>
              <a:rPr lang="en-US" sz="1500" b="1">
                <a:solidFill>
                  <a:srgbClr val="0B1536"/>
                </a:solidFill>
                <a:latin typeface="Segoe UI" panose="020B0502040204020203" pitchFamily="34" charset="0"/>
              </a:rPr>
              <a:t>Advanced intelligence</a:t>
            </a:r>
          </a:p>
        </p:txBody>
      </p:sp>
      <p:sp>
        <p:nvSpPr>
          <p:cNvPr id="34" name="TextBox 33">
            <a:extLst>
              <a:ext uri="{FF2B5EF4-FFF2-40B4-BE49-F238E27FC236}">
                <a16:creationId xmlns:a16="http://schemas.microsoft.com/office/drawing/2014/main" id="{59094B7F-9AAA-CE39-525D-640A9386AC1C}"/>
              </a:ext>
            </a:extLst>
          </p:cNvPr>
          <p:cNvSpPr txBox="1"/>
          <p:nvPr/>
        </p:nvSpPr>
        <p:spPr>
          <a:xfrm>
            <a:off x="8331200" y="4775200"/>
            <a:ext cx="2997200" cy="635000"/>
          </a:xfrm>
          <a:prstGeom prst="rect">
            <a:avLst/>
          </a:prstGeom>
          <a:noFill/>
        </p:spPr>
        <p:txBody>
          <a:bodyPr vert="horz" wrap="square" lIns="50800" tIns="25400" rIns="50800" bIns="25400" rtlCol="0" anchor="t">
            <a:noAutofit/>
          </a:bodyPr>
          <a:lstStyle/>
          <a:p>
            <a:r>
              <a:rPr lang="en-US" sz="1050">
                <a:solidFill>
                  <a:srgbClr val="667085"/>
                </a:solidFill>
                <a:latin typeface="Segoe UI" panose="020B0502040204020203" pitchFamily="34" charset="0"/>
              </a:rPr>
              <a:t>Supplier, lost sales, anomalies</a:t>
            </a:r>
          </a:p>
          <a:p>
            <a:r>
              <a:rPr lang="en-US" sz="1050">
                <a:solidFill>
                  <a:srgbClr val="667085"/>
                </a:solidFill>
                <a:latin typeface="Segoe UI" panose="020B0502040204020203" pitchFamily="34" charset="0"/>
              </a:rPr>
              <a:t>Relationships, elasticity, promotions</a:t>
            </a:r>
          </a:p>
        </p:txBody>
      </p:sp>
      <p:sp>
        <p:nvSpPr>
          <p:cNvPr id="35" name="Rectangle: Rounded Corners 34">
            <a:extLst>
              <a:ext uri="{FF2B5EF4-FFF2-40B4-BE49-F238E27FC236}">
                <a16:creationId xmlns:a16="http://schemas.microsoft.com/office/drawing/2014/main" id="{97FD59E3-D805-8815-2EA0-BDE282E44539}"/>
              </a:ext>
            </a:extLst>
          </p:cNvPr>
          <p:cNvSpPr/>
          <p:nvPr/>
        </p:nvSpPr>
        <p:spPr>
          <a:xfrm>
            <a:off x="609600" y="5892800"/>
            <a:ext cx="5283200" cy="3810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6E75237-910A-F725-DBF9-0843B0516DA9}"/>
              </a:ext>
            </a:extLst>
          </p:cNvPr>
          <p:cNvSpPr txBox="1"/>
          <p:nvPr/>
        </p:nvSpPr>
        <p:spPr>
          <a:xfrm>
            <a:off x="609600" y="5892800"/>
            <a:ext cx="5283200" cy="381000"/>
          </a:xfrm>
          <a:prstGeom prst="rect">
            <a:avLst/>
          </a:prstGeom>
          <a:noFill/>
        </p:spPr>
        <p:txBody>
          <a:bodyPr vert="horz" wrap="square" lIns="50800" tIns="25400" rIns="50800" bIns="25400" rtlCol="0" anchor="ctr">
            <a:noAutofit/>
          </a:bodyPr>
          <a:lstStyle/>
          <a:p>
            <a:pPr algn="ctr"/>
            <a:r>
              <a:rPr lang="en-US" sz="1000" b="1">
                <a:solidFill>
                  <a:srgbClr val="0E9F6E"/>
                </a:solidFill>
                <a:latin typeface="Segoe UI" panose="020B0502040204020203" pitchFamily="34" charset="0"/>
              </a:rPr>
              <a:t>All business routes require authenticated + verified users</a:t>
            </a:r>
          </a:p>
        </p:txBody>
      </p:sp>
      <p:sp>
        <p:nvSpPr>
          <p:cNvPr id="37" name="Rectangle: Rounded Corners 36">
            <a:extLst>
              <a:ext uri="{FF2B5EF4-FFF2-40B4-BE49-F238E27FC236}">
                <a16:creationId xmlns:a16="http://schemas.microsoft.com/office/drawing/2014/main" id="{1C56B07B-18A4-660C-8FC7-0656D9CBF8D0}"/>
              </a:ext>
            </a:extLst>
          </p:cNvPr>
          <p:cNvSpPr/>
          <p:nvPr/>
        </p:nvSpPr>
        <p:spPr>
          <a:xfrm>
            <a:off x="6096000" y="5892800"/>
            <a:ext cx="4953000" cy="381000"/>
          </a:xfrm>
          <a:prstGeom prst="roundRect">
            <a:avLst/>
          </a:prstGeom>
          <a:solidFill>
            <a:srgbClr val="FDE7E7"/>
          </a:solidFill>
          <a:ln w="12700">
            <a:solidFill>
              <a:srgbClr val="FDE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CE8550B3-F623-9459-E2F1-009275DB929C}"/>
              </a:ext>
            </a:extLst>
          </p:cNvPr>
          <p:cNvSpPr txBox="1"/>
          <p:nvPr/>
        </p:nvSpPr>
        <p:spPr>
          <a:xfrm>
            <a:off x="6096000" y="5892800"/>
            <a:ext cx="4953000" cy="381000"/>
          </a:xfrm>
          <a:prstGeom prst="rect">
            <a:avLst/>
          </a:prstGeom>
          <a:noFill/>
        </p:spPr>
        <p:txBody>
          <a:bodyPr vert="horz" wrap="square" lIns="50800" tIns="25400" rIns="50800" bIns="25400" rtlCol="0" anchor="ctr">
            <a:noAutofit/>
          </a:bodyPr>
          <a:lstStyle/>
          <a:p>
            <a:pPr algn="ctr"/>
            <a:r>
              <a:rPr lang="en-US" sz="1000" b="1">
                <a:solidFill>
                  <a:srgbClr val="E5484D"/>
                </a:solidFill>
                <a:latin typeface="Segoe UI" panose="020B0502040204020203" pitchFamily="34" charset="0"/>
              </a:rPr>
              <a:t>Role-based restrictions are not yet implemented</a:t>
            </a:r>
          </a:p>
        </p:txBody>
      </p:sp>
      <p:sp>
        <p:nvSpPr>
          <p:cNvPr id="39" name="TextBox 38">
            <a:extLst>
              <a:ext uri="{FF2B5EF4-FFF2-40B4-BE49-F238E27FC236}">
                <a16:creationId xmlns:a16="http://schemas.microsoft.com/office/drawing/2014/main" id="{CDE5F6EE-D055-282C-F854-C3610366523F}"/>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0" name="TextBox 39">
            <a:extLst>
              <a:ext uri="{FF2B5EF4-FFF2-40B4-BE49-F238E27FC236}">
                <a16:creationId xmlns:a16="http://schemas.microsoft.com/office/drawing/2014/main" id="{92194CCA-6DAD-14E9-9943-7BB1AEDBF6E5}"/>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5</a:t>
            </a:r>
          </a:p>
        </p:txBody>
      </p:sp>
    </p:spTree>
    <p:extLst>
      <p:ext uri="{BB962C8B-B14F-4D97-AF65-F5344CB8AC3E}">
        <p14:creationId xmlns:p14="http://schemas.microsoft.com/office/powerpoint/2010/main" val="1089705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6F6A7E-61DE-B2CC-75F4-C34A786ACD19}"/>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REAL APPLICATION VIEW</a:t>
            </a:r>
          </a:p>
        </p:txBody>
      </p:sp>
      <p:sp>
        <p:nvSpPr>
          <p:cNvPr id="3" name="TextBox 2">
            <a:extLst>
              <a:ext uri="{FF2B5EF4-FFF2-40B4-BE49-F238E27FC236}">
                <a16:creationId xmlns:a16="http://schemas.microsoft.com/office/drawing/2014/main" id="{43F347A8-D023-2AED-178F-12345C8C9483}"/>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The decision workspace users see</a:t>
            </a:r>
          </a:p>
        </p:txBody>
      </p:sp>
      <p:sp>
        <p:nvSpPr>
          <p:cNvPr id="4" name="TextBox 3">
            <a:extLst>
              <a:ext uri="{FF2B5EF4-FFF2-40B4-BE49-F238E27FC236}">
                <a16:creationId xmlns:a16="http://schemas.microsoft.com/office/drawing/2014/main" id="{84DD3D84-0B9A-B4EB-8084-06C1124836F1}"/>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Recommendations combine forecast, stock, supplier terms and risk into an auditable human decision.</a:t>
            </a:r>
          </a:p>
        </p:txBody>
      </p:sp>
      <p:sp>
        <p:nvSpPr>
          <p:cNvPr id="5" name="Rectangle: Rounded Corners 4">
            <a:extLst>
              <a:ext uri="{FF2B5EF4-FFF2-40B4-BE49-F238E27FC236}">
                <a16:creationId xmlns:a16="http://schemas.microsoft.com/office/drawing/2014/main" id="{7B3126A0-763D-0FC9-38B4-61539114D187}"/>
              </a:ext>
            </a:extLst>
          </p:cNvPr>
          <p:cNvSpPr/>
          <p:nvPr/>
        </p:nvSpPr>
        <p:spPr>
          <a:xfrm>
            <a:off x="685800" y="1600200"/>
            <a:ext cx="10820400" cy="47498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3655F81-D8B4-6D7C-C370-7BD411A93E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 y="1739900"/>
            <a:ext cx="10541000" cy="4445000"/>
          </a:xfrm>
          <a:prstGeom prst="rect">
            <a:avLst/>
          </a:prstGeom>
        </p:spPr>
      </p:pic>
      <p:sp>
        <p:nvSpPr>
          <p:cNvPr id="8" name="Rectangle 7">
            <a:extLst>
              <a:ext uri="{FF2B5EF4-FFF2-40B4-BE49-F238E27FC236}">
                <a16:creationId xmlns:a16="http://schemas.microsoft.com/office/drawing/2014/main" id="{DDAFF5E6-2E86-91B6-041C-D2BB5E20464C}"/>
              </a:ext>
            </a:extLst>
          </p:cNvPr>
          <p:cNvSpPr/>
          <p:nvPr/>
        </p:nvSpPr>
        <p:spPr>
          <a:xfrm>
            <a:off x="825500" y="1739900"/>
            <a:ext cx="1498600" cy="3048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38E36-E351-AD19-725C-556E9C7C2D35}"/>
              </a:ext>
            </a:extLst>
          </p:cNvPr>
          <p:cNvSpPr txBox="1"/>
          <p:nvPr/>
        </p:nvSpPr>
        <p:spPr>
          <a:xfrm>
            <a:off x="914400" y="1778000"/>
            <a:ext cx="1397000" cy="203200"/>
          </a:xfrm>
          <a:prstGeom prst="rect">
            <a:avLst/>
          </a:prstGeom>
          <a:noFill/>
        </p:spPr>
        <p:txBody>
          <a:bodyPr vert="horz" wrap="square" lIns="50800" tIns="25400" rIns="50800" bIns="25400" rtlCol="0" anchor="ctr">
            <a:noAutofit/>
          </a:bodyPr>
          <a:lstStyle/>
          <a:p>
            <a:r>
              <a:rPr lang="en-US" sz="750" b="1">
                <a:solidFill>
                  <a:srgbClr val="0B1536"/>
                </a:solidFill>
                <a:latin typeface="Segoe UI" panose="020B0502040204020203" pitchFamily="34" charset="0"/>
              </a:rPr>
              <a:t>Inventory Forecasting</a:t>
            </a:r>
          </a:p>
        </p:txBody>
      </p:sp>
      <p:sp>
        <p:nvSpPr>
          <p:cNvPr id="10" name="Rectangle: Rounded Corners 9">
            <a:extLst>
              <a:ext uri="{FF2B5EF4-FFF2-40B4-BE49-F238E27FC236}">
                <a16:creationId xmlns:a16="http://schemas.microsoft.com/office/drawing/2014/main" id="{23224C1A-CBA1-AAA3-87AB-3AE2027B27E4}"/>
              </a:ext>
            </a:extLst>
          </p:cNvPr>
          <p:cNvSpPr/>
          <p:nvPr/>
        </p:nvSpPr>
        <p:spPr>
          <a:xfrm>
            <a:off x="7467600" y="5956300"/>
            <a:ext cx="3746500" cy="304800"/>
          </a:xfrm>
          <a:prstGeom prst="roundRect">
            <a:avLst/>
          </a:prstGeom>
          <a:solidFill>
            <a:srgbClr val="0B1536"/>
          </a:solidFill>
          <a:ln w="12700">
            <a:solidFill>
              <a:srgbClr val="0B15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34E067-865B-6519-0B21-4E19C75D267E}"/>
              </a:ext>
            </a:extLst>
          </p:cNvPr>
          <p:cNvSpPr txBox="1"/>
          <p:nvPr/>
        </p:nvSpPr>
        <p:spPr>
          <a:xfrm>
            <a:off x="7467600" y="5956300"/>
            <a:ext cx="3746500" cy="304800"/>
          </a:xfrm>
          <a:prstGeom prst="rect">
            <a:avLst/>
          </a:prstGeom>
          <a:noFill/>
        </p:spPr>
        <p:txBody>
          <a:bodyPr vert="horz" wrap="square" lIns="50800" tIns="25400" rIns="50800" bIns="25400" rtlCol="0" anchor="ctr">
            <a:noAutofit/>
          </a:bodyPr>
          <a:lstStyle/>
          <a:p>
            <a:pPr algn="ctr"/>
            <a:r>
              <a:rPr lang="en-US" sz="800" b="1">
                <a:solidFill>
                  <a:srgbClr val="FFFFFF"/>
                </a:solidFill>
                <a:latin typeface="Segoe UI" panose="020B0502040204020203" pitchFamily="34" charset="0"/>
              </a:rPr>
              <a:t>Seeded local data - illustrative, not production performance</a:t>
            </a:r>
          </a:p>
        </p:txBody>
      </p:sp>
      <p:sp>
        <p:nvSpPr>
          <p:cNvPr id="12" name="TextBox 11">
            <a:extLst>
              <a:ext uri="{FF2B5EF4-FFF2-40B4-BE49-F238E27FC236}">
                <a16:creationId xmlns:a16="http://schemas.microsoft.com/office/drawing/2014/main" id="{FC44EA24-A64B-9398-6220-1268E1C059F5}"/>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13" name="TextBox 12">
            <a:extLst>
              <a:ext uri="{FF2B5EF4-FFF2-40B4-BE49-F238E27FC236}">
                <a16:creationId xmlns:a16="http://schemas.microsoft.com/office/drawing/2014/main" id="{58794A54-76C7-9C89-4859-E2A0FE84BD96}"/>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6</a:t>
            </a:r>
          </a:p>
        </p:txBody>
      </p:sp>
    </p:spTree>
    <p:extLst>
      <p:ext uri="{BB962C8B-B14F-4D97-AF65-F5344CB8AC3E}">
        <p14:creationId xmlns:p14="http://schemas.microsoft.com/office/powerpoint/2010/main" val="1188060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75EF2-6024-0255-3A6B-2320D8947FFD}"/>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REAL APPLICATION VIEWS</a:t>
            </a:r>
          </a:p>
        </p:txBody>
      </p:sp>
      <p:sp>
        <p:nvSpPr>
          <p:cNvPr id="3" name="TextBox 2">
            <a:extLst>
              <a:ext uri="{FF2B5EF4-FFF2-40B4-BE49-F238E27FC236}">
                <a16:creationId xmlns:a16="http://schemas.microsoft.com/office/drawing/2014/main" id="{78D37C2F-F506-C2AD-AA2B-42A62CA2DF44}"/>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Intelligence remains traceable to operational data</a:t>
            </a:r>
          </a:p>
        </p:txBody>
      </p:sp>
      <p:sp>
        <p:nvSpPr>
          <p:cNvPr id="4" name="TextBox 3">
            <a:extLst>
              <a:ext uri="{FF2B5EF4-FFF2-40B4-BE49-F238E27FC236}">
                <a16:creationId xmlns:a16="http://schemas.microsoft.com/office/drawing/2014/main" id="{43387034-7624-E441-5E9C-933FBF807905}"/>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Supplier scorecards and promotion impact are examples of the seven intelligence views delivered.</a:t>
            </a:r>
          </a:p>
        </p:txBody>
      </p:sp>
      <p:sp>
        <p:nvSpPr>
          <p:cNvPr id="5" name="Rectangle: Rounded Corners 4">
            <a:extLst>
              <a:ext uri="{FF2B5EF4-FFF2-40B4-BE49-F238E27FC236}">
                <a16:creationId xmlns:a16="http://schemas.microsoft.com/office/drawing/2014/main" id="{BC64AA2D-2F65-4EDE-EDD3-E7854D080D5E}"/>
              </a:ext>
            </a:extLst>
          </p:cNvPr>
          <p:cNvSpPr/>
          <p:nvPr/>
        </p:nvSpPr>
        <p:spPr>
          <a:xfrm>
            <a:off x="609600" y="1778000"/>
            <a:ext cx="5207000" cy="3759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BFD745A-6F91-70F5-ABE5-FE38E22774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36600" y="1905000"/>
            <a:ext cx="4953000" cy="2794000"/>
          </a:xfrm>
          <a:prstGeom prst="rect">
            <a:avLst/>
          </a:prstGeom>
        </p:spPr>
      </p:pic>
      <p:sp>
        <p:nvSpPr>
          <p:cNvPr id="8" name="Rectangle 7">
            <a:extLst>
              <a:ext uri="{FF2B5EF4-FFF2-40B4-BE49-F238E27FC236}">
                <a16:creationId xmlns:a16="http://schemas.microsoft.com/office/drawing/2014/main" id="{411898CC-11C0-260F-9C63-64D244EB07AD}"/>
              </a:ext>
            </a:extLst>
          </p:cNvPr>
          <p:cNvSpPr/>
          <p:nvPr/>
        </p:nvSpPr>
        <p:spPr>
          <a:xfrm>
            <a:off x="736600" y="1905000"/>
            <a:ext cx="723900" cy="1524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44272ED-F322-D9FA-227C-095C6E32B200}"/>
              </a:ext>
            </a:extLst>
          </p:cNvPr>
          <p:cNvSpPr txBox="1"/>
          <p:nvPr/>
        </p:nvSpPr>
        <p:spPr>
          <a:xfrm>
            <a:off x="838200" y="4851400"/>
            <a:ext cx="4699000" cy="317500"/>
          </a:xfrm>
          <a:prstGeom prst="rect">
            <a:avLst/>
          </a:prstGeom>
          <a:noFill/>
        </p:spPr>
        <p:txBody>
          <a:bodyPr vert="horz" wrap="square" lIns="50800" tIns="25400" rIns="50800" bIns="25400" rtlCol="0" anchor="t">
            <a:noAutofit/>
          </a:bodyPr>
          <a:lstStyle/>
          <a:p>
            <a:r>
              <a:rPr lang="en-US" sz="1300" b="1">
                <a:solidFill>
                  <a:srgbClr val="0B1536"/>
                </a:solidFill>
                <a:latin typeface="Segoe UI" panose="020B0502040204020203" pitchFamily="34" charset="0"/>
              </a:rPr>
              <a:t>Supplier performance</a:t>
            </a:r>
          </a:p>
        </p:txBody>
      </p:sp>
      <p:sp>
        <p:nvSpPr>
          <p:cNvPr id="10" name="TextBox 9">
            <a:extLst>
              <a:ext uri="{FF2B5EF4-FFF2-40B4-BE49-F238E27FC236}">
                <a16:creationId xmlns:a16="http://schemas.microsoft.com/office/drawing/2014/main" id="{6F8B4721-1E76-A384-1CB1-68A73FFBE0EF}"/>
              </a:ext>
            </a:extLst>
          </p:cNvPr>
          <p:cNvSpPr txBox="1"/>
          <p:nvPr/>
        </p:nvSpPr>
        <p:spPr>
          <a:xfrm>
            <a:off x="838200" y="5168900"/>
            <a:ext cx="4699000" cy="381000"/>
          </a:xfrm>
          <a:prstGeom prst="rect">
            <a:avLst/>
          </a:prstGeom>
          <a:noFill/>
        </p:spPr>
        <p:txBody>
          <a:bodyPr vert="horz" wrap="square" lIns="50800" tIns="25400" rIns="50800" bIns="25400" rtlCol="0" anchor="t">
            <a:noAutofit/>
          </a:bodyPr>
          <a:lstStyle/>
          <a:p>
            <a:r>
              <a:rPr lang="en-US" sz="950">
                <a:solidFill>
                  <a:srgbClr val="667085"/>
                </a:solidFill>
                <a:latin typeface="Segoe UI" panose="020B0502040204020203" pitchFamily="34" charset="0"/>
              </a:rPr>
              <a:t>Actual lead time, on-time rate and fill rate from PO/receipt dates</a:t>
            </a:r>
          </a:p>
        </p:txBody>
      </p:sp>
      <p:sp>
        <p:nvSpPr>
          <p:cNvPr id="11" name="Rectangle: Rounded Corners 10">
            <a:extLst>
              <a:ext uri="{FF2B5EF4-FFF2-40B4-BE49-F238E27FC236}">
                <a16:creationId xmlns:a16="http://schemas.microsoft.com/office/drawing/2014/main" id="{246ABDBF-19AD-7D0C-57DF-E19BB69057ED}"/>
              </a:ext>
            </a:extLst>
          </p:cNvPr>
          <p:cNvSpPr/>
          <p:nvPr/>
        </p:nvSpPr>
        <p:spPr>
          <a:xfrm>
            <a:off x="6375400" y="1778000"/>
            <a:ext cx="5207000" cy="3759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A2CE72B-7FD9-FBF6-65F1-ECD7A4C0949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502400" y="1905000"/>
            <a:ext cx="4953000" cy="2794000"/>
          </a:xfrm>
          <a:prstGeom prst="rect">
            <a:avLst/>
          </a:prstGeom>
        </p:spPr>
      </p:pic>
      <p:sp>
        <p:nvSpPr>
          <p:cNvPr id="14" name="Rectangle 13">
            <a:extLst>
              <a:ext uri="{FF2B5EF4-FFF2-40B4-BE49-F238E27FC236}">
                <a16:creationId xmlns:a16="http://schemas.microsoft.com/office/drawing/2014/main" id="{6829A729-4769-17B8-E28B-C583FEEAD043}"/>
              </a:ext>
            </a:extLst>
          </p:cNvPr>
          <p:cNvSpPr/>
          <p:nvPr/>
        </p:nvSpPr>
        <p:spPr>
          <a:xfrm>
            <a:off x="6502400" y="1905000"/>
            <a:ext cx="723900" cy="152400"/>
          </a:xfrm>
          <a:prstGeom prst="rect">
            <a:avLst/>
          </a:prstGeom>
          <a:solidFill>
            <a:srgbClr val="FFFFFF"/>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4C28A70-5AD3-56E2-6DD8-79017F717495}"/>
              </a:ext>
            </a:extLst>
          </p:cNvPr>
          <p:cNvSpPr txBox="1"/>
          <p:nvPr/>
        </p:nvSpPr>
        <p:spPr>
          <a:xfrm>
            <a:off x="6604000" y="4851400"/>
            <a:ext cx="4699000" cy="317500"/>
          </a:xfrm>
          <a:prstGeom prst="rect">
            <a:avLst/>
          </a:prstGeom>
          <a:noFill/>
        </p:spPr>
        <p:txBody>
          <a:bodyPr vert="horz" wrap="square" lIns="50800" tIns="25400" rIns="50800" bIns="25400" rtlCol="0" anchor="t">
            <a:noAutofit/>
          </a:bodyPr>
          <a:lstStyle/>
          <a:p>
            <a:r>
              <a:rPr lang="en-US" sz="1300" b="1">
                <a:solidFill>
                  <a:srgbClr val="0B1536"/>
                </a:solidFill>
                <a:latin typeface="Segoe UI" panose="020B0502040204020203" pitchFamily="34" charset="0"/>
              </a:rPr>
              <a:t>Promotion impact</a:t>
            </a:r>
          </a:p>
        </p:txBody>
      </p:sp>
      <p:sp>
        <p:nvSpPr>
          <p:cNvPr id="16" name="TextBox 15">
            <a:extLst>
              <a:ext uri="{FF2B5EF4-FFF2-40B4-BE49-F238E27FC236}">
                <a16:creationId xmlns:a16="http://schemas.microsoft.com/office/drawing/2014/main" id="{C2856D6D-FB04-8A68-E903-D82ED8513621}"/>
              </a:ext>
            </a:extLst>
          </p:cNvPr>
          <p:cNvSpPr txBox="1"/>
          <p:nvPr/>
        </p:nvSpPr>
        <p:spPr>
          <a:xfrm>
            <a:off x="6604000" y="5168900"/>
            <a:ext cx="4699000" cy="381000"/>
          </a:xfrm>
          <a:prstGeom prst="rect">
            <a:avLst/>
          </a:prstGeom>
          <a:noFill/>
        </p:spPr>
        <p:txBody>
          <a:bodyPr vert="horz" wrap="square" lIns="50800" tIns="25400" rIns="50800" bIns="25400" rtlCol="0" anchor="t">
            <a:noAutofit/>
          </a:bodyPr>
          <a:lstStyle/>
          <a:p>
            <a:r>
              <a:rPr lang="en-US" sz="950">
                <a:solidFill>
                  <a:srgbClr val="667085"/>
                </a:solidFill>
                <a:latin typeface="Segoe UI" panose="020B0502040204020203" pitchFamily="34" charset="0"/>
              </a:rPr>
              <a:t>Before-vs-during demand change per promoted SKU</a:t>
            </a:r>
          </a:p>
        </p:txBody>
      </p:sp>
      <p:sp>
        <p:nvSpPr>
          <p:cNvPr id="17" name="Rectangle: Rounded Corners 16">
            <a:extLst>
              <a:ext uri="{FF2B5EF4-FFF2-40B4-BE49-F238E27FC236}">
                <a16:creationId xmlns:a16="http://schemas.microsoft.com/office/drawing/2014/main" id="{C8AEDC9F-F131-962C-259E-C3EF9B72DA79}"/>
              </a:ext>
            </a:extLst>
          </p:cNvPr>
          <p:cNvSpPr/>
          <p:nvPr/>
        </p:nvSpPr>
        <p:spPr>
          <a:xfrm>
            <a:off x="4140200" y="5880100"/>
            <a:ext cx="3911600" cy="393700"/>
          </a:xfrm>
          <a:prstGeom prst="roundRect">
            <a:avLst/>
          </a:prstGeom>
          <a:solidFill>
            <a:srgbClr val="FFF2D9"/>
          </a:solidFill>
          <a:ln w="12700">
            <a:solidFill>
              <a:srgbClr val="FFF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F388B9A-24C6-3B1B-1C03-4580F7BD22A9}"/>
              </a:ext>
            </a:extLst>
          </p:cNvPr>
          <p:cNvSpPr txBox="1"/>
          <p:nvPr/>
        </p:nvSpPr>
        <p:spPr>
          <a:xfrm>
            <a:off x="4140200" y="5880100"/>
            <a:ext cx="3911600" cy="393700"/>
          </a:xfrm>
          <a:prstGeom prst="rect">
            <a:avLst/>
          </a:prstGeom>
          <a:noFill/>
        </p:spPr>
        <p:txBody>
          <a:bodyPr vert="horz" wrap="square" lIns="50800" tIns="25400" rIns="50800" bIns="25400" rtlCol="0" anchor="ctr">
            <a:noAutofit/>
          </a:bodyPr>
          <a:lstStyle/>
          <a:p>
            <a:pPr algn="ctr"/>
            <a:r>
              <a:rPr lang="en-US" sz="1000" b="1">
                <a:solidFill>
                  <a:srgbClr val="E58A00"/>
                </a:solidFill>
                <a:latin typeface="Segoe UI" panose="020B0502040204020203" pitchFamily="34" charset="0"/>
              </a:rPr>
              <a:t>Evidence-led signals, not autonomous actions</a:t>
            </a:r>
          </a:p>
        </p:txBody>
      </p:sp>
      <p:sp>
        <p:nvSpPr>
          <p:cNvPr id="19" name="TextBox 18">
            <a:extLst>
              <a:ext uri="{FF2B5EF4-FFF2-40B4-BE49-F238E27FC236}">
                <a16:creationId xmlns:a16="http://schemas.microsoft.com/office/drawing/2014/main" id="{5084856E-288E-7C6F-723C-D9782E4170A5}"/>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20" name="TextBox 19">
            <a:extLst>
              <a:ext uri="{FF2B5EF4-FFF2-40B4-BE49-F238E27FC236}">
                <a16:creationId xmlns:a16="http://schemas.microsoft.com/office/drawing/2014/main" id="{62E0DA99-0C6D-6C14-24E2-0569BA6E5740}"/>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7</a:t>
            </a:r>
          </a:p>
        </p:txBody>
      </p:sp>
    </p:spTree>
    <p:extLst>
      <p:ext uri="{BB962C8B-B14F-4D97-AF65-F5344CB8AC3E}">
        <p14:creationId xmlns:p14="http://schemas.microsoft.com/office/powerpoint/2010/main" val="304696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01EC9E-D17E-011A-0B3D-A8DA19BF4659}"/>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PROCESS INFOGRAPHIC</a:t>
            </a:r>
          </a:p>
        </p:txBody>
      </p:sp>
      <p:sp>
        <p:nvSpPr>
          <p:cNvPr id="3" name="TextBox 2">
            <a:extLst>
              <a:ext uri="{FF2B5EF4-FFF2-40B4-BE49-F238E27FC236}">
                <a16:creationId xmlns:a16="http://schemas.microsoft.com/office/drawing/2014/main" id="{4B8D1D6A-A357-B965-2978-E683AE33B43C}"/>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Every stock change follows one controlled path</a:t>
            </a:r>
          </a:p>
        </p:txBody>
      </p:sp>
      <p:sp>
        <p:nvSpPr>
          <p:cNvPr id="4" name="TextBox 3">
            <a:extLst>
              <a:ext uri="{FF2B5EF4-FFF2-40B4-BE49-F238E27FC236}">
                <a16:creationId xmlns:a16="http://schemas.microsoft.com/office/drawing/2014/main" id="{443BB6E8-86D1-D723-D125-C877EFC760F9}"/>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Balances are derived from an append-only movement ledger; users never edit stock totals directly.</a:t>
            </a:r>
          </a:p>
        </p:txBody>
      </p:sp>
      <p:sp>
        <p:nvSpPr>
          <p:cNvPr id="5" name="Rectangle: Rounded Corners 4">
            <a:extLst>
              <a:ext uri="{FF2B5EF4-FFF2-40B4-BE49-F238E27FC236}">
                <a16:creationId xmlns:a16="http://schemas.microsoft.com/office/drawing/2014/main" id="{8056F1DC-C22D-46CD-D66E-82B03C60D077}"/>
              </a:ext>
            </a:extLst>
          </p:cNvPr>
          <p:cNvSpPr/>
          <p:nvPr/>
        </p:nvSpPr>
        <p:spPr>
          <a:xfrm>
            <a:off x="609600" y="1816100"/>
            <a:ext cx="2603500" cy="5588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FCD861-4E45-E2D0-F293-DE5C8FDD9673}"/>
              </a:ext>
            </a:extLst>
          </p:cNvPr>
          <p:cNvSpPr txBox="1"/>
          <p:nvPr/>
        </p:nvSpPr>
        <p:spPr>
          <a:xfrm>
            <a:off x="774700" y="1879600"/>
            <a:ext cx="2260600" cy="4318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Opening / adjustment</a:t>
            </a:r>
          </a:p>
        </p:txBody>
      </p:sp>
      <p:cxnSp>
        <p:nvCxnSpPr>
          <p:cNvPr id="7" name="Straight Connector 6">
            <a:extLst>
              <a:ext uri="{FF2B5EF4-FFF2-40B4-BE49-F238E27FC236}">
                <a16:creationId xmlns:a16="http://schemas.microsoft.com/office/drawing/2014/main" id="{2EAE556E-D8FC-47D6-5F47-212F3B78AA83}"/>
              </a:ext>
            </a:extLst>
          </p:cNvPr>
          <p:cNvCxnSpPr/>
          <p:nvPr/>
        </p:nvCxnSpPr>
        <p:spPr>
          <a:xfrm>
            <a:off x="3213100" y="2095500"/>
            <a:ext cx="1028700" cy="1371600"/>
          </a:xfrm>
          <a:prstGeom prst="line">
            <a:avLst/>
          </a:prstGeom>
          <a:ln w="2794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D433E849-1CA4-E2D1-A4E0-540C1CC166BB}"/>
              </a:ext>
            </a:extLst>
          </p:cNvPr>
          <p:cNvSpPr/>
          <p:nvPr/>
        </p:nvSpPr>
        <p:spPr>
          <a:xfrm>
            <a:off x="609600" y="2603500"/>
            <a:ext cx="2603500" cy="5588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266AE8B-FFDE-7975-28C9-E40CA34A32BC}"/>
              </a:ext>
            </a:extLst>
          </p:cNvPr>
          <p:cNvSpPr txBox="1"/>
          <p:nvPr/>
        </p:nvSpPr>
        <p:spPr>
          <a:xfrm>
            <a:off x="774700" y="2667000"/>
            <a:ext cx="2260600" cy="4318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Goods receipt</a:t>
            </a:r>
          </a:p>
        </p:txBody>
      </p:sp>
      <p:cxnSp>
        <p:nvCxnSpPr>
          <p:cNvPr id="10" name="Straight Connector 9">
            <a:extLst>
              <a:ext uri="{FF2B5EF4-FFF2-40B4-BE49-F238E27FC236}">
                <a16:creationId xmlns:a16="http://schemas.microsoft.com/office/drawing/2014/main" id="{8D4E980F-15BF-FF22-A474-8C0CB97366FC}"/>
              </a:ext>
            </a:extLst>
          </p:cNvPr>
          <p:cNvCxnSpPr/>
          <p:nvPr/>
        </p:nvCxnSpPr>
        <p:spPr>
          <a:xfrm>
            <a:off x="3213100" y="2882900"/>
            <a:ext cx="1028700" cy="584200"/>
          </a:xfrm>
          <a:prstGeom prst="line">
            <a:avLst/>
          </a:prstGeom>
          <a:ln w="2794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310841E0-A574-9479-C7E8-468FB6BECAC8}"/>
              </a:ext>
            </a:extLst>
          </p:cNvPr>
          <p:cNvSpPr/>
          <p:nvPr/>
        </p:nvSpPr>
        <p:spPr>
          <a:xfrm>
            <a:off x="609600" y="3390900"/>
            <a:ext cx="2603500" cy="5588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0EDD16C-B875-FC62-F9A8-446ED227C15C}"/>
              </a:ext>
            </a:extLst>
          </p:cNvPr>
          <p:cNvSpPr txBox="1"/>
          <p:nvPr/>
        </p:nvSpPr>
        <p:spPr>
          <a:xfrm>
            <a:off x="774700" y="3454400"/>
            <a:ext cx="2260600" cy="4318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Transfer dispatch / receipt</a:t>
            </a:r>
          </a:p>
        </p:txBody>
      </p:sp>
      <p:cxnSp>
        <p:nvCxnSpPr>
          <p:cNvPr id="13" name="Straight Connector 12">
            <a:extLst>
              <a:ext uri="{FF2B5EF4-FFF2-40B4-BE49-F238E27FC236}">
                <a16:creationId xmlns:a16="http://schemas.microsoft.com/office/drawing/2014/main" id="{3C20FA12-2AD9-FC57-4C54-F891DB571721}"/>
              </a:ext>
            </a:extLst>
          </p:cNvPr>
          <p:cNvCxnSpPr/>
          <p:nvPr/>
        </p:nvCxnSpPr>
        <p:spPr>
          <a:xfrm flipV="1">
            <a:off x="3213100" y="3467100"/>
            <a:ext cx="1028700" cy="203200"/>
          </a:xfrm>
          <a:prstGeom prst="line">
            <a:avLst/>
          </a:prstGeom>
          <a:ln w="2794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E35EF27D-69DC-6604-D0A6-2542F0AB41B5}"/>
              </a:ext>
            </a:extLst>
          </p:cNvPr>
          <p:cNvSpPr/>
          <p:nvPr/>
        </p:nvSpPr>
        <p:spPr>
          <a:xfrm>
            <a:off x="609600" y="4178300"/>
            <a:ext cx="2603500" cy="558800"/>
          </a:xfrm>
          <a:prstGeom prst="roundRect">
            <a:avLst/>
          </a:prstGeom>
          <a:solidFill>
            <a:srgbClr val="FFFFF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B2FE699-5649-5C7B-E806-B7D00201C663}"/>
              </a:ext>
            </a:extLst>
          </p:cNvPr>
          <p:cNvSpPr txBox="1"/>
          <p:nvPr/>
        </p:nvSpPr>
        <p:spPr>
          <a:xfrm>
            <a:off x="774700" y="4241800"/>
            <a:ext cx="2260600" cy="4318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Confirmed sale / return</a:t>
            </a:r>
          </a:p>
        </p:txBody>
      </p:sp>
      <p:cxnSp>
        <p:nvCxnSpPr>
          <p:cNvPr id="16" name="Straight Connector 15">
            <a:extLst>
              <a:ext uri="{FF2B5EF4-FFF2-40B4-BE49-F238E27FC236}">
                <a16:creationId xmlns:a16="http://schemas.microsoft.com/office/drawing/2014/main" id="{ACDDDE58-83F4-0D05-CF1C-A6A6A9370326}"/>
              </a:ext>
            </a:extLst>
          </p:cNvPr>
          <p:cNvCxnSpPr/>
          <p:nvPr/>
        </p:nvCxnSpPr>
        <p:spPr>
          <a:xfrm flipV="1">
            <a:off x="3213100" y="3467100"/>
            <a:ext cx="1028700" cy="990600"/>
          </a:xfrm>
          <a:prstGeom prst="line">
            <a:avLst/>
          </a:prstGeom>
          <a:ln w="2794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D29BAB06-51DE-29CD-7658-C7A6BB495A75}"/>
              </a:ext>
            </a:extLst>
          </p:cNvPr>
          <p:cNvSpPr/>
          <p:nvPr/>
        </p:nvSpPr>
        <p:spPr>
          <a:xfrm>
            <a:off x="4279900" y="2463800"/>
            <a:ext cx="3098800" cy="2006600"/>
          </a:xfrm>
          <a:prstGeom prst="roundRect">
            <a:avLst/>
          </a:prstGeom>
          <a:solidFill>
            <a:srgbClr val="0B1536"/>
          </a:solidFill>
          <a:ln w="12700">
            <a:solidFill>
              <a:srgbClr val="0B1536"/>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4EECA7A-C63B-F285-3B08-86576D664E43}"/>
              </a:ext>
            </a:extLst>
          </p:cNvPr>
          <p:cNvSpPr/>
          <p:nvPr/>
        </p:nvSpPr>
        <p:spPr>
          <a:xfrm>
            <a:off x="5486400" y="2730500"/>
            <a:ext cx="685800" cy="6858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17CDD7B-D7DF-CEBC-34A1-33D5578BFF8E}"/>
              </a:ext>
            </a:extLst>
          </p:cNvPr>
          <p:cNvSpPr txBox="1"/>
          <p:nvPr/>
        </p:nvSpPr>
        <p:spPr>
          <a:xfrm>
            <a:off x="5486400" y="2730500"/>
            <a:ext cx="685800" cy="685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LOG</a:t>
            </a:r>
          </a:p>
        </p:txBody>
      </p:sp>
      <p:sp>
        <p:nvSpPr>
          <p:cNvPr id="20" name="TextBox 19">
            <a:extLst>
              <a:ext uri="{FF2B5EF4-FFF2-40B4-BE49-F238E27FC236}">
                <a16:creationId xmlns:a16="http://schemas.microsoft.com/office/drawing/2014/main" id="{AACC2463-8640-616B-AF40-ABBEB846746A}"/>
              </a:ext>
            </a:extLst>
          </p:cNvPr>
          <p:cNvSpPr txBox="1"/>
          <p:nvPr/>
        </p:nvSpPr>
        <p:spPr>
          <a:xfrm>
            <a:off x="4660900" y="3530600"/>
            <a:ext cx="2336800" cy="685800"/>
          </a:xfrm>
          <a:prstGeom prst="rect">
            <a:avLst/>
          </a:prstGeom>
          <a:noFill/>
        </p:spPr>
        <p:txBody>
          <a:bodyPr vert="horz" wrap="square" lIns="50800" tIns="25400" rIns="50800" bIns="25400" rtlCol="0" anchor="ctr">
            <a:noAutofit/>
          </a:bodyPr>
          <a:lstStyle/>
          <a:p>
            <a:pPr algn="ctr"/>
            <a:r>
              <a:rPr lang="en-US" sz="1600" b="1">
                <a:solidFill>
                  <a:srgbClr val="FFFFFF"/>
                </a:solidFill>
                <a:latin typeface="Segoe UI" panose="020B0502040204020203" pitchFamily="34" charset="0"/>
              </a:rPr>
              <a:t>Append-only stock movement ledger</a:t>
            </a:r>
          </a:p>
        </p:txBody>
      </p:sp>
      <p:cxnSp>
        <p:nvCxnSpPr>
          <p:cNvPr id="21" name="Straight Connector 20">
            <a:extLst>
              <a:ext uri="{FF2B5EF4-FFF2-40B4-BE49-F238E27FC236}">
                <a16:creationId xmlns:a16="http://schemas.microsoft.com/office/drawing/2014/main" id="{0FDA6B8B-7AB1-D308-4B38-3A68FF15578E}"/>
              </a:ext>
            </a:extLst>
          </p:cNvPr>
          <p:cNvCxnSpPr/>
          <p:nvPr/>
        </p:nvCxnSpPr>
        <p:spPr>
          <a:xfrm flipV="1">
            <a:off x="7378700" y="2298700"/>
            <a:ext cx="1244600" cy="698500"/>
          </a:xfrm>
          <a:prstGeom prst="line">
            <a:avLst/>
          </a:prstGeom>
          <a:ln w="31750">
            <a:solidFill>
              <a:srgbClr val="1769E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1AAE231-D347-9595-A34D-FD066A14C57E}"/>
              </a:ext>
            </a:extLst>
          </p:cNvPr>
          <p:cNvCxnSpPr/>
          <p:nvPr/>
        </p:nvCxnSpPr>
        <p:spPr>
          <a:xfrm>
            <a:off x="7378700" y="3467100"/>
            <a:ext cx="1244600" cy="0"/>
          </a:xfrm>
          <a:prstGeom prst="line">
            <a:avLst/>
          </a:prstGeom>
          <a:ln w="31750">
            <a:solidFill>
              <a:srgbClr val="078A99"/>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F9F5504-BD53-38F8-BFEC-CBEDE9B23371}"/>
              </a:ext>
            </a:extLst>
          </p:cNvPr>
          <p:cNvCxnSpPr/>
          <p:nvPr/>
        </p:nvCxnSpPr>
        <p:spPr>
          <a:xfrm>
            <a:off x="7378700" y="3937000"/>
            <a:ext cx="1244600" cy="711200"/>
          </a:xfrm>
          <a:prstGeom prst="line">
            <a:avLst/>
          </a:prstGeom>
          <a:ln w="3175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27B015BE-0B90-9A43-31D2-F41ED4C47841}"/>
              </a:ext>
            </a:extLst>
          </p:cNvPr>
          <p:cNvSpPr/>
          <p:nvPr/>
        </p:nvSpPr>
        <p:spPr>
          <a:xfrm>
            <a:off x="8674100" y="1816100"/>
            <a:ext cx="2908300" cy="9652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50926C60-E2AE-6BA1-8569-5174D511AB6C}"/>
              </a:ext>
            </a:extLst>
          </p:cNvPr>
          <p:cNvSpPr/>
          <p:nvPr/>
        </p:nvSpPr>
        <p:spPr>
          <a:xfrm>
            <a:off x="8674100" y="1816100"/>
            <a:ext cx="101600" cy="965200"/>
          </a:xfrm>
          <a:prstGeom prst="roundRect">
            <a:avLst/>
          </a:prstGeom>
          <a:solidFill>
            <a:srgbClr val="1769E0"/>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CDBB272-688C-4DB6-B6C2-D71C0545A709}"/>
              </a:ext>
            </a:extLst>
          </p:cNvPr>
          <p:cNvSpPr txBox="1"/>
          <p:nvPr/>
        </p:nvSpPr>
        <p:spPr>
          <a:xfrm>
            <a:off x="8953500" y="1943100"/>
            <a:ext cx="2336800" cy="304800"/>
          </a:xfrm>
          <a:prstGeom prst="rect">
            <a:avLst/>
          </a:prstGeom>
          <a:noFill/>
        </p:spPr>
        <p:txBody>
          <a:bodyPr vert="horz" wrap="square" lIns="50800" tIns="25400" rIns="50800" bIns="25400" rtlCol="0" anchor="t">
            <a:noAutofit/>
          </a:bodyPr>
          <a:lstStyle/>
          <a:p>
            <a:r>
              <a:rPr lang="en-US" sz="1250" b="1">
                <a:solidFill>
                  <a:srgbClr val="0B1536"/>
                </a:solidFill>
                <a:latin typeface="Segoe UI" panose="020B0502040204020203" pitchFamily="34" charset="0"/>
              </a:rPr>
              <a:t>Inventory balance</a:t>
            </a:r>
          </a:p>
        </p:txBody>
      </p:sp>
      <p:sp>
        <p:nvSpPr>
          <p:cNvPr id="27" name="TextBox 26">
            <a:extLst>
              <a:ext uri="{FF2B5EF4-FFF2-40B4-BE49-F238E27FC236}">
                <a16:creationId xmlns:a16="http://schemas.microsoft.com/office/drawing/2014/main" id="{BF26C768-2713-EA3C-1681-186FDD94234F}"/>
              </a:ext>
            </a:extLst>
          </p:cNvPr>
          <p:cNvSpPr txBox="1"/>
          <p:nvPr/>
        </p:nvSpPr>
        <p:spPr>
          <a:xfrm>
            <a:off x="8953500" y="2260600"/>
            <a:ext cx="2336800" cy="393700"/>
          </a:xfrm>
          <a:prstGeom prst="rect">
            <a:avLst/>
          </a:prstGeom>
          <a:noFill/>
        </p:spPr>
        <p:txBody>
          <a:bodyPr vert="horz" wrap="square" lIns="50800" tIns="25400" rIns="50800" bIns="25400" rtlCol="0" anchor="t">
            <a:noAutofit/>
          </a:bodyPr>
          <a:lstStyle/>
          <a:p>
            <a:r>
              <a:rPr lang="en-US" sz="900">
                <a:solidFill>
                  <a:srgbClr val="667085"/>
                </a:solidFill>
                <a:latin typeface="Segoe UI" panose="020B0502040204020203" pitchFamily="34" charset="0"/>
              </a:rPr>
              <a:t>On hand, reserved, available, incoming</a:t>
            </a:r>
          </a:p>
        </p:txBody>
      </p:sp>
      <p:sp>
        <p:nvSpPr>
          <p:cNvPr id="28" name="Rectangle: Rounded Corners 27">
            <a:extLst>
              <a:ext uri="{FF2B5EF4-FFF2-40B4-BE49-F238E27FC236}">
                <a16:creationId xmlns:a16="http://schemas.microsoft.com/office/drawing/2014/main" id="{4B829AFE-176A-C83B-CA09-1BFC7A951771}"/>
              </a:ext>
            </a:extLst>
          </p:cNvPr>
          <p:cNvSpPr/>
          <p:nvPr/>
        </p:nvSpPr>
        <p:spPr>
          <a:xfrm>
            <a:off x="8674100" y="2984500"/>
            <a:ext cx="2908300" cy="9652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D3AC9C27-E8C9-D78F-1F96-3D7472EC633C}"/>
              </a:ext>
            </a:extLst>
          </p:cNvPr>
          <p:cNvSpPr/>
          <p:nvPr/>
        </p:nvSpPr>
        <p:spPr>
          <a:xfrm>
            <a:off x="8674100" y="2984500"/>
            <a:ext cx="101600" cy="9652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1EAF7A5-75AA-8F08-0AEC-12BFE14142EE}"/>
              </a:ext>
            </a:extLst>
          </p:cNvPr>
          <p:cNvSpPr txBox="1"/>
          <p:nvPr/>
        </p:nvSpPr>
        <p:spPr>
          <a:xfrm>
            <a:off x="8953500" y="3111500"/>
            <a:ext cx="2336800" cy="304800"/>
          </a:xfrm>
          <a:prstGeom prst="rect">
            <a:avLst/>
          </a:prstGeom>
          <a:noFill/>
        </p:spPr>
        <p:txBody>
          <a:bodyPr vert="horz" wrap="square" lIns="50800" tIns="25400" rIns="50800" bIns="25400" rtlCol="0" anchor="t">
            <a:noAutofit/>
          </a:bodyPr>
          <a:lstStyle/>
          <a:p>
            <a:r>
              <a:rPr lang="en-US" sz="1250" b="1">
                <a:solidFill>
                  <a:srgbClr val="0B1536"/>
                </a:solidFill>
                <a:latin typeface="Segoe UI" panose="020B0502040204020203" pitchFamily="34" charset="0"/>
              </a:rPr>
              <a:t>FIFO batches</a:t>
            </a:r>
          </a:p>
        </p:txBody>
      </p:sp>
      <p:sp>
        <p:nvSpPr>
          <p:cNvPr id="31" name="TextBox 30">
            <a:extLst>
              <a:ext uri="{FF2B5EF4-FFF2-40B4-BE49-F238E27FC236}">
                <a16:creationId xmlns:a16="http://schemas.microsoft.com/office/drawing/2014/main" id="{CA8C91ED-2DAF-EAC3-68F5-4F1A224B793B}"/>
              </a:ext>
            </a:extLst>
          </p:cNvPr>
          <p:cNvSpPr txBox="1"/>
          <p:nvPr/>
        </p:nvSpPr>
        <p:spPr>
          <a:xfrm>
            <a:off x="8953500" y="3429000"/>
            <a:ext cx="2336800" cy="393700"/>
          </a:xfrm>
          <a:prstGeom prst="rect">
            <a:avLst/>
          </a:prstGeom>
          <a:noFill/>
        </p:spPr>
        <p:txBody>
          <a:bodyPr vert="horz" wrap="square" lIns="50800" tIns="25400" rIns="50800" bIns="25400" rtlCol="0" anchor="t">
            <a:noAutofit/>
          </a:bodyPr>
          <a:lstStyle/>
          <a:p>
            <a:r>
              <a:rPr lang="en-US" sz="900">
                <a:solidFill>
                  <a:srgbClr val="667085"/>
                </a:solidFill>
                <a:latin typeface="Segoe UI" panose="020B0502040204020203" pitchFamily="34" charset="0"/>
              </a:rPr>
              <a:t>Remaining quantity, unit cost and age</a:t>
            </a:r>
          </a:p>
        </p:txBody>
      </p:sp>
      <p:sp>
        <p:nvSpPr>
          <p:cNvPr id="32" name="Rectangle: Rounded Corners 31">
            <a:extLst>
              <a:ext uri="{FF2B5EF4-FFF2-40B4-BE49-F238E27FC236}">
                <a16:creationId xmlns:a16="http://schemas.microsoft.com/office/drawing/2014/main" id="{F5435DDB-5CC8-02D4-3486-E2A0CAC6CEC9}"/>
              </a:ext>
            </a:extLst>
          </p:cNvPr>
          <p:cNvSpPr/>
          <p:nvPr/>
        </p:nvSpPr>
        <p:spPr>
          <a:xfrm>
            <a:off x="8674100" y="4152900"/>
            <a:ext cx="2908300" cy="9652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511A05FB-F1F6-43F2-BEFA-C94DD2A6B8BC}"/>
              </a:ext>
            </a:extLst>
          </p:cNvPr>
          <p:cNvSpPr/>
          <p:nvPr/>
        </p:nvSpPr>
        <p:spPr>
          <a:xfrm>
            <a:off x="8674100" y="4152900"/>
            <a:ext cx="101600" cy="9652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18E1764-5524-AF26-9148-BAE6FF81E642}"/>
              </a:ext>
            </a:extLst>
          </p:cNvPr>
          <p:cNvSpPr txBox="1"/>
          <p:nvPr/>
        </p:nvSpPr>
        <p:spPr>
          <a:xfrm>
            <a:off x="8953500" y="4279900"/>
            <a:ext cx="2336800" cy="304800"/>
          </a:xfrm>
          <a:prstGeom prst="rect">
            <a:avLst/>
          </a:prstGeom>
          <a:noFill/>
        </p:spPr>
        <p:txBody>
          <a:bodyPr vert="horz" wrap="square" lIns="50800" tIns="25400" rIns="50800" bIns="25400" rtlCol="0" anchor="t">
            <a:noAutofit/>
          </a:bodyPr>
          <a:lstStyle/>
          <a:p>
            <a:r>
              <a:rPr lang="en-US" sz="1250" b="1">
                <a:solidFill>
                  <a:srgbClr val="0B1536"/>
                </a:solidFill>
                <a:latin typeface="Segoe UI" panose="020B0502040204020203" pitchFamily="34" charset="0"/>
              </a:rPr>
              <a:t>Daily snapshots</a:t>
            </a:r>
          </a:p>
        </p:txBody>
      </p:sp>
      <p:sp>
        <p:nvSpPr>
          <p:cNvPr id="35" name="TextBox 34">
            <a:extLst>
              <a:ext uri="{FF2B5EF4-FFF2-40B4-BE49-F238E27FC236}">
                <a16:creationId xmlns:a16="http://schemas.microsoft.com/office/drawing/2014/main" id="{80751ABF-D19F-2FDD-5A0A-C7CB7EE3BBFF}"/>
              </a:ext>
            </a:extLst>
          </p:cNvPr>
          <p:cNvSpPr txBox="1"/>
          <p:nvPr/>
        </p:nvSpPr>
        <p:spPr>
          <a:xfrm>
            <a:off x="8953500" y="4597400"/>
            <a:ext cx="2336800" cy="393700"/>
          </a:xfrm>
          <a:prstGeom prst="rect">
            <a:avLst/>
          </a:prstGeom>
          <a:noFill/>
        </p:spPr>
        <p:txBody>
          <a:bodyPr vert="horz" wrap="square" lIns="50800" tIns="25400" rIns="50800" bIns="25400" rtlCol="0" anchor="t">
            <a:noAutofit/>
          </a:bodyPr>
          <a:lstStyle/>
          <a:p>
            <a:r>
              <a:rPr lang="en-US" sz="900">
                <a:solidFill>
                  <a:srgbClr val="667085"/>
                </a:solidFill>
                <a:latin typeface="Segoe UI" panose="020B0502040204020203" pitchFamily="34" charset="0"/>
              </a:rPr>
              <a:t>Opening, closing, demand, stockout minutes</a:t>
            </a:r>
          </a:p>
        </p:txBody>
      </p:sp>
      <p:sp>
        <p:nvSpPr>
          <p:cNvPr id="36" name="Rectangle: Rounded Corners 35">
            <a:extLst>
              <a:ext uri="{FF2B5EF4-FFF2-40B4-BE49-F238E27FC236}">
                <a16:creationId xmlns:a16="http://schemas.microsoft.com/office/drawing/2014/main" id="{8DC8ECA7-D260-B550-BB8F-5B655C8061BC}"/>
              </a:ext>
            </a:extLst>
          </p:cNvPr>
          <p:cNvSpPr/>
          <p:nvPr/>
        </p:nvSpPr>
        <p:spPr>
          <a:xfrm>
            <a:off x="1600200" y="5537200"/>
            <a:ext cx="2794000" cy="4191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B1E259F-378C-8635-B3FB-A786B363FB44}"/>
              </a:ext>
            </a:extLst>
          </p:cNvPr>
          <p:cNvSpPr txBox="1"/>
          <p:nvPr/>
        </p:nvSpPr>
        <p:spPr>
          <a:xfrm>
            <a:off x="1600200" y="5537200"/>
            <a:ext cx="2794000" cy="419100"/>
          </a:xfrm>
          <a:prstGeom prst="rect">
            <a:avLst/>
          </a:prstGeom>
          <a:noFill/>
        </p:spPr>
        <p:txBody>
          <a:bodyPr vert="horz" wrap="square" lIns="50800" tIns="25400" rIns="50800" bIns="25400" rtlCol="0" anchor="ctr">
            <a:noAutofit/>
          </a:bodyPr>
          <a:lstStyle/>
          <a:p>
            <a:pPr algn="ctr"/>
            <a:r>
              <a:rPr lang="en-US" sz="950" b="1">
                <a:solidFill>
                  <a:srgbClr val="0E9F6E"/>
                </a:solidFill>
                <a:latin typeface="Segoe UI" panose="020B0502040204020203" pitchFamily="34" charset="0"/>
              </a:rPr>
              <a:t>Transactional updates</a:t>
            </a:r>
          </a:p>
        </p:txBody>
      </p:sp>
      <p:sp>
        <p:nvSpPr>
          <p:cNvPr id="38" name="Rectangle: Rounded Corners 37">
            <a:extLst>
              <a:ext uri="{FF2B5EF4-FFF2-40B4-BE49-F238E27FC236}">
                <a16:creationId xmlns:a16="http://schemas.microsoft.com/office/drawing/2014/main" id="{1055EAEE-1527-8460-F588-79F0C65D68FC}"/>
              </a:ext>
            </a:extLst>
          </p:cNvPr>
          <p:cNvSpPr/>
          <p:nvPr/>
        </p:nvSpPr>
        <p:spPr>
          <a:xfrm>
            <a:off x="4800600" y="5537200"/>
            <a:ext cx="2794000" cy="4191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8CFD21D-9132-38BC-9188-85772719EDDF}"/>
              </a:ext>
            </a:extLst>
          </p:cNvPr>
          <p:cNvSpPr txBox="1"/>
          <p:nvPr/>
        </p:nvSpPr>
        <p:spPr>
          <a:xfrm>
            <a:off x="4800600" y="5537200"/>
            <a:ext cx="2794000" cy="419100"/>
          </a:xfrm>
          <a:prstGeom prst="rect">
            <a:avLst/>
          </a:prstGeom>
          <a:noFill/>
        </p:spPr>
        <p:txBody>
          <a:bodyPr vert="horz" wrap="square" lIns="50800" tIns="25400" rIns="50800" bIns="25400" rtlCol="0" anchor="ctr">
            <a:noAutofit/>
          </a:bodyPr>
          <a:lstStyle/>
          <a:p>
            <a:pPr algn="ctr"/>
            <a:r>
              <a:rPr lang="en-US" sz="950" b="1">
                <a:solidFill>
                  <a:srgbClr val="0E9F6E"/>
                </a:solidFill>
                <a:latin typeface="Segoe UI" panose="020B0502040204020203" pitchFamily="34" charset="0"/>
              </a:rPr>
              <a:t>Negative stock blocked</a:t>
            </a:r>
          </a:p>
        </p:txBody>
      </p:sp>
      <p:sp>
        <p:nvSpPr>
          <p:cNvPr id="40" name="Rectangle: Rounded Corners 39">
            <a:extLst>
              <a:ext uri="{FF2B5EF4-FFF2-40B4-BE49-F238E27FC236}">
                <a16:creationId xmlns:a16="http://schemas.microsoft.com/office/drawing/2014/main" id="{C3D8F58D-9127-9BCC-A26F-D0366577783D}"/>
              </a:ext>
            </a:extLst>
          </p:cNvPr>
          <p:cNvSpPr/>
          <p:nvPr/>
        </p:nvSpPr>
        <p:spPr>
          <a:xfrm>
            <a:off x="8001000" y="5537200"/>
            <a:ext cx="2794000" cy="4191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23C713F9-3D93-BFCD-4F84-0DB712EDCB6C}"/>
              </a:ext>
            </a:extLst>
          </p:cNvPr>
          <p:cNvSpPr txBox="1"/>
          <p:nvPr/>
        </p:nvSpPr>
        <p:spPr>
          <a:xfrm>
            <a:off x="8001000" y="5537200"/>
            <a:ext cx="2794000" cy="419100"/>
          </a:xfrm>
          <a:prstGeom prst="rect">
            <a:avLst/>
          </a:prstGeom>
          <a:noFill/>
        </p:spPr>
        <p:txBody>
          <a:bodyPr vert="horz" wrap="square" lIns="50800" tIns="25400" rIns="50800" bIns="25400" rtlCol="0" anchor="ctr">
            <a:noAutofit/>
          </a:bodyPr>
          <a:lstStyle/>
          <a:p>
            <a:pPr algn="ctr"/>
            <a:r>
              <a:rPr lang="en-US" sz="950" b="1">
                <a:solidFill>
                  <a:srgbClr val="0E9F6E"/>
                </a:solidFill>
                <a:latin typeface="Segoe UI" panose="020B0502040204020203" pitchFamily="34" charset="0"/>
              </a:rPr>
              <a:t>Weighted average + FIFO cost</a:t>
            </a:r>
          </a:p>
        </p:txBody>
      </p:sp>
      <p:sp>
        <p:nvSpPr>
          <p:cNvPr id="42" name="TextBox 41">
            <a:extLst>
              <a:ext uri="{FF2B5EF4-FFF2-40B4-BE49-F238E27FC236}">
                <a16:creationId xmlns:a16="http://schemas.microsoft.com/office/drawing/2014/main" id="{44E709F4-D516-143F-83F9-8140A0B9443E}"/>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3" name="TextBox 42">
            <a:extLst>
              <a:ext uri="{FF2B5EF4-FFF2-40B4-BE49-F238E27FC236}">
                <a16:creationId xmlns:a16="http://schemas.microsoft.com/office/drawing/2014/main" id="{715A0E7A-E27D-C114-02E5-4DFB5B758452}"/>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8</a:t>
            </a:r>
          </a:p>
        </p:txBody>
      </p:sp>
    </p:spTree>
    <p:extLst>
      <p:ext uri="{BB962C8B-B14F-4D97-AF65-F5344CB8AC3E}">
        <p14:creationId xmlns:p14="http://schemas.microsoft.com/office/powerpoint/2010/main" val="2113559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FA449-C0F9-C5C0-6380-1F295E0AC7CB}"/>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STATUS LIFECYCLES</a:t>
            </a:r>
          </a:p>
        </p:txBody>
      </p:sp>
      <p:sp>
        <p:nvSpPr>
          <p:cNvPr id="3" name="TextBox 2">
            <a:extLst>
              <a:ext uri="{FF2B5EF4-FFF2-40B4-BE49-F238E27FC236}">
                <a16:creationId xmlns:a16="http://schemas.microsoft.com/office/drawing/2014/main" id="{A7773FDD-D56C-5E8A-6304-ABFE951161C1}"/>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Operational workflows protect stock integrity</a:t>
            </a:r>
          </a:p>
        </p:txBody>
      </p:sp>
      <p:sp>
        <p:nvSpPr>
          <p:cNvPr id="4" name="TextBox 3">
            <a:extLst>
              <a:ext uri="{FF2B5EF4-FFF2-40B4-BE49-F238E27FC236}">
                <a16:creationId xmlns:a16="http://schemas.microsoft.com/office/drawing/2014/main" id="{A813646A-06C9-FBF7-764B-F7BB91B1F8A7}"/>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Status changes are business controls: they define when stock and financial values become final.</a:t>
            </a:r>
          </a:p>
        </p:txBody>
      </p:sp>
      <p:sp>
        <p:nvSpPr>
          <p:cNvPr id="5" name="Rectangle: Rounded Corners 4">
            <a:extLst>
              <a:ext uri="{FF2B5EF4-FFF2-40B4-BE49-F238E27FC236}">
                <a16:creationId xmlns:a16="http://schemas.microsoft.com/office/drawing/2014/main" id="{B68AB689-E1DF-4BC2-3FDA-6587B6EF40A5}"/>
              </a:ext>
            </a:extLst>
          </p:cNvPr>
          <p:cNvSpPr/>
          <p:nvPr/>
        </p:nvSpPr>
        <p:spPr>
          <a:xfrm>
            <a:off x="609600" y="1905000"/>
            <a:ext cx="1803400" cy="4318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FC23E4-10BC-6C31-4CD1-1A58E87773FF}"/>
              </a:ext>
            </a:extLst>
          </p:cNvPr>
          <p:cNvSpPr txBox="1"/>
          <p:nvPr/>
        </p:nvSpPr>
        <p:spPr>
          <a:xfrm>
            <a:off x="609600" y="1905000"/>
            <a:ext cx="1803400" cy="4318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PURCHASE ORDER</a:t>
            </a:r>
          </a:p>
        </p:txBody>
      </p:sp>
      <p:sp>
        <p:nvSpPr>
          <p:cNvPr id="7" name="Rectangle: Rounded Corners 6">
            <a:extLst>
              <a:ext uri="{FF2B5EF4-FFF2-40B4-BE49-F238E27FC236}">
                <a16:creationId xmlns:a16="http://schemas.microsoft.com/office/drawing/2014/main" id="{0972240B-16F1-EED3-4B3E-56B9655CFCD6}"/>
              </a:ext>
            </a:extLst>
          </p:cNvPr>
          <p:cNvSpPr/>
          <p:nvPr/>
        </p:nvSpPr>
        <p:spPr>
          <a:xfrm>
            <a:off x="2717800" y="1879600"/>
            <a:ext cx="1422400" cy="4826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BA0A513-7E34-E57B-5CF3-1D991DB71B96}"/>
              </a:ext>
            </a:extLst>
          </p:cNvPr>
          <p:cNvSpPr txBox="1"/>
          <p:nvPr/>
        </p:nvSpPr>
        <p:spPr>
          <a:xfrm>
            <a:off x="2768600" y="1917700"/>
            <a:ext cx="13208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Draft</a:t>
            </a:r>
          </a:p>
        </p:txBody>
      </p:sp>
      <p:cxnSp>
        <p:nvCxnSpPr>
          <p:cNvPr id="9" name="Straight Connector 8">
            <a:extLst>
              <a:ext uri="{FF2B5EF4-FFF2-40B4-BE49-F238E27FC236}">
                <a16:creationId xmlns:a16="http://schemas.microsoft.com/office/drawing/2014/main" id="{83904935-6010-796C-2BBE-BFFD8D391914}"/>
              </a:ext>
            </a:extLst>
          </p:cNvPr>
          <p:cNvCxnSpPr/>
          <p:nvPr/>
        </p:nvCxnSpPr>
        <p:spPr>
          <a:xfrm>
            <a:off x="4140200" y="2120900"/>
            <a:ext cx="241300" cy="0"/>
          </a:xfrm>
          <a:prstGeom prst="line">
            <a:avLst/>
          </a:prstGeom>
          <a:ln w="2159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C92D8482-189D-8D5F-56A3-EFB7E7C4C232}"/>
              </a:ext>
            </a:extLst>
          </p:cNvPr>
          <p:cNvSpPr/>
          <p:nvPr/>
        </p:nvSpPr>
        <p:spPr>
          <a:xfrm>
            <a:off x="4419600" y="1879600"/>
            <a:ext cx="1422400" cy="4826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4EB847-04F8-D711-BC29-5EA023CFB8AB}"/>
              </a:ext>
            </a:extLst>
          </p:cNvPr>
          <p:cNvSpPr txBox="1"/>
          <p:nvPr/>
        </p:nvSpPr>
        <p:spPr>
          <a:xfrm>
            <a:off x="4470400" y="1917700"/>
            <a:ext cx="13208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Approved</a:t>
            </a:r>
          </a:p>
        </p:txBody>
      </p:sp>
      <p:cxnSp>
        <p:nvCxnSpPr>
          <p:cNvPr id="12" name="Straight Connector 11">
            <a:extLst>
              <a:ext uri="{FF2B5EF4-FFF2-40B4-BE49-F238E27FC236}">
                <a16:creationId xmlns:a16="http://schemas.microsoft.com/office/drawing/2014/main" id="{079B4E15-8B46-7AEC-D924-2EB8A0C4F14B}"/>
              </a:ext>
            </a:extLst>
          </p:cNvPr>
          <p:cNvCxnSpPr/>
          <p:nvPr/>
        </p:nvCxnSpPr>
        <p:spPr>
          <a:xfrm>
            <a:off x="5842000" y="2120900"/>
            <a:ext cx="241300" cy="0"/>
          </a:xfrm>
          <a:prstGeom prst="line">
            <a:avLst/>
          </a:prstGeom>
          <a:ln w="2159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A324D05-F993-71BE-F701-CCA3244BC6FD}"/>
              </a:ext>
            </a:extLst>
          </p:cNvPr>
          <p:cNvSpPr/>
          <p:nvPr/>
        </p:nvSpPr>
        <p:spPr>
          <a:xfrm>
            <a:off x="6121400" y="1879600"/>
            <a:ext cx="1422400" cy="4826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C55C091-0D3B-59C3-4D45-951F29CC4B09}"/>
              </a:ext>
            </a:extLst>
          </p:cNvPr>
          <p:cNvSpPr txBox="1"/>
          <p:nvPr/>
        </p:nvSpPr>
        <p:spPr>
          <a:xfrm>
            <a:off x="6172200" y="1917700"/>
            <a:ext cx="13208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Ordered</a:t>
            </a:r>
          </a:p>
        </p:txBody>
      </p:sp>
      <p:cxnSp>
        <p:nvCxnSpPr>
          <p:cNvPr id="15" name="Straight Connector 14">
            <a:extLst>
              <a:ext uri="{FF2B5EF4-FFF2-40B4-BE49-F238E27FC236}">
                <a16:creationId xmlns:a16="http://schemas.microsoft.com/office/drawing/2014/main" id="{A087F01A-A704-7AC0-88FE-65819F9A25D3}"/>
              </a:ext>
            </a:extLst>
          </p:cNvPr>
          <p:cNvCxnSpPr/>
          <p:nvPr/>
        </p:nvCxnSpPr>
        <p:spPr>
          <a:xfrm>
            <a:off x="7543800" y="2120900"/>
            <a:ext cx="241300" cy="0"/>
          </a:xfrm>
          <a:prstGeom prst="line">
            <a:avLst/>
          </a:prstGeom>
          <a:ln w="2159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A8EA5F0-1DFF-9FE1-27A4-F857CFE317C6}"/>
              </a:ext>
            </a:extLst>
          </p:cNvPr>
          <p:cNvSpPr/>
          <p:nvPr/>
        </p:nvSpPr>
        <p:spPr>
          <a:xfrm>
            <a:off x="7823200" y="1879600"/>
            <a:ext cx="1422400" cy="4826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28A881E-3A02-15EE-E504-34648897B20B}"/>
              </a:ext>
            </a:extLst>
          </p:cNvPr>
          <p:cNvSpPr txBox="1"/>
          <p:nvPr/>
        </p:nvSpPr>
        <p:spPr>
          <a:xfrm>
            <a:off x="7874000" y="1917700"/>
            <a:ext cx="13208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Partially received</a:t>
            </a:r>
          </a:p>
        </p:txBody>
      </p:sp>
      <p:cxnSp>
        <p:nvCxnSpPr>
          <p:cNvPr id="18" name="Straight Connector 17">
            <a:extLst>
              <a:ext uri="{FF2B5EF4-FFF2-40B4-BE49-F238E27FC236}">
                <a16:creationId xmlns:a16="http://schemas.microsoft.com/office/drawing/2014/main" id="{4185FBB6-FE63-B429-DAB7-0DC6A3F55862}"/>
              </a:ext>
            </a:extLst>
          </p:cNvPr>
          <p:cNvCxnSpPr/>
          <p:nvPr/>
        </p:nvCxnSpPr>
        <p:spPr>
          <a:xfrm>
            <a:off x="9245600" y="2120900"/>
            <a:ext cx="241300" cy="0"/>
          </a:xfrm>
          <a:prstGeom prst="line">
            <a:avLst/>
          </a:prstGeom>
          <a:ln w="2159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46818E12-81C8-756B-8D53-F9550CBAF800}"/>
              </a:ext>
            </a:extLst>
          </p:cNvPr>
          <p:cNvSpPr/>
          <p:nvPr/>
        </p:nvSpPr>
        <p:spPr>
          <a:xfrm>
            <a:off x="9525000" y="1879600"/>
            <a:ext cx="1422400" cy="4826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862C088-5102-F556-9144-561F77FD00CF}"/>
              </a:ext>
            </a:extLst>
          </p:cNvPr>
          <p:cNvSpPr txBox="1"/>
          <p:nvPr/>
        </p:nvSpPr>
        <p:spPr>
          <a:xfrm>
            <a:off x="9575800" y="1917700"/>
            <a:ext cx="13208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Received</a:t>
            </a:r>
          </a:p>
        </p:txBody>
      </p:sp>
      <p:sp>
        <p:nvSpPr>
          <p:cNvPr id="21" name="TextBox 20">
            <a:extLst>
              <a:ext uri="{FF2B5EF4-FFF2-40B4-BE49-F238E27FC236}">
                <a16:creationId xmlns:a16="http://schemas.microsoft.com/office/drawing/2014/main" id="{9B92FF32-82B7-68C8-CE63-22C9332BA8AE}"/>
              </a:ext>
            </a:extLst>
          </p:cNvPr>
          <p:cNvSpPr txBox="1"/>
          <p:nvPr/>
        </p:nvSpPr>
        <p:spPr>
          <a:xfrm>
            <a:off x="2717800" y="2451100"/>
            <a:ext cx="8509000" cy="355600"/>
          </a:xfrm>
          <a:prstGeom prst="rect">
            <a:avLst/>
          </a:prstGeom>
          <a:noFill/>
        </p:spPr>
        <p:txBody>
          <a:bodyPr vert="horz" wrap="square" lIns="50800" tIns="25400" rIns="50800" bIns="25400" rtlCol="0" anchor="t">
            <a:noAutofit/>
          </a:bodyPr>
          <a:lstStyle/>
          <a:p>
            <a:r>
              <a:rPr lang="en-US" sz="950">
                <a:solidFill>
                  <a:srgbClr val="667085"/>
                </a:solidFill>
                <a:latin typeface="Segoe UI" panose="020B0502040204020203" pitchFamily="34" charset="0"/>
              </a:rPr>
              <a:t>Only Draft can be edited or deleted. Cancel before stock arrives.</a:t>
            </a:r>
          </a:p>
        </p:txBody>
      </p:sp>
      <p:sp>
        <p:nvSpPr>
          <p:cNvPr id="22" name="Rectangle: Rounded Corners 21">
            <a:extLst>
              <a:ext uri="{FF2B5EF4-FFF2-40B4-BE49-F238E27FC236}">
                <a16:creationId xmlns:a16="http://schemas.microsoft.com/office/drawing/2014/main" id="{FAA2DA95-C1CC-1EF7-E75B-C7101BE8EC9E}"/>
              </a:ext>
            </a:extLst>
          </p:cNvPr>
          <p:cNvSpPr/>
          <p:nvPr/>
        </p:nvSpPr>
        <p:spPr>
          <a:xfrm>
            <a:off x="609600" y="3365500"/>
            <a:ext cx="1803400" cy="4318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D01E17E-07E0-560A-DCB3-77DD41696D49}"/>
              </a:ext>
            </a:extLst>
          </p:cNvPr>
          <p:cNvSpPr txBox="1"/>
          <p:nvPr/>
        </p:nvSpPr>
        <p:spPr>
          <a:xfrm>
            <a:off x="609600" y="3365500"/>
            <a:ext cx="1803400" cy="4318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STOCK TRANSFER</a:t>
            </a:r>
          </a:p>
        </p:txBody>
      </p:sp>
      <p:sp>
        <p:nvSpPr>
          <p:cNvPr id="24" name="Rectangle: Rounded Corners 23">
            <a:extLst>
              <a:ext uri="{FF2B5EF4-FFF2-40B4-BE49-F238E27FC236}">
                <a16:creationId xmlns:a16="http://schemas.microsoft.com/office/drawing/2014/main" id="{EF0559DF-762C-900F-DFD6-C09B2830FEFB}"/>
              </a:ext>
            </a:extLst>
          </p:cNvPr>
          <p:cNvSpPr/>
          <p:nvPr/>
        </p:nvSpPr>
        <p:spPr>
          <a:xfrm>
            <a:off x="2717800" y="3340100"/>
            <a:ext cx="1600200" cy="4826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030DFAC-C65C-0EA4-364F-44043655D5E3}"/>
              </a:ext>
            </a:extLst>
          </p:cNvPr>
          <p:cNvSpPr txBox="1"/>
          <p:nvPr/>
        </p:nvSpPr>
        <p:spPr>
          <a:xfrm>
            <a:off x="2768600" y="33782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Draft</a:t>
            </a:r>
          </a:p>
        </p:txBody>
      </p:sp>
      <p:cxnSp>
        <p:nvCxnSpPr>
          <p:cNvPr id="26" name="Straight Connector 25">
            <a:extLst>
              <a:ext uri="{FF2B5EF4-FFF2-40B4-BE49-F238E27FC236}">
                <a16:creationId xmlns:a16="http://schemas.microsoft.com/office/drawing/2014/main" id="{F7A10D19-34CD-2A7C-2965-2991B526ECB0}"/>
              </a:ext>
            </a:extLst>
          </p:cNvPr>
          <p:cNvCxnSpPr/>
          <p:nvPr/>
        </p:nvCxnSpPr>
        <p:spPr>
          <a:xfrm>
            <a:off x="4318000" y="3581400"/>
            <a:ext cx="241300" cy="0"/>
          </a:xfrm>
          <a:prstGeom prst="line">
            <a:avLst/>
          </a:prstGeom>
          <a:ln w="2159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322CB4AD-0274-88DD-A8E8-7C652F003303}"/>
              </a:ext>
            </a:extLst>
          </p:cNvPr>
          <p:cNvSpPr/>
          <p:nvPr/>
        </p:nvSpPr>
        <p:spPr>
          <a:xfrm>
            <a:off x="4597400" y="3340100"/>
            <a:ext cx="1600200" cy="4826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3D4AF94-8245-5B71-7AE1-F0003BAAC7F1}"/>
              </a:ext>
            </a:extLst>
          </p:cNvPr>
          <p:cNvSpPr txBox="1"/>
          <p:nvPr/>
        </p:nvSpPr>
        <p:spPr>
          <a:xfrm>
            <a:off x="4648200" y="33782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Approved</a:t>
            </a:r>
          </a:p>
        </p:txBody>
      </p:sp>
      <p:cxnSp>
        <p:nvCxnSpPr>
          <p:cNvPr id="29" name="Straight Connector 28">
            <a:extLst>
              <a:ext uri="{FF2B5EF4-FFF2-40B4-BE49-F238E27FC236}">
                <a16:creationId xmlns:a16="http://schemas.microsoft.com/office/drawing/2014/main" id="{C426E8B2-EEFF-FABA-761E-F067CA97050C}"/>
              </a:ext>
            </a:extLst>
          </p:cNvPr>
          <p:cNvCxnSpPr/>
          <p:nvPr/>
        </p:nvCxnSpPr>
        <p:spPr>
          <a:xfrm>
            <a:off x="6197600" y="3581400"/>
            <a:ext cx="241300" cy="0"/>
          </a:xfrm>
          <a:prstGeom prst="line">
            <a:avLst/>
          </a:prstGeom>
          <a:ln w="2159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5A7C3421-312E-D44F-94F3-642D9105B77D}"/>
              </a:ext>
            </a:extLst>
          </p:cNvPr>
          <p:cNvSpPr/>
          <p:nvPr/>
        </p:nvSpPr>
        <p:spPr>
          <a:xfrm>
            <a:off x="6477000" y="3340100"/>
            <a:ext cx="1600200" cy="4826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BABEB37-F41A-A101-8E34-58FD6E33A5BD}"/>
              </a:ext>
            </a:extLst>
          </p:cNvPr>
          <p:cNvSpPr txBox="1"/>
          <p:nvPr/>
        </p:nvSpPr>
        <p:spPr>
          <a:xfrm>
            <a:off x="6527800" y="33782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Dispatched</a:t>
            </a:r>
          </a:p>
        </p:txBody>
      </p:sp>
      <p:cxnSp>
        <p:nvCxnSpPr>
          <p:cNvPr id="32" name="Straight Connector 31">
            <a:extLst>
              <a:ext uri="{FF2B5EF4-FFF2-40B4-BE49-F238E27FC236}">
                <a16:creationId xmlns:a16="http://schemas.microsoft.com/office/drawing/2014/main" id="{48958142-3ABA-6E0D-CE72-932904427049}"/>
              </a:ext>
            </a:extLst>
          </p:cNvPr>
          <p:cNvCxnSpPr/>
          <p:nvPr/>
        </p:nvCxnSpPr>
        <p:spPr>
          <a:xfrm>
            <a:off x="8077200" y="3581400"/>
            <a:ext cx="241300" cy="0"/>
          </a:xfrm>
          <a:prstGeom prst="line">
            <a:avLst/>
          </a:prstGeom>
          <a:ln w="2159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27642135-A6F2-5F4D-C6B6-66B93744C0B1}"/>
              </a:ext>
            </a:extLst>
          </p:cNvPr>
          <p:cNvSpPr/>
          <p:nvPr/>
        </p:nvSpPr>
        <p:spPr>
          <a:xfrm>
            <a:off x="8356600" y="3340100"/>
            <a:ext cx="1600200" cy="482600"/>
          </a:xfrm>
          <a:prstGeom prst="roundRect">
            <a:avLst/>
          </a:prstGeom>
          <a:solidFill>
            <a:srgbClr val="FFFFFF"/>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A9DC3A9-F89A-E339-9DCB-B6A77FE78BB7}"/>
              </a:ext>
            </a:extLst>
          </p:cNvPr>
          <p:cNvSpPr txBox="1"/>
          <p:nvPr/>
        </p:nvSpPr>
        <p:spPr>
          <a:xfrm>
            <a:off x="8407400" y="33782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Received</a:t>
            </a:r>
          </a:p>
        </p:txBody>
      </p:sp>
      <p:sp>
        <p:nvSpPr>
          <p:cNvPr id="35" name="TextBox 34">
            <a:extLst>
              <a:ext uri="{FF2B5EF4-FFF2-40B4-BE49-F238E27FC236}">
                <a16:creationId xmlns:a16="http://schemas.microsoft.com/office/drawing/2014/main" id="{E7457148-2EA1-6138-14FA-FC382173D31E}"/>
              </a:ext>
            </a:extLst>
          </p:cNvPr>
          <p:cNvSpPr txBox="1"/>
          <p:nvPr/>
        </p:nvSpPr>
        <p:spPr>
          <a:xfrm>
            <a:off x="2717800" y="3911600"/>
            <a:ext cx="8509000" cy="355600"/>
          </a:xfrm>
          <a:prstGeom prst="rect">
            <a:avLst/>
          </a:prstGeom>
          <a:noFill/>
        </p:spPr>
        <p:txBody>
          <a:bodyPr vert="horz" wrap="square" lIns="50800" tIns="25400" rIns="50800" bIns="25400" rtlCol="0" anchor="t">
            <a:noAutofit/>
          </a:bodyPr>
          <a:lstStyle/>
          <a:p>
            <a:r>
              <a:rPr lang="en-US" sz="950">
                <a:solidFill>
                  <a:srgbClr val="667085"/>
                </a:solidFill>
                <a:latin typeface="Segoe UI" panose="020B0502040204020203" pitchFamily="34" charset="0"/>
              </a:rPr>
              <a:t>Source decreases at dispatch; destination increases at receipt.</a:t>
            </a:r>
          </a:p>
        </p:txBody>
      </p:sp>
      <p:sp>
        <p:nvSpPr>
          <p:cNvPr id="36" name="Rectangle: Rounded Corners 35">
            <a:extLst>
              <a:ext uri="{FF2B5EF4-FFF2-40B4-BE49-F238E27FC236}">
                <a16:creationId xmlns:a16="http://schemas.microsoft.com/office/drawing/2014/main" id="{21639A81-5A5F-8C89-013B-B7276CDB31A0}"/>
              </a:ext>
            </a:extLst>
          </p:cNvPr>
          <p:cNvSpPr/>
          <p:nvPr/>
        </p:nvSpPr>
        <p:spPr>
          <a:xfrm>
            <a:off x="609600" y="4826000"/>
            <a:ext cx="1803400" cy="431800"/>
          </a:xfrm>
          <a:prstGeom prst="roundRect">
            <a:avLst/>
          </a:prstGeom>
          <a:solidFill>
            <a:srgbClr val="0E9F6E"/>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9FBCA47-944B-BCA5-ABB1-C29B055E805D}"/>
              </a:ext>
            </a:extLst>
          </p:cNvPr>
          <p:cNvSpPr txBox="1"/>
          <p:nvPr/>
        </p:nvSpPr>
        <p:spPr>
          <a:xfrm>
            <a:off x="609600" y="4826000"/>
            <a:ext cx="1803400" cy="4318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SALES ORDER</a:t>
            </a:r>
          </a:p>
        </p:txBody>
      </p:sp>
      <p:sp>
        <p:nvSpPr>
          <p:cNvPr id="38" name="Rectangle: Rounded Corners 37">
            <a:extLst>
              <a:ext uri="{FF2B5EF4-FFF2-40B4-BE49-F238E27FC236}">
                <a16:creationId xmlns:a16="http://schemas.microsoft.com/office/drawing/2014/main" id="{19DF6822-C2B5-5865-198B-0A0CAE3B6B43}"/>
              </a:ext>
            </a:extLst>
          </p:cNvPr>
          <p:cNvSpPr/>
          <p:nvPr/>
        </p:nvSpPr>
        <p:spPr>
          <a:xfrm>
            <a:off x="2717800" y="4800600"/>
            <a:ext cx="1600200" cy="482600"/>
          </a:xfrm>
          <a:prstGeom prst="roundRect">
            <a:avLst/>
          </a:prstGeom>
          <a:solidFill>
            <a:srgbClr val="FFFFF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A729D65-18E8-3320-7F5C-A5FE741A9812}"/>
              </a:ext>
            </a:extLst>
          </p:cNvPr>
          <p:cNvSpPr txBox="1"/>
          <p:nvPr/>
        </p:nvSpPr>
        <p:spPr>
          <a:xfrm>
            <a:off x="2768600" y="48387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Draft</a:t>
            </a:r>
          </a:p>
        </p:txBody>
      </p:sp>
      <p:cxnSp>
        <p:nvCxnSpPr>
          <p:cNvPr id="40" name="Straight Connector 39">
            <a:extLst>
              <a:ext uri="{FF2B5EF4-FFF2-40B4-BE49-F238E27FC236}">
                <a16:creationId xmlns:a16="http://schemas.microsoft.com/office/drawing/2014/main" id="{30A19566-748C-7E30-BE27-4153DD3D6AC7}"/>
              </a:ext>
            </a:extLst>
          </p:cNvPr>
          <p:cNvCxnSpPr/>
          <p:nvPr/>
        </p:nvCxnSpPr>
        <p:spPr>
          <a:xfrm>
            <a:off x="4318000" y="5041900"/>
            <a:ext cx="241300" cy="0"/>
          </a:xfrm>
          <a:prstGeom prst="line">
            <a:avLst/>
          </a:prstGeom>
          <a:ln w="2159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A55719D0-1BEB-83D1-4E7B-99A223EB6644}"/>
              </a:ext>
            </a:extLst>
          </p:cNvPr>
          <p:cNvSpPr/>
          <p:nvPr/>
        </p:nvSpPr>
        <p:spPr>
          <a:xfrm>
            <a:off x="4597400" y="4800600"/>
            <a:ext cx="1600200" cy="482600"/>
          </a:xfrm>
          <a:prstGeom prst="roundRect">
            <a:avLst/>
          </a:prstGeom>
          <a:solidFill>
            <a:srgbClr val="FFFFF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484169B-044A-AB6D-AF6F-A141DAA56A43}"/>
              </a:ext>
            </a:extLst>
          </p:cNvPr>
          <p:cNvSpPr txBox="1"/>
          <p:nvPr/>
        </p:nvSpPr>
        <p:spPr>
          <a:xfrm>
            <a:off x="4648200" y="48387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Confirmed</a:t>
            </a:r>
          </a:p>
        </p:txBody>
      </p:sp>
      <p:cxnSp>
        <p:nvCxnSpPr>
          <p:cNvPr id="43" name="Straight Connector 42">
            <a:extLst>
              <a:ext uri="{FF2B5EF4-FFF2-40B4-BE49-F238E27FC236}">
                <a16:creationId xmlns:a16="http://schemas.microsoft.com/office/drawing/2014/main" id="{DB6466C0-41A5-E00D-28CD-9E487ED37E11}"/>
              </a:ext>
            </a:extLst>
          </p:cNvPr>
          <p:cNvCxnSpPr/>
          <p:nvPr/>
        </p:nvCxnSpPr>
        <p:spPr>
          <a:xfrm>
            <a:off x="6197600" y="5041900"/>
            <a:ext cx="241300" cy="0"/>
          </a:xfrm>
          <a:prstGeom prst="line">
            <a:avLst/>
          </a:prstGeom>
          <a:ln w="2159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44" name="Rectangle: Rounded Corners 43">
            <a:extLst>
              <a:ext uri="{FF2B5EF4-FFF2-40B4-BE49-F238E27FC236}">
                <a16:creationId xmlns:a16="http://schemas.microsoft.com/office/drawing/2014/main" id="{37400648-B2D9-C7DA-397C-5EC1767320A5}"/>
              </a:ext>
            </a:extLst>
          </p:cNvPr>
          <p:cNvSpPr/>
          <p:nvPr/>
        </p:nvSpPr>
        <p:spPr>
          <a:xfrm>
            <a:off x="6477000" y="4800600"/>
            <a:ext cx="1600200" cy="482600"/>
          </a:xfrm>
          <a:prstGeom prst="roundRect">
            <a:avLst/>
          </a:prstGeom>
          <a:solidFill>
            <a:srgbClr val="FFFFF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5E8AE53-7B02-FBEE-05C4-C7867AB2A7C5}"/>
              </a:ext>
            </a:extLst>
          </p:cNvPr>
          <p:cNvSpPr txBox="1"/>
          <p:nvPr/>
        </p:nvSpPr>
        <p:spPr>
          <a:xfrm>
            <a:off x="6527800" y="4838700"/>
            <a:ext cx="1498600" cy="381000"/>
          </a:xfrm>
          <a:prstGeom prst="rect">
            <a:avLst/>
          </a:prstGeom>
          <a:noFill/>
        </p:spPr>
        <p:txBody>
          <a:bodyPr vert="horz" wrap="square" lIns="50800" tIns="25400" rIns="50800" bIns="25400" rtlCol="0" anchor="ctr">
            <a:noAutofit/>
          </a:bodyPr>
          <a:lstStyle/>
          <a:p>
            <a:pPr algn="ctr"/>
            <a:r>
              <a:rPr lang="en-US" sz="950" b="1">
                <a:solidFill>
                  <a:srgbClr val="0B1536"/>
                </a:solidFill>
                <a:latin typeface="Segoe UI" panose="020B0502040204020203" pitchFamily="34" charset="0"/>
              </a:rPr>
              <a:t>Return if needed</a:t>
            </a:r>
          </a:p>
        </p:txBody>
      </p:sp>
      <p:sp>
        <p:nvSpPr>
          <p:cNvPr id="46" name="TextBox 45">
            <a:extLst>
              <a:ext uri="{FF2B5EF4-FFF2-40B4-BE49-F238E27FC236}">
                <a16:creationId xmlns:a16="http://schemas.microsoft.com/office/drawing/2014/main" id="{AFE4A29F-88BC-B525-E51F-ABBE71319EA9}"/>
              </a:ext>
            </a:extLst>
          </p:cNvPr>
          <p:cNvSpPr txBox="1"/>
          <p:nvPr/>
        </p:nvSpPr>
        <p:spPr>
          <a:xfrm>
            <a:off x="2717800" y="5372100"/>
            <a:ext cx="8509000" cy="355600"/>
          </a:xfrm>
          <a:prstGeom prst="rect">
            <a:avLst/>
          </a:prstGeom>
          <a:noFill/>
        </p:spPr>
        <p:txBody>
          <a:bodyPr vert="horz" wrap="square" lIns="50800" tIns="25400" rIns="50800" bIns="25400" rtlCol="0" anchor="t">
            <a:noAutofit/>
          </a:bodyPr>
          <a:lstStyle/>
          <a:p>
            <a:r>
              <a:rPr lang="en-US" sz="950">
                <a:solidFill>
                  <a:srgbClr val="667085"/>
                </a:solidFill>
                <a:latin typeface="Segoe UI" panose="020B0502040204020203" pitchFamily="34" charset="0"/>
              </a:rPr>
              <a:t>Confirmed sale consumes FIFO; damaged returns are logged in and out.</a:t>
            </a:r>
          </a:p>
        </p:txBody>
      </p:sp>
      <p:sp>
        <p:nvSpPr>
          <p:cNvPr id="47" name="TextBox 46">
            <a:extLst>
              <a:ext uri="{FF2B5EF4-FFF2-40B4-BE49-F238E27FC236}">
                <a16:creationId xmlns:a16="http://schemas.microsoft.com/office/drawing/2014/main" id="{D249FE7F-4C57-9A0D-B0F5-7AD318BE7D69}"/>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8" name="TextBox 47">
            <a:extLst>
              <a:ext uri="{FF2B5EF4-FFF2-40B4-BE49-F238E27FC236}">
                <a16:creationId xmlns:a16="http://schemas.microsoft.com/office/drawing/2014/main" id="{70F7E931-476A-E6E3-EB52-DDA9C6E91AB7}"/>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9</a:t>
            </a:r>
          </a:p>
        </p:txBody>
      </p:sp>
    </p:spTree>
    <p:extLst>
      <p:ext uri="{BB962C8B-B14F-4D97-AF65-F5344CB8AC3E}">
        <p14:creationId xmlns:p14="http://schemas.microsoft.com/office/powerpoint/2010/main" val="796175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F2DD71-BDF7-53C6-A554-E9AE5BD558FC}"/>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DETERMINISTIC ANALYTICS</a:t>
            </a:r>
          </a:p>
        </p:txBody>
      </p:sp>
      <p:sp>
        <p:nvSpPr>
          <p:cNvPr id="3" name="TextBox 2">
            <a:extLst>
              <a:ext uri="{FF2B5EF4-FFF2-40B4-BE49-F238E27FC236}">
                <a16:creationId xmlns:a16="http://schemas.microsoft.com/office/drawing/2014/main" id="{2276E1FC-323D-6B2D-3A59-E2ADE4ED8A57}"/>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Analytics turns inventory into management questions</a:t>
            </a:r>
          </a:p>
        </p:txBody>
      </p:sp>
      <p:sp>
        <p:nvSpPr>
          <p:cNvPr id="4" name="TextBox 3">
            <a:extLst>
              <a:ext uri="{FF2B5EF4-FFF2-40B4-BE49-F238E27FC236}">
                <a16:creationId xmlns:a16="http://schemas.microsoft.com/office/drawing/2014/main" id="{4A700FE3-45BC-5D0F-2BEF-9D7CC3792F1E}"/>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Calculated on request from stock and sales history - read-only, transparent and independent of ML.</a:t>
            </a:r>
          </a:p>
        </p:txBody>
      </p:sp>
      <p:sp>
        <p:nvSpPr>
          <p:cNvPr id="5" name="Rectangle: Rounded Corners 4">
            <a:extLst>
              <a:ext uri="{FF2B5EF4-FFF2-40B4-BE49-F238E27FC236}">
                <a16:creationId xmlns:a16="http://schemas.microsoft.com/office/drawing/2014/main" id="{7055CBCE-DA8F-09DF-B0C7-002B3F7E68C5}"/>
              </a:ext>
            </a:extLst>
          </p:cNvPr>
          <p:cNvSpPr/>
          <p:nvPr/>
        </p:nvSpPr>
        <p:spPr>
          <a:xfrm>
            <a:off x="609600" y="18034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0CDF50D-EEAA-1ECD-2B93-12B8125522C5}"/>
              </a:ext>
            </a:extLst>
          </p:cNvPr>
          <p:cNvSpPr/>
          <p:nvPr/>
        </p:nvSpPr>
        <p:spPr>
          <a:xfrm>
            <a:off x="787400" y="1993900"/>
            <a:ext cx="431800" cy="4318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E8CB7E8-423D-71CB-EC5A-9C684A2F8F08}"/>
              </a:ext>
            </a:extLst>
          </p:cNvPr>
          <p:cNvSpPr txBox="1"/>
          <p:nvPr/>
        </p:nvSpPr>
        <p:spPr>
          <a:xfrm>
            <a:off x="787400" y="1993900"/>
            <a:ext cx="431800" cy="4318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V</a:t>
            </a:r>
          </a:p>
        </p:txBody>
      </p:sp>
      <p:sp>
        <p:nvSpPr>
          <p:cNvPr id="8" name="TextBox 7">
            <a:extLst>
              <a:ext uri="{FF2B5EF4-FFF2-40B4-BE49-F238E27FC236}">
                <a16:creationId xmlns:a16="http://schemas.microsoft.com/office/drawing/2014/main" id="{0DFCE91C-D282-3AF0-BEC0-17875FEFF135}"/>
              </a:ext>
            </a:extLst>
          </p:cNvPr>
          <p:cNvSpPr txBox="1"/>
          <p:nvPr/>
        </p:nvSpPr>
        <p:spPr>
          <a:xfrm>
            <a:off x="1346200" y="19812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Daily velocity</a:t>
            </a:r>
          </a:p>
        </p:txBody>
      </p:sp>
      <p:sp>
        <p:nvSpPr>
          <p:cNvPr id="9" name="TextBox 8">
            <a:extLst>
              <a:ext uri="{FF2B5EF4-FFF2-40B4-BE49-F238E27FC236}">
                <a16:creationId xmlns:a16="http://schemas.microsoft.com/office/drawing/2014/main" id="{26CAAA71-7336-17BD-452B-22DE743C5057}"/>
              </a:ext>
            </a:extLst>
          </p:cNvPr>
          <p:cNvSpPr txBox="1"/>
          <p:nvPr/>
        </p:nvSpPr>
        <p:spPr>
          <a:xfrm>
            <a:off x="825500" y="25908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How quickly does it sell?</a:t>
            </a:r>
          </a:p>
        </p:txBody>
      </p:sp>
      <p:sp>
        <p:nvSpPr>
          <p:cNvPr id="10" name="Rectangle: Rounded Corners 9">
            <a:extLst>
              <a:ext uri="{FF2B5EF4-FFF2-40B4-BE49-F238E27FC236}">
                <a16:creationId xmlns:a16="http://schemas.microsoft.com/office/drawing/2014/main" id="{07C7DFE0-9C57-AED2-5213-B3ECC7347591}"/>
              </a:ext>
            </a:extLst>
          </p:cNvPr>
          <p:cNvSpPr/>
          <p:nvPr/>
        </p:nvSpPr>
        <p:spPr>
          <a:xfrm>
            <a:off x="3429000" y="18034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A710EF4-B987-CB8A-BEFE-86A5E0BC5983}"/>
              </a:ext>
            </a:extLst>
          </p:cNvPr>
          <p:cNvSpPr/>
          <p:nvPr/>
        </p:nvSpPr>
        <p:spPr>
          <a:xfrm>
            <a:off x="3606800" y="1993900"/>
            <a:ext cx="431800" cy="4318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BB11D42-07AE-E0CF-D486-4CEAB819F06F}"/>
              </a:ext>
            </a:extLst>
          </p:cNvPr>
          <p:cNvSpPr txBox="1"/>
          <p:nvPr/>
        </p:nvSpPr>
        <p:spPr>
          <a:xfrm>
            <a:off x="3606800" y="1993900"/>
            <a:ext cx="431800" cy="4318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D</a:t>
            </a:r>
          </a:p>
        </p:txBody>
      </p:sp>
      <p:sp>
        <p:nvSpPr>
          <p:cNvPr id="13" name="TextBox 12">
            <a:extLst>
              <a:ext uri="{FF2B5EF4-FFF2-40B4-BE49-F238E27FC236}">
                <a16:creationId xmlns:a16="http://schemas.microsoft.com/office/drawing/2014/main" id="{E9291EAE-2E47-5380-2769-9D66EE26B4B1}"/>
              </a:ext>
            </a:extLst>
          </p:cNvPr>
          <p:cNvSpPr txBox="1"/>
          <p:nvPr/>
        </p:nvSpPr>
        <p:spPr>
          <a:xfrm>
            <a:off x="4165600" y="19812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Days of stock</a:t>
            </a:r>
          </a:p>
        </p:txBody>
      </p:sp>
      <p:sp>
        <p:nvSpPr>
          <p:cNvPr id="14" name="TextBox 13">
            <a:extLst>
              <a:ext uri="{FF2B5EF4-FFF2-40B4-BE49-F238E27FC236}">
                <a16:creationId xmlns:a16="http://schemas.microsoft.com/office/drawing/2014/main" id="{D0833772-BC7C-4C1F-3E3E-55B6B497152E}"/>
              </a:ext>
            </a:extLst>
          </p:cNvPr>
          <p:cNvSpPr txBox="1"/>
          <p:nvPr/>
        </p:nvSpPr>
        <p:spPr>
          <a:xfrm>
            <a:off x="3644900" y="25908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How long until run-out?</a:t>
            </a:r>
          </a:p>
        </p:txBody>
      </p:sp>
      <p:sp>
        <p:nvSpPr>
          <p:cNvPr id="15" name="Rectangle: Rounded Corners 14">
            <a:extLst>
              <a:ext uri="{FF2B5EF4-FFF2-40B4-BE49-F238E27FC236}">
                <a16:creationId xmlns:a16="http://schemas.microsoft.com/office/drawing/2014/main" id="{B5217142-38B8-B11F-13AB-FE30404EB734}"/>
              </a:ext>
            </a:extLst>
          </p:cNvPr>
          <p:cNvSpPr/>
          <p:nvPr/>
        </p:nvSpPr>
        <p:spPr>
          <a:xfrm>
            <a:off x="6248400" y="18034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8BCB45F-EEA2-CF6C-9015-7D96551B8F84}"/>
              </a:ext>
            </a:extLst>
          </p:cNvPr>
          <p:cNvSpPr/>
          <p:nvPr/>
        </p:nvSpPr>
        <p:spPr>
          <a:xfrm>
            <a:off x="6426200" y="1993900"/>
            <a:ext cx="431800" cy="4318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1A37F08-F5B7-6562-83F6-29C1CDDC82E3}"/>
              </a:ext>
            </a:extLst>
          </p:cNvPr>
          <p:cNvSpPr txBox="1"/>
          <p:nvPr/>
        </p:nvSpPr>
        <p:spPr>
          <a:xfrm>
            <a:off x="6426200" y="1993900"/>
            <a:ext cx="431800" cy="4318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T</a:t>
            </a:r>
          </a:p>
        </p:txBody>
      </p:sp>
      <p:sp>
        <p:nvSpPr>
          <p:cNvPr id="18" name="TextBox 17">
            <a:extLst>
              <a:ext uri="{FF2B5EF4-FFF2-40B4-BE49-F238E27FC236}">
                <a16:creationId xmlns:a16="http://schemas.microsoft.com/office/drawing/2014/main" id="{42863686-576B-9C44-8EA7-EB72AEA2B2F1}"/>
              </a:ext>
            </a:extLst>
          </p:cNvPr>
          <p:cNvSpPr txBox="1"/>
          <p:nvPr/>
        </p:nvSpPr>
        <p:spPr>
          <a:xfrm>
            <a:off x="6985000" y="19812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Turnover</a:t>
            </a:r>
          </a:p>
        </p:txBody>
      </p:sp>
      <p:sp>
        <p:nvSpPr>
          <p:cNvPr id="19" name="TextBox 18">
            <a:extLst>
              <a:ext uri="{FF2B5EF4-FFF2-40B4-BE49-F238E27FC236}">
                <a16:creationId xmlns:a16="http://schemas.microsoft.com/office/drawing/2014/main" id="{68D32351-17DA-B3F6-D9C3-7DDA20500820}"/>
              </a:ext>
            </a:extLst>
          </p:cNvPr>
          <p:cNvSpPr txBox="1"/>
          <p:nvPr/>
        </p:nvSpPr>
        <p:spPr>
          <a:xfrm>
            <a:off x="6464300" y="25908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How productively is stock used?</a:t>
            </a:r>
          </a:p>
        </p:txBody>
      </p:sp>
      <p:sp>
        <p:nvSpPr>
          <p:cNvPr id="20" name="Rectangle: Rounded Corners 19">
            <a:extLst>
              <a:ext uri="{FF2B5EF4-FFF2-40B4-BE49-F238E27FC236}">
                <a16:creationId xmlns:a16="http://schemas.microsoft.com/office/drawing/2014/main" id="{A8C12600-0B14-8764-02E7-2544BF674CB0}"/>
              </a:ext>
            </a:extLst>
          </p:cNvPr>
          <p:cNvSpPr/>
          <p:nvPr/>
        </p:nvSpPr>
        <p:spPr>
          <a:xfrm>
            <a:off x="9067800" y="18034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917065-CF14-8EE5-DD0C-56FEAA99CB7D}"/>
              </a:ext>
            </a:extLst>
          </p:cNvPr>
          <p:cNvSpPr/>
          <p:nvPr/>
        </p:nvSpPr>
        <p:spPr>
          <a:xfrm>
            <a:off x="9245600" y="1993900"/>
            <a:ext cx="431800" cy="4318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D776F82-B02C-C826-4284-AA2DE90AA24A}"/>
              </a:ext>
            </a:extLst>
          </p:cNvPr>
          <p:cNvSpPr txBox="1"/>
          <p:nvPr/>
        </p:nvSpPr>
        <p:spPr>
          <a:xfrm>
            <a:off x="9245600" y="1993900"/>
            <a:ext cx="431800" cy="4318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A</a:t>
            </a:r>
          </a:p>
        </p:txBody>
      </p:sp>
      <p:sp>
        <p:nvSpPr>
          <p:cNvPr id="23" name="TextBox 22">
            <a:extLst>
              <a:ext uri="{FF2B5EF4-FFF2-40B4-BE49-F238E27FC236}">
                <a16:creationId xmlns:a16="http://schemas.microsoft.com/office/drawing/2014/main" id="{01BD2572-45CB-A0BD-D631-EE5A4559482D}"/>
              </a:ext>
            </a:extLst>
          </p:cNvPr>
          <p:cNvSpPr txBox="1"/>
          <p:nvPr/>
        </p:nvSpPr>
        <p:spPr>
          <a:xfrm>
            <a:off x="9804400" y="19812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Stock age</a:t>
            </a:r>
          </a:p>
        </p:txBody>
      </p:sp>
      <p:sp>
        <p:nvSpPr>
          <p:cNvPr id="24" name="TextBox 23">
            <a:extLst>
              <a:ext uri="{FF2B5EF4-FFF2-40B4-BE49-F238E27FC236}">
                <a16:creationId xmlns:a16="http://schemas.microsoft.com/office/drawing/2014/main" id="{F6CB9EE3-93E7-749E-9D04-8D0307242FF5}"/>
              </a:ext>
            </a:extLst>
          </p:cNvPr>
          <p:cNvSpPr txBox="1"/>
          <p:nvPr/>
        </p:nvSpPr>
        <p:spPr>
          <a:xfrm>
            <a:off x="9283700" y="25908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How long has cash been sitting?</a:t>
            </a:r>
          </a:p>
        </p:txBody>
      </p:sp>
      <p:sp>
        <p:nvSpPr>
          <p:cNvPr id="25" name="Rectangle: Rounded Corners 24">
            <a:extLst>
              <a:ext uri="{FF2B5EF4-FFF2-40B4-BE49-F238E27FC236}">
                <a16:creationId xmlns:a16="http://schemas.microsoft.com/office/drawing/2014/main" id="{E20E4109-9C66-7BB2-6BB6-161A28FEADB1}"/>
              </a:ext>
            </a:extLst>
          </p:cNvPr>
          <p:cNvSpPr/>
          <p:nvPr/>
        </p:nvSpPr>
        <p:spPr>
          <a:xfrm>
            <a:off x="2019300" y="36068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466E24E-4ADF-450D-3507-27D3E108319C}"/>
              </a:ext>
            </a:extLst>
          </p:cNvPr>
          <p:cNvSpPr/>
          <p:nvPr/>
        </p:nvSpPr>
        <p:spPr>
          <a:xfrm>
            <a:off x="2197100" y="3797300"/>
            <a:ext cx="431800" cy="4318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A2E7F0C-5AB5-7F91-C365-C322CDFD9BFC}"/>
              </a:ext>
            </a:extLst>
          </p:cNvPr>
          <p:cNvSpPr txBox="1"/>
          <p:nvPr/>
        </p:nvSpPr>
        <p:spPr>
          <a:xfrm>
            <a:off x="2197100" y="3797300"/>
            <a:ext cx="431800" cy="4318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ABC</a:t>
            </a:r>
          </a:p>
        </p:txBody>
      </p:sp>
      <p:sp>
        <p:nvSpPr>
          <p:cNvPr id="28" name="TextBox 27">
            <a:extLst>
              <a:ext uri="{FF2B5EF4-FFF2-40B4-BE49-F238E27FC236}">
                <a16:creationId xmlns:a16="http://schemas.microsoft.com/office/drawing/2014/main" id="{C55B2331-F3B4-3E8E-15D8-823EE6DAAA51}"/>
              </a:ext>
            </a:extLst>
          </p:cNvPr>
          <p:cNvSpPr txBox="1"/>
          <p:nvPr/>
        </p:nvSpPr>
        <p:spPr>
          <a:xfrm>
            <a:off x="2755900" y="37846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Revenue tier</a:t>
            </a:r>
          </a:p>
        </p:txBody>
      </p:sp>
      <p:sp>
        <p:nvSpPr>
          <p:cNvPr id="29" name="TextBox 28">
            <a:extLst>
              <a:ext uri="{FF2B5EF4-FFF2-40B4-BE49-F238E27FC236}">
                <a16:creationId xmlns:a16="http://schemas.microsoft.com/office/drawing/2014/main" id="{CB7BA03B-6BFA-B186-B53A-80366B4909EA}"/>
              </a:ext>
            </a:extLst>
          </p:cNvPr>
          <p:cNvSpPr txBox="1"/>
          <p:nvPr/>
        </p:nvSpPr>
        <p:spPr>
          <a:xfrm>
            <a:off x="2235200" y="43942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Which items matter most to revenue?</a:t>
            </a:r>
          </a:p>
        </p:txBody>
      </p:sp>
      <p:sp>
        <p:nvSpPr>
          <p:cNvPr id="30" name="Rectangle: Rounded Corners 29">
            <a:extLst>
              <a:ext uri="{FF2B5EF4-FFF2-40B4-BE49-F238E27FC236}">
                <a16:creationId xmlns:a16="http://schemas.microsoft.com/office/drawing/2014/main" id="{C6E0963E-7E81-F2F9-C7B0-451572D261A9}"/>
              </a:ext>
            </a:extLst>
          </p:cNvPr>
          <p:cNvSpPr/>
          <p:nvPr/>
        </p:nvSpPr>
        <p:spPr>
          <a:xfrm>
            <a:off x="4838700" y="36068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ECD933E-EE01-C2C5-80B8-6B8FCBEADC6D}"/>
              </a:ext>
            </a:extLst>
          </p:cNvPr>
          <p:cNvSpPr/>
          <p:nvPr/>
        </p:nvSpPr>
        <p:spPr>
          <a:xfrm>
            <a:off x="5016500" y="3797300"/>
            <a:ext cx="431800" cy="4318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0047C6A-43BA-ACE8-B16D-66B3BC2352EC}"/>
              </a:ext>
            </a:extLst>
          </p:cNvPr>
          <p:cNvSpPr txBox="1"/>
          <p:nvPr/>
        </p:nvSpPr>
        <p:spPr>
          <a:xfrm>
            <a:off x="5016500" y="3797300"/>
            <a:ext cx="431800" cy="4318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SPD</a:t>
            </a:r>
          </a:p>
        </p:txBody>
      </p:sp>
      <p:sp>
        <p:nvSpPr>
          <p:cNvPr id="33" name="TextBox 32">
            <a:extLst>
              <a:ext uri="{FF2B5EF4-FFF2-40B4-BE49-F238E27FC236}">
                <a16:creationId xmlns:a16="http://schemas.microsoft.com/office/drawing/2014/main" id="{44207A9D-AA69-D9A9-E066-B81CA9E3C598}"/>
              </a:ext>
            </a:extLst>
          </p:cNvPr>
          <p:cNvSpPr txBox="1"/>
          <p:nvPr/>
        </p:nvSpPr>
        <p:spPr>
          <a:xfrm>
            <a:off x="5575300" y="37846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Movement class</a:t>
            </a:r>
          </a:p>
        </p:txBody>
      </p:sp>
      <p:sp>
        <p:nvSpPr>
          <p:cNvPr id="34" name="TextBox 33">
            <a:extLst>
              <a:ext uri="{FF2B5EF4-FFF2-40B4-BE49-F238E27FC236}">
                <a16:creationId xmlns:a16="http://schemas.microsoft.com/office/drawing/2014/main" id="{C824FBD0-0D46-B4D3-2001-0FD270B46DC2}"/>
              </a:ext>
            </a:extLst>
          </p:cNvPr>
          <p:cNvSpPr txBox="1"/>
          <p:nvPr/>
        </p:nvSpPr>
        <p:spPr>
          <a:xfrm>
            <a:off x="5054600" y="43942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Fast, slow or dead mover?</a:t>
            </a:r>
          </a:p>
        </p:txBody>
      </p:sp>
      <p:sp>
        <p:nvSpPr>
          <p:cNvPr id="35" name="Rectangle: Rounded Corners 34">
            <a:extLst>
              <a:ext uri="{FF2B5EF4-FFF2-40B4-BE49-F238E27FC236}">
                <a16:creationId xmlns:a16="http://schemas.microsoft.com/office/drawing/2014/main" id="{08719135-84AF-A86E-1F85-6F902AA0363C}"/>
              </a:ext>
            </a:extLst>
          </p:cNvPr>
          <p:cNvSpPr/>
          <p:nvPr/>
        </p:nvSpPr>
        <p:spPr>
          <a:xfrm>
            <a:off x="7658100" y="3606800"/>
            <a:ext cx="2514600" cy="1422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FD74981-9C45-A7CD-4C77-494EC4E1B8F1}"/>
              </a:ext>
            </a:extLst>
          </p:cNvPr>
          <p:cNvSpPr/>
          <p:nvPr/>
        </p:nvSpPr>
        <p:spPr>
          <a:xfrm>
            <a:off x="7835900" y="3797300"/>
            <a:ext cx="431800" cy="431800"/>
          </a:xfrm>
          <a:prstGeom prst="ellipse">
            <a:avLst/>
          </a:prstGeom>
          <a:solidFill>
            <a:srgbClr val="E548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1C9D012-E9F3-8ADB-E8C7-9DB6E84A22AB}"/>
              </a:ext>
            </a:extLst>
          </p:cNvPr>
          <p:cNvSpPr txBox="1"/>
          <p:nvPr/>
        </p:nvSpPr>
        <p:spPr>
          <a:xfrm>
            <a:off x="7835900" y="3797300"/>
            <a:ext cx="431800" cy="4318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ROP</a:t>
            </a:r>
          </a:p>
        </p:txBody>
      </p:sp>
      <p:sp>
        <p:nvSpPr>
          <p:cNvPr id="38" name="TextBox 37">
            <a:extLst>
              <a:ext uri="{FF2B5EF4-FFF2-40B4-BE49-F238E27FC236}">
                <a16:creationId xmlns:a16="http://schemas.microsoft.com/office/drawing/2014/main" id="{FAE6A94A-948A-17B3-2B68-B23C0EA48D37}"/>
              </a:ext>
            </a:extLst>
          </p:cNvPr>
          <p:cNvSpPr txBox="1"/>
          <p:nvPr/>
        </p:nvSpPr>
        <p:spPr>
          <a:xfrm>
            <a:off x="8394700" y="3784600"/>
            <a:ext cx="1600200" cy="4445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Reorder point</a:t>
            </a:r>
          </a:p>
        </p:txBody>
      </p:sp>
      <p:sp>
        <p:nvSpPr>
          <p:cNvPr id="39" name="TextBox 38">
            <a:extLst>
              <a:ext uri="{FF2B5EF4-FFF2-40B4-BE49-F238E27FC236}">
                <a16:creationId xmlns:a16="http://schemas.microsoft.com/office/drawing/2014/main" id="{71AACA4F-F452-A2BA-F568-3EDE3D8BBBF7}"/>
              </a:ext>
            </a:extLst>
          </p:cNvPr>
          <p:cNvSpPr txBox="1"/>
          <p:nvPr/>
        </p:nvSpPr>
        <p:spPr>
          <a:xfrm>
            <a:off x="7874000" y="4394200"/>
            <a:ext cx="2082800" cy="482600"/>
          </a:xfrm>
          <a:prstGeom prst="rect">
            <a:avLst/>
          </a:prstGeom>
          <a:noFill/>
        </p:spPr>
        <p:txBody>
          <a:bodyPr vert="horz" wrap="square" lIns="50800" tIns="25400" rIns="50800" bIns="25400" rtlCol="0" anchor="t">
            <a:noAutofit/>
          </a:bodyPr>
          <a:lstStyle/>
          <a:p>
            <a:pPr algn="ctr"/>
            <a:r>
              <a:rPr lang="en-US" sz="950">
                <a:solidFill>
                  <a:srgbClr val="667085"/>
                </a:solidFill>
                <a:latin typeface="Segoe UI" panose="020B0502040204020203" pitchFamily="34" charset="0"/>
              </a:rPr>
              <a:t>Will available stock cover lead time + safety?</a:t>
            </a:r>
          </a:p>
        </p:txBody>
      </p:sp>
      <p:sp>
        <p:nvSpPr>
          <p:cNvPr id="40" name="Rectangle: Rounded Corners 39">
            <a:extLst>
              <a:ext uri="{FF2B5EF4-FFF2-40B4-BE49-F238E27FC236}">
                <a16:creationId xmlns:a16="http://schemas.microsoft.com/office/drawing/2014/main" id="{D4B6F48B-37AA-0BB6-F6C9-52986A637E5C}"/>
              </a:ext>
            </a:extLst>
          </p:cNvPr>
          <p:cNvSpPr/>
          <p:nvPr/>
        </p:nvSpPr>
        <p:spPr>
          <a:xfrm>
            <a:off x="1612900" y="5562600"/>
            <a:ext cx="8966200" cy="431800"/>
          </a:xfrm>
          <a:prstGeom prst="roundRect">
            <a:avLst/>
          </a:prstGeom>
          <a:solidFill>
            <a:srgbClr val="0B1536"/>
          </a:solidFill>
          <a:ln w="12700">
            <a:solidFill>
              <a:srgbClr val="0B15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66CF66C5-FA0A-7C55-D336-0855F9F3B973}"/>
              </a:ext>
            </a:extLst>
          </p:cNvPr>
          <p:cNvSpPr txBox="1"/>
          <p:nvPr/>
        </p:nvSpPr>
        <p:spPr>
          <a:xfrm>
            <a:off x="1612900" y="5562600"/>
            <a:ext cx="8966200" cy="4318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Filters: warehouse | category | SKU | ABC | mover | reorder need | lookback | safety days</a:t>
            </a:r>
          </a:p>
        </p:txBody>
      </p:sp>
      <p:sp>
        <p:nvSpPr>
          <p:cNvPr id="42" name="TextBox 41">
            <a:extLst>
              <a:ext uri="{FF2B5EF4-FFF2-40B4-BE49-F238E27FC236}">
                <a16:creationId xmlns:a16="http://schemas.microsoft.com/office/drawing/2014/main" id="{1CAEBAAE-F68C-D3F8-3175-3B777B4048E7}"/>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3" name="TextBox 42">
            <a:extLst>
              <a:ext uri="{FF2B5EF4-FFF2-40B4-BE49-F238E27FC236}">
                <a16:creationId xmlns:a16="http://schemas.microsoft.com/office/drawing/2014/main" id="{ADA254B6-5830-9EDC-7ECB-B71421594784}"/>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10</a:t>
            </a:r>
          </a:p>
        </p:txBody>
      </p:sp>
    </p:spTree>
    <p:extLst>
      <p:ext uri="{BB962C8B-B14F-4D97-AF65-F5344CB8AC3E}">
        <p14:creationId xmlns:p14="http://schemas.microsoft.com/office/powerpoint/2010/main" val="395832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0568E6-69FF-00E2-0EA2-4E3F83793320}"/>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PROCESS INFOGRAPHIC</a:t>
            </a:r>
          </a:p>
        </p:txBody>
      </p:sp>
      <p:sp>
        <p:nvSpPr>
          <p:cNvPr id="3" name="TextBox 2">
            <a:extLst>
              <a:ext uri="{FF2B5EF4-FFF2-40B4-BE49-F238E27FC236}">
                <a16:creationId xmlns:a16="http://schemas.microsoft.com/office/drawing/2014/main" id="{E09DB09A-F845-A6A3-2084-C5F9E1A0FFC3}"/>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How the forecast is produced today</a:t>
            </a:r>
          </a:p>
        </p:txBody>
      </p:sp>
      <p:sp>
        <p:nvSpPr>
          <p:cNvPr id="4" name="TextBox 3">
            <a:extLst>
              <a:ext uri="{FF2B5EF4-FFF2-40B4-BE49-F238E27FC236}">
                <a16:creationId xmlns:a16="http://schemas.microsoft.com/office/drawing/2014/main" id="{1C2B042B-AFE2-B27E-4436-B340D4C320ED}"/>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The system chooses the demand source and algorithm per SKU, records what actually ran, and scores it after the horizon closes.</a:t>
            </a:r>
          </a:p>
        </p:txBody>
      </p:sp>
      <p:cxnSp>
        <p:nvCxnSpPr>
          <p:cNvPr id="5" name="Straight Connector 4">
            <a:extLst>
              <a:ext uri="{FF2B5EF4-FFF2-40B4-BE49-F238E27FC236}">
                <a16:creationId xmlns:a16="http://schemas.microsoft.com/office/drawing/2014/main" id="{88502412-40EB-50B9-A026-EC43ED231B40}"/>
              </a:ext>
            </a:extLst>
          </p:cNvPr>
          <p:cNvCxnSpPr/>
          <p:nvPr/>
        </p:nvCxnSpPr>
        <p:spPr>
          <a:xfrm>
            <a:off x="2146300" y="3594100"/>
            <a:ext cx="114300" cy="0"/>
          </a:xfrm>
          <a:prstGeom prst="line">
            <a:avLst/>
          </a:prstGeom>
          <a:ln w="2921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2BFAF0D0-5037-A23E-187A-BA011F10499E}"/>
              </a:ext>
            </a:extLst>
          </p:cNvPr>
          <p:cNvSpPr/>
          <p:nvPr/>
        </p:nvSpPr>
        <p:spPr>
          <a:xfrm>
            <a:off x="457200" y="1968500"/>
            <a:ext cx="1676400" cy="32385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F1BE8B0-7A73-CDD1-EA85-3070EC17CF73}"/>
              </a:ext>
            </a:extLst>
          </p:cNvPr>
          <p:cNvSpPr/>
          <p:nvPr/>
        </p:nvSpPr>
        <p:spPr>
          <a:xfrm>
            <a:off x="1054100" y="2184400"/>
            <a:ext cx="482600" cy="4826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C410AEE-E8C6-9342-88E1-AE35FA0A2FC6}"/>
              </a:ext>
            </a:extLst>
          </p:cNvPr>
          <p:cNvSpPr txBox="1"/>
          <p:nvPr/>
        </p:nvSpPr>
        <p:spPr>
          <a:xfrm>
            <a:off x="10541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1</a:t>
            </a:r>
          </a:p>
        </p:txBody>
      </p:sp>
      <p:sp>
        <p:nvSpPr>
          <p:cNvPr id="9" name="TextBox 8">
            <a:extLst>
              <a:ext uri="{FF2B5EF4-FFF2-40B4-BE49-F238E27FC236}">
                <a16:creationId xmlns:a16="http://schemas.microsoft.com/office/drawing/2014/main" id="{283EC2D0-B1EE-3337-C40C-F3D1473FF876}"/>
              </a:ext>
            </a:extLst>
          </p:cNvPr>
          <p:cNvSpPr txBox="1"/>
          <p:nvPr/>
        </p:nvSpPr>
        <p:spPr>
          <a:xfrm>
            <a:off x="5842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1769E0"/>
                </a:solidFill>
                <a:latin typeface="Segoe UI" panose="020B0502040204020203" pitchFamily="34" charset="0"/>
              </a:rPr>
              <a:t>INPUTS</a:t>
            </a:r>
          </a:p>
        </p:txBody>
      </p:sp>
      <p:sp>
        <p:nvSpPr>
          <p:cNvPr id="10" name="TextBox 9">
            <a:extLst>
              <a:ext uri="{FF2B5EF4-FFF2-40B4-BE49-F238E27FC236}">
                <a16:creationId xmlns:a16="http://schemas.microsoft.com/office/drawing/2014/main" id="{B877F16E-F156-6B39-9C2F-74A25AD4396A}"/>
              </a:ext>
            </a:extLst>
          </p:cNvPr>
          <p:cNvSpPr txBox="1"/>
          <p:nvPr/>
        </p:nvSpPr>
        <p:spPr>
          <a:xfrm>
            <a:off x="5842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Daily demand</a:t>
            </a:r>
          </a:p>
          <a:p>
            <a:pPr algn="ctr"/>
            <a:r>
              <a:rPr lang="en-US" sz="950">
                <a:solidFill>
                  <a:srgbClr val="344054"/>
                </a:solidFill>
                <a:latin typeface="Segoe UI" panose="020B0502040204020203" pitchFamily="34" charset="0"/>
              </a:rPr>
              <a:t>Stockouts</a:t>
            </a:r>
          </a:p>
          <a:p>
            <a:pPr algn="ctr"/>
            <a:r>
              <a:rPr lang="en-US" sz="950">
                <a:solidFill>
                  <a:srgbClr val="344054"/>
                </a:solidFill>
                <a:latin typeface="Segoe UI" panose="020B0502040204020203" pitchFamily="34" charset="0"/>
              </a:rPr>
              <a:t>Price &amp; promotion</a:t>
            </a:r>
          </a:p>
          <a:p>
            <a:pPr algn="ctr"/>
            <a:r>
              <a:rPr lang="en-US" sz="950">
                <a:solidFill>
                  <a:srgbClr val="344054"/>
                </a:solidFill>
                <a:latin typeface="Segoe UI" panose="020B0502040204020203" pitchFamily="34" charset="0"/>
              </a:rPr>
              <a:t>SKU metadata</a:t>
            </a:r>
          </a:p>
        </p:txBody>
      </p:sp>
      <p:cxnSp>
        <p:nvCxnSpPr>
          <p:cNvPr id="11" name="Straight Connector 10">
            <a:extLst>
              <a:ext uri="{FF2B5EF4-FFF2-40B4-BE49-F238E27FC236}">
                <a16:creationId xmlns:a16="http://schemas.microsoft.com/office/drawing/2014/main" id="{2B5A6B55-8F5F-DFE6-0283-AAE11D96218F}"/>
              </a:ext>
            </a:extLst>
          </p:cNvPr>
          <p:cNvCxnSpPr/>
          <p:nvPr/>
        </p:nvCxnSpPr>
        <p:spPr>
          <a:xfrm>
            <a:off x="4038600" y="3594100"/>
            <a:ext cx="114300" cy="0"/>
          </a:xfrm>
          <a:prstGeom prst="line">
            <a:avLst/>
          </a:prstGeom>
          <a:ln w="2921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E1F4AAED-0B0D-02B5-8680-8CD75F981D08}"/>
              </a:ext>
            </a:extLst>
          </p:cNvPr>
          <p:cNvSpPr/>
          <p:nvPr/>
        </p:nvSpPr>
        <p:spPr>
          <a:xfrm>
            <a:off x="2349500" y="1968500"/>
            <a:ext cx="1676400" cy="3238500"/>
          </a:xfrm>
          <a:prstGeom prst="roundRect">
            <a:avLst/>
          </a:prstGeom>
          <a:solidFill>
            <a:srgbClr val="FFFFFF"/>
          </a:solidFill>
          <a:ln w="12700">
            <a:solidFill>
              <a:srgbClr val="078A99"/>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DEC8B5A-AE6E-0814-2164-706E1D4B3039}"/>
              </a:ext>
            </a:extLst>
          </p:cNvPr>
          <p:cNvSpPr/>
          <p:nvPr/>
        </p:nvSpPr>
        <p:spPr>
          <a:xfrm>
            <a:off x="2946400" y="2184400"/>
            <a:ext cx="482600" cy="4826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F4507B8-DE22-5843-DFEB-D997A4B6E2EA}"/>
              </a:ext>
            </a:extLst>
          </p:cNvPr>
          <p:cNvSpPr txBox="1"/>
          <p:nvPr/>
        </p:nvSpPr>
        <p:spPr>
          <a:xfrm>
            <a:off x="29464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2</a:t>
            </a:r>
          </a:p>
        </p:txBody>
      </p:sp>
      <p:sp>
        <p:nvSpPr>
          <p:cNvPr id="15" name="TextBox 14">
            <a:extLst>
              <a:ext uri="{FF2B5EF4-FFF2-40B4-BE49-F238E27FC236}">
                <a16:creationId xmlns:a16="http://schemas.microsoft.com/office/drawing/2014/main" id="{018CB5E0-63B9-536C-352C-6C3058B809CD}"/>
              </a:ext>
            </a:extLst>
          </p:cNvPr>
          <p:cNvSpPr txBox="1"/>
          <p:nvPr/>
        </p:nvSpPr>
        <p:spPr>
          <a:xfrm>
            <a:off x="24765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078A99"/>
                </a:solidFill>
                <a:latin typeface="Segoe UI" panose="020B0502040204020203" pitchFamily="34" charset="0"/>
              </a:rPr>
              <a:t>MATURITY</a:t>
            </a:r>
          </a:p>
        </p:txBody>
      </p:sp>
      <p:sp>
        <p:nvSpPr>
          <p:cNvPr id="16" name="TextBox 15">
            <a:extLst>
              <a:ext uri="{FF2B5EF4-FFF2-40B4-BE49-F238E27FC236}">
                <a16:creationId xmlns:a16="http://schemas.microsoft.com/office/drawing/2014/main" id="{72D0B73F-BD36-BD02-3BDB-A226F229D7BD}"/>
              </a:ext>
            </a:extLst>
          </p:cNvPr>
          <p:cNvSpPr txBox="1"/>
          <p:nvPr/>
        </p:nvSpPr>
        <p:spPr>
          <a:xfrm>
            <a:off x="24765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Cold start</a:t>
            </a:r>
          </a:p>
          <a:p>
            <a:pPr algn="ctr"/>
            <a:r>
              <a:rPr lang="en-US" sz="950">
                <a:solidFill>
                  <a:srgbClr val="344054"/>
                </a:solidFill>
                <a:latin typeface="Segoe UI" panose="020B0502040204020203" pitchFamily="34" charset="0"/>
              </a:rPr>
              <a:t>Early</a:t>
            </a:r>
          </a:p>
          <a:p>
            <a:pPr algn="ctr"/>
            <a:r>
              <a:rPr lang="en-US" sz="950">
                <a:solidFill>
                  <a:srgbClr val="344054"/>
                </a:solidFill>
                <a:latin typeface="Segoe UI" panose="020B0502040204020203" pitchFamily="34" charset="0"/>
              </a:rPr>
              <a:t>Established</a:t>
            </a:r>
          </a:p>
          <a:p>
            <a:pPr algn="ctr"/>
            <a:r>
              <a:rPr lang="en-US" sz="950">
                <a:solidFill>
                  <a:srgbClr val="344054"/>
                </a:solidFill>
                <a:latin typeface="Segoe UI" panose="020B0502040204020203" pitchFamily="34" charset="0"/>
              </a:rPr>
              <a:t>Mature / declining</a:t>
            </a:r>
          </a:p>
        </p:txBody>
      </p:sp>
      <p:cxnSp>
        <p:nvCxnSpPr>
          <p:cNvPr id="17" name="Straight Connector 16">
            <a:extLst>
              <a:ext uri="{FF2B5EF4-FFF2-40B4-BE49-F238E27FC236}">
                <a16:creationId xmlns:a16="http://schemas.microsoft.com/office/drawing/2014/main" id="{96BB826F-EE37-D0F9-4A78-BA2FBB01980C}"/>
              </a:ext>
            </a:extLst>
          </p:cNvPr>
          <p:cNvCxnSpPr/>
          <p:nvPr/>
        </p:nvCxnSpPr>
        <p:spPr>
          <a:xfrm>
            <a:off x="5930900" y="3594100"/>
            <a:ext cx="114300" cy="0"/>
          </a:xfrm>
          <a:prstGeom prst="line">
            <a:avLst/>
          </a:prstGeom>
          <a:ln w="2921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FC0B8F09-1F47-7863-0582-50353FF4F06F}"/>
              </a:ext>
            </a:extLst>
          </p:cNvPr>
          <p:cNvSpPr/>
          <p:nvPr/>
        </p:nvSpPr>
        <p:spPr>
          <a:xfrm>
            <a:off x="4241800" y="1968500"/>
            <a:ext cx="1676400" cy="32385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F5CA2F1-5D73-EADA-4AC3-600650FABDB8}"/>
              </a:ext>
            </a:extLst>
          </p:cNvPr>
          <p:cNvSpPr/>
          <p:nvPr/>
        </p:nvSpPr>
        <p:spPr>
          <a:xfrm>
            <a:off x="4838700" y="2184400"/>
            <a:ext cx="482600" cy="4826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231214B-72FF-9D84-D3C4-AD3A688AF0C7}"/>
              </a:ext>
            </a:extLst>
          </p:cNvPr>
          <p:cNvSpPr txBox="1"/>
          <p:nvPr/>
        </p:nvSpPr>
        <p:spPr>
          <a:xfrm>
            <a:off x="48387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3</a:t>
            </a:r>
          </a:p>
        </p:txBody>
      </p:sp>
      <p:sp>
        <p:nvSpPr>
          <p:cNvPr id="21" name="TextBox 20">
            <a:extLst>
              <a:ext uri="{FF2B5EF4-FFF2-40B4-BE49-F238E27FC236}">
                <a16:creationId xmlns:a16="http://schemas.microsoft.com/office/drawing/2014/main" id="{11079D36-12A8-C197-014E-1CBE4550DE94}"/>
              </a:ext>
            </a:extLst>
          </p:cNvPr>
          <p:cNvSpPr txBox="1"/>
          <p:nvPr/>
        </p:nvSpPr>
        <p:spPr>
          <a:xfrm>
            <a:off x="43688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1769E0"/>
                </a:solidFill>
                <a:latin typeface="Segoe UI" panose="020B0502040204020203" pitchFamily="34" charset="0"/>
              </a:rPr>
              <a:t>SOURCE</a:t>
            </a:r>
          </a:p>
        </p:txBody>
      </p:sp>
      <p:sp>
        <p:nvSpPr>
          <p:cNvPr id="22" name="TextBox 21">
            <a:extLst>
              <a:ext uri="{FF2B5EF4-FFF2-40B4-BE49-F238E27FC236}">
                <a16:creationId xmlns:a16="http://schemas.microsoft.com/office/drawing/2014/main" id="{2B3C3764-C6F8-7981-E2B3-703908137B43}"/>
              </a:ext>
            </a:extLst>
          </p:cNvPr>
          <p:cNvSpPr txBox="1"/>
          <p:nvPr/>
        </p:nvSpPr>
        <p:spPr>
          <a:xfrm>
            <a:off x="43688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Own history</a:t>
            </a:r>
          </a:p>
          <a:p>
            <a:pPr algn="ctr"/>
            <a:r>
              <a:rPr lang="en-US" sz="950">
                <a:solidFill>
                  <a:srgbClr val="344054"/>
                </a:solidFill>
                <a:latin typeface="Segoe UI" panose="020B0502040204020203" pitchFamily="34" charset="0"/>
              </a:rPr>
              <a:t>Category + size</a:t>
            </a:r>
          </a:p>
          <a:p>
            <a:pPr algn="ctr"/>
            <a:r>
              <a:rPr lang="en-US" sz="950">
                <a:solidFill>
                  <a:srgbClr val="344054"/>
                </a:solidFill>
                <a:latin typeface="Segoe UI" panose="020B0502040204020203" pitchFamily="34" charset="0"/>
              </a:rPr>
              <a:t>Brand + category</a:t>
            </a:r>
          </a:p>
          <a:p>
            <a:pPr algn="ctr"/>
            <a:r>
              <a:rPr lang="en-US" sz="950">
                <a:solidFill>
                  <a:srgbClr val="344054"/>
                </a:solidFill>
                <a:latin typeface="Segoe UI" panose="020B0502040204020203" pitchFamily="34" charset="0"/>
              </a:rPr>
              <a:t>Category / hybrid</a:t>
            </a:r>
          </a:p>
        </p:txBody>
      </p:sp>
      <p:cxnSp>
        <p:nvCxnSpPr>
          <p:cNvPr id="23" name="Straight Connector 22">
            <a:extLst>
              <a:ext uri="{FF2B5EF4-FFF2-40B4-BE49-F238E27FC236}">
                <a16:creationId xmlns:a16="http://schemas.microsoft.com/office/drawing/2014/main" id="{BA49558F-C5AC-50ED-23F0-37D18E3C9FF3}"/>
              </a:ext>
            </a:extLst>
          </p:cNvPr>
          <p:cNvCxnSpPr/>
          <p:nvPr/>
        </p:nvCxnSpPr>
        <p:spPr>
          <a:xfrm>
            <a:off x="7823200" y="3594100"/>
            <a:ext cx="114300" cy="0"/>
          </a:xfrm>
          <a:prstGeom prst="line">
            <a:avLst/>
          </a:prstGeom>
          <a:ln w="2921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9F06D391-FA7F-503E-4D80-E49E913EA827}"/>
              </a:ext>
            </a:extLst>
          </p:cNvPr>
          <p:cNvSpPr/>
          <p:nvPr/>
        </p:nvSpPr>
        <p:spPr>
          <a:xfrm>
            <a:off x="6134100" y="1968500"/>
            <a:ext cx="1676400" cy="32385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CDC9C73-6689-7D01-DCFA-696D4AEB57F3}"/>
              </a:ext>
            </a:extLst>
          </p:cNvPr>
          <p:cNvSpPr/>
          <p:nvPr/>
        </p:nvSpPr>
        <p:spPr>
          <a:xfrm>
            <a:off x="6731000" y="2184400"/>
            <a:ext cx="482600" cy="4826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2CDDA7D-1FE7-5EE6-DF98-8FAE8A067A3F}"/>
              </a:ext>
            </a:extLst>
          </p:cNvPr>
          <p:cNvSpPr txBox="1"/>
          <p:nvPr/>
        </p:nvSpPr>
        <p:spPr>
          <a:xfrm>
            <a:off x="67310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4</a:t>
            </a:r>
          </a:p>
        </p:txBody>
      </p:sp>
      <p:sp>
        <p:nvSpPr>
          <p:cNvPr id="27" name="TextBox 26">
            <a:extLst>
              <a:ext uri="{FF2B5EF4-FFF2-40B4-BE49-F238E27FC236}">
                <a16:creationId xmlns:a16="http://schemas.microsoft.com/office/drawing/2014/main" id="{293F5275-01AD-F3F5-8829-AFD18BEC563A}"/>
              </a:ext>
            </a:extLst>
          </p:cNvPr>
          <p:cNvSpPr txBox="1"/>
          <p:nvPr/>
        </p:nvSpPr>
        <p:spPr>
          <a:xfrm>
            <a:off x="62611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6D3EF2"/>
                </a:solidFill>
                <a:latin typeface="Segoe UI" panose="020B0502040204020203" pitchFamily="34" charset="0"/>
              </a:rPr>
              <a:t>ALGORITHM</a:t>
            </a:r>
          </a:p>
        </p:txBody>
      </p:sp>
      <p:sp>
        <p:nvSpPr>
          <p:cNvPr id="28" name="TextBox 27">
            <a:extLst>
              <a:ext uri="{FF2B5EF4-FFF2-40B4-BE49-F238E27FC236}">
                <a16:creationId xmlns:a16="http://schemas.microsoft.com/office/drawing/2014/main" id="{5D1AC7F5-301F-841F-74B1-D776A5BE588B}"/>
              </a:ext>
            </a:extLst>
          </p:cNvPr>
          <p:cNvSpPr txBox="1"/>
          <p:nvPr/>
        </p:nvSpPr>
        <p:spPr>
          <a:xfrm>
            <a:off x="62611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EWMA</a:t>
            </a:r>
          </a:p>
          <a:p>
            <a:pPr algn="ctr"/>
            <a:r>
              <a:rPr lang="en-US" sz="950">
                <a:solidFill>
                  <a:srgbClr val="344054"/>
                </a:solidFill>
                <a:latin typeface="Segoe UI" panose="020B0502040204020203" pitchFamily="34" charset="0"/>
              </a:rPr>
              <a:t>Seasonal naive</a:t>
            </a:r>
          </a:p>
          <a:p>
            <a:pPr algn="ctr"/>
            <a:r>
              <a:rPr lang="en-US" sz="950">
                <a:solidFill>
                  <a:srgbClr val="344054"/>
                </a:solidFill>
                <a:latin typeface="Segoe UI" panose="020B0502040204020203" pitchFamily="34" charset="0"/>
              </a:rPr>
              <a:t>TFT</a:t>
            </a:r>
          </a:p>
          <a:p>
            <a:pPr algn="ctr"/>
            <a:r>
              <a:rPr lang="en-US" sz="950">
                <a:solidFill>
                  <a:srgbClr val="344054"/>
                </a:solidFill>
                <a:latin typeface="Segoe UI" panose="020B0502040204020203" pitchFamily="34" charset="0"/>
              </a:rPr>
              <a:t>DeepAR</a:t>
            </a:r>
          </a:p>
        </p:txBody>
      </p:sp>
      <p:cxnSp>
        <p:nvCxnSpPr>
          <p:cNvPr id="29" name="Straight Connector 28">
            <a:extLst>
              <a:ext uri="{FF2B5EF4-FFF2-40B4-BE49-F238E27FC236}">
                <a16:creationId xmlns:a16="http://schemas.microsoft.com/office/drawing/2014/main" id="{63B90C31-F2A7-D306-57B1-A8A6C758EAF3}"/>
              </a:ext>
            </a:extLst>
          </p:cNvPr>
          <p:cNvCxnSpPr/>
          <p:nvPr/>
        </p:nvCxnSpPr>
        <p:spPr>
          <a:xfrm>
            <a:off x="9715500" y="3594100"/>
            <a:ext cx="114300" cy="0"/>
          </a:xfrm>
          <a:prstGeom prst="line">
            <a:avLst/>
          </a:prstGeom>
          <a:ln w="2921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5722F398-F057-0164-705A-55AC54DAB169}"/>
              </a:ext>
            </a:extLst>
          </p:cNvPr>
          <p:cNvSpPr/>
          <p:nvPr/>
        </p:nvSpPr>
        <p:spPr>
          <a:xfrm>
            <a:off x="8026400" y="1968500"/>
            <a:ext cx="1676400" cy="32385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18EC073-BB0A-1592-3233-C4A9E68A79E3}"/>
              </a:ext>
            </a:extLst>
          </p:cNvPr>
          <p:cNvSpPr/>
          <p:nvPr/>
        </p:nvSpPr>
        <p:spPr>
          <a:xfrm>
            <a:off x="8623300" y="2184400"/>
            <a:ext cx="482600" cy="4826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647195A-8E50-5707-1B25-D2A92B28753F}"/>
              </a:ext>
            </a:extLst>
          </p:cNvPr>
          <p:cNvSpPr txBox="1"/>
          <p:nvPr/>
        </p:nvSpPr>
        <p:spPr>
          <a:xfrm>
            <a:off x="86233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5</a:t>
            </a:r>
          </a:p>
        </p:txBody>
      </p:sp>
      <p:sp>
        <p:nvSpPr>
          <p:cNvPr id="33" name="TextBox 32">
            <a:extLst>
              <a:ext uri="{FF2B5EF4-FFF2-40B4-BE49-F238E27FC236}">
                <a16:creationId xmlns:a16="http://schemas.microsoft.com/office/drawing/2014/main" id="{CBEF8ADF-DC9B-1B65-71D8-D791C541A8D4}"/>
              </a:ext>
            </a:extLst>
          </p:cNvPr>
          <p:cNvSpPr txBox="1"/>
          <p:nvPr/>
        </p:nvSpPr>
        <p:spPr>
          <a:xfrm>
            <a:off x="81534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1769E0"/>
                </a:solidFill>
                <a:latin typeface="Segoe UI" panose="020B0502040204020203" pitchFamily="34" charset="0"/>
              </a:rPr>
              <a:t>OUTPUT</a:t>
            </a:r>
          </a:p>
        </p:txBody>
      </p:sp>
      <p:sp>
        <p:nvSpPr>
          <p:cNvPr id="34" name="TextBox 33">
            <a:extLst>
              <a:ext uri="{FF2B5EF4-FFF2-40B4-BE49-F238E27FC236}">
                <a16:creationId xmlns:a16="http://schemas.microsoft.com/office/drawing/2014/main" id="{D6DC8E92-38A4-B41D-8859-583479A37B04}"/>
              </a:ext>
            </a:extLst>
          </p:cNvPr>
          <p:cNvSpPr txBox="1"/>
          <p:nvPr/>
        </p:nvSpPr>
        <p:spPr>
          <a:xfrm>
            <a:off x="81534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Quantity</a:t>
            </a:r>
          </a:p>
          <a:p>
            <a:pPr algn="ctr"/>
            <a:r>
              <a:rPr lang="en-US" sz="950">
                <a:solidFill>
                  <a:srgbClr val="344054"/>
                </a:solidFill>
                <a:latin typeface="Segoe UI" panose="020B0502040204020203" pitchFamily="34" charset="0"/>
              </a:rPr>
              <a:t>Lower / upper</a:t>
            </a:r>
          </a:p>
          <a:p>
            <a:pPr algn="ctr"/>
            <a:r>
              <a:rPr lang="en-US" sz="950">
                <a:solidFill>
                  <a:srgbClr val="344054"/>
                </a:solidFill>
                <a:latin typeface="Segoe UI" panose="020B0502040204020203" pitchFamily="34" charset="0"/>
              </a:rPr>
              <a:t>Confidence</a:t>
            </a:r>
          </a:p>
          <a:p>
            <a:pPr algn="ctr"/>
            <a:r>
              <a:rPr lang="en-US" sz="950">
                <a:solidFill>
                  <a:srgbClr val="344054"/>
                </a:solidFill>
                <a:latin typeface="Segoe UI" panose="020B0502040204020203" pitchFamily="34" charset="0"/>
              </a:rPr>
              <a:t>Actual algorithm</a:t>
            </a:r>
          </a:p>
        </p:txBody>
      </p:sp>
      <p:sp>
        <p:nvSpPr>
          <p:cNvPr id="35" name="Rectangle: Rounded Corners 34">
            <a:extLst>
              <a:ext uri="{FF2B5EF4-FFF2-40B4-BE49-F238E27FC236}">
                <a16:creationId xmlns:a16="http://schemas.microsoft.com/office/drawing/2014/main" id="{176B805A-433E-A540-86DD-4C8C4E7845B2}"/>
              </a:ext>
            </a:extLst>
          </p:cNvPr>
          <p:cNvSpPr/>
          <p:nvPr/>
        </p:nvSpPr>
        <p:spPr>
          <a:xfrm>
            <a:off x="9918700" y="1968500"/>
            <a:ext cx="1676400" cy="3238500"/>
          </a:xfrm>
          <a:prstGeom prst="roundRect">
            <a:avLst/>
          </a:prstGeom>
          <a:solidFill>
            <a:srgbClr val="FFFFFF"/>
          </a:solidFill>
          <a:ln w="12700">
            <a:solidFill>
              <a:srgbClr val="0E9F6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934DB1F-0CF4-3F20-917B-10CCF035D126}"/>
              </a:ext>
            </a:extLst>
          </p:cNvPr>
          <p:cNvSpPr/>
          <p:nvPr/>
        </p:nvSpPr>
        <p:spPr>
          <a:xfrm>
            <a:off x="10515600" y="2184400"/>
            <a:ext cx="482600" cy="4826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A5DDEB6-46A1-285B-45B3-739E6B223213}"/>
              </a:ext>
            </a:extLst>
          </p:cNvPr>
          <p:cNvSpPr txBox="1"/>
          <p:nvPr/>
        </p:nvSpPr>
        <p:spPr>
          <a:xfrm>
            <a:off x="10515600" y="2184400"/>
            <a:ext cx="482600" cy="482600"/>
          </a:xfrm>
          <a:prstGeom prst="rect">
            <a:avLst/>
          </a:prstGeom>
          <a:noFill/>
        </p:spPr>
        <p:txBody>
          <a:bodyPr vert="horz" wrap="square" lIns="50800" tIns="25400" rIns="50800" bIns="25400" rtlCol="0" anchor="ctr">
            <a:noAutofit/>
          </a:bodyPr>
          <a:lstStyle/>
          <a:p>
            <a:pPr algn="ctr"/>
            <a:r>
              <a:rPr lang="en-US" sz="1200" b="1">
                <a:solidFill>
                  <a:srgbClr val="FFFFFF"/>
                </a:solidFill>
                <a:latin typeface="Segoe UI" panose="020B0502040204020203" pitchFamily="34" charset="0"/>
              </a:rPr>
              <a:t>6</a:t>
            </a:r>
          </a:p>
        </p:txBody>
      </p:sp>
      <p:sp>
        <p:nvSpPr>
          <p:cNvPr id="38" name="TextBox 37">
            <a:extLst>
              <a:ext uri="{FF2B5EF4-FFF2-40B4-BE49-F238E27FC236}">
                <a16:creationId xmlns:a16="http://schemas.microsoft.com/office/drawing/2014/main" id="{99683B20-FA7B-FD63-3E72-964F9869E1CA}"/>
              </a:ext>
            </a:extLst>
          </p:cNvPr>
          <p:cNvSpPr txBox="1"/>
          <p:nvPr/>
        </p:nvSpPr>
        <p:spPr>
          <a:xfrm>
            <a:off x="10045700" y="2781300"/>
            <a:ext cx="1422400" cy="355600"/>
          </a:xfrm>
          <a:prstGeom prst="rect">
            <a:avLst/>
          </a:prstGeom>
          <a:noFill/>
        </p:spPr>
        <p:txBody>
          <a:bodyPr vert="horz" wrap="square" lIns="50800" tIns="25400" rIns="50800" bIns="25400" rtlCol="0" anchor="ctr">
            <a:noAutofit/>
          </a:bodyPr>
          <a:lstStyle/>
          <a:p>
            <a:pPr algn="ctr"/>
            <a:r>
              <a:rPr lang="en-US" sz="1100" b="1">
                <a:solidFill>
                  <a:srgbClr val="0E9F6E"/>
                </a:solidFill>
                <a:latin typeface="Segoe UI" panose="020B0502040204020203" pitchFamily="34" charset="0"/>
              </a:rPr>
              <a:t>LEARN</a:t>
            </a:r>
          </a:p>
        </p:txBody>
      </p:sp>
      <p:sp>
        <p:nvSpPr>
          <p:cNvPr id="39" name="TextBox 38">
            <a:extLst>
              <a:ext uri="{FF2B5EF4-FFF2-40B4-BE49-F238E27FC236}">
                <a16:creationId xmlns:a16="http://schemas.microsoft.com/office/drawing/2014/main" id="{06226E9F-6915-F102-B954-53625E9DDB85}"/>
              </a:ext>
            </a:extLst>
          </p:cNvPr>
          <p:cNvSpPr txBox="1"/>
          <p:nvPr/>
        </p:nvSpPr>
        <p:spPr>
          <a:xfrm>
            <a:off x="10045700" y="3276600"/>
            <a:ext cx="1422400" cy="16764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Wait for horizon</a:t>
            </a:r>
          </a:p>
          <a:p>
            <a:pPr algn="ctr"/>
            <a:r>
              <a:rPr lang="en-US" sz="950">
                <a:solidFill>
                  <a:srgbClr val="344054"/>
                </a:solidFill>
                <a:latin typeface="Segoe UI" panose="020B0502040204020203" pitchFamily="34" charset="0"/>
              </a:rPr>
              <a:t>Compare actuals</a:t>
            </a:r>
          </a:p>
          <a:p>
            <a:pPr algn="ctr"/>
            <a:r>
              <a:rPr lang="en-US" sz="950">
                <a:solidFill>
                  <a:srgbClr val="344054"/>
                </a:solidFill>
                <a:latin typeface="Segoe UI" panose="020B0502040204020203" pitchFamily="34" charset="0"/>
              </a:rPr>
              <a:t>Score accuracy</a:t>
            </a:r>
          </a:p>
          <a:p>
            <a:pPr algn="ctr"/>
            <a:r>
              <a:rPr lang="en-US" sz="950">
                <a:solidFill>
                  <a:srgbClr val="344054"/>
                </a:solidFill>
                <a:latin typeface="Segoe UI" panose="020B0502040204020203" pitchFamily="34" charset="0"/>
              </a:rPr>
              <a:t>Rank next run</a:t>
            </a:r>
          </a:p>
        </p:txBody>
      </p:sp>
      <p:sp>
        <p:nvSpPr>
          <p:cNvPr id="40" name="Rectangle: Rounded Corners 39">
            <a:extLst>
              <a:ext uri="{FF2B5EF4-FFF2-40B4-BE49-F238E27FC236}">
                <a16:creationId xmlns:a16="http://schemas.microsoft.com/office/drawing/2014/main" id="{10B9DA70-9664-F1EF-788C-465D85921F63}"/>
              </a:ext>
            </a:extLst>
          </p:cNvPr>
          <p:cNvSpPr/>
          <p:nvPr/>
        </p:nvSpPr>
        <p:spPr>
          <a:xfrm>
            <a:off x="889000" y="5562600"/>
            <a:ext cx="4470400" cy="431800"/>
          </a:xfrm>
          <a:prstGeom prst="roundRect">
            <a:avLst/>
          </a:prstGeom>
          <a:solidFill>
            <a:srgbClr val="FFF2D9"/>
          </a:solidFill>
          <a:ln w="12700">
            <a:solidFill>
              <a:srgbClr val="FFF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85CBB99-21F3-3112-0A4E-8095DE6D0D4C}"/>
              </a:ext>
            </a:extLst>
          </p:cNvPr>
          <p:cNvSpPr txBox="1"/>
          <p:nvPr/>
        </p:nvSpPr>
        <p:spPr>
          <a:xfrm>
            <a:off x="889000" y="5562600"/>
            <a:ext cx="4470400" cy="431800"/>
          </a:xfrm>
          <a:prstGeom prst="rect">
            <a:avLst/>
          </a:prstGeom>
          <a:noFill/>
        </p:spPr>
        <p:txBody>
          <a:bodyPr vert="horz" wrap="square" lIns="50800" tIns="25400" rIns="50800" bIns="25400" rtlCol="0" anchor="ctr">
            <a:noAutofit/>
          </a:bodyPr>
          <a:lstStyle/>
          <a:p>
            <a:pPr algn="ctr"/>
            <a:r>
              <a:rPr lang="en-US" sz="950" b="1">
                <a:solidFill>
                  <a:srgbClr val="E58A00"/>
                </a:solidFill>
                <a:latin typeface="Segoe UI" panose="020B0502040204020203" pitchFamily="34" charset="0"/>
              </a:rPr>
              <a:t>Default: EWMA until scored accuracy history exists</a:t>
            </a:r>
          </a:p>
        </p:txBody>
      </p:sp>
      <p:sp>
        <p:nvSpPr>
          <p:cNvPr id="42" name="Rectangle: Rounded Corners 41">
            <a:extLst>
              <a:ext uri="{FF2B5EF4-FFF2-40B4-BE49-F238E27FC236}">
                <a16:creationId xmlns:a16="http://schemas.microsoft.com/office/drawing/2014/main" id="{F500718D-B73F-27C5-0C83-080E4F458A75}"/>
              </a:ext>
            </a:extLst>
          </p:cNvPr>
          <p:cNvSpPr/>
          <p:nvPr/>
        </p:nvSpPr>
        <p:spPr>
          <a:xfrm>
            <a:off x="5562600" y="5562600"/>
            <a:ext cx="5308600" cy="4318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794A93D9-13EC-E571-5C8B-913AC733DEC7}"/>
              </a:ext>
            </a:extLst>
          </p:cNvPr>
          <p:cNvSpPr txBox="1"/>
          <p:nvPr/>
        </p:nvSpPr>
        <p:spPr>
          <a:xfrm>
            <a:off x="5562600" y="5562600"/>
            <a:ext cx="5308600" cy="431800"/>
          </a:xfrm>
          <a:prstGeom prst="rect">
            <a:avLst/>
          </a:prstGeom>
          <a:noFill/>
        </p:spPr>
        <p:txBody>
          <a:bodyPr vert="horz" wrap="square" lIns="50800" tIns="25400" rIns="50800" bIns="25400" rtlCol="0" anchor="ctr">
            <a:noAutofit/>
          </a:bodyPr>
          <a:lstStyle/>
          <a:p>
            <a:pPr algn="ctr"/>
            <a:r>
              <a:rPr lang="en-US" sz="950" b="1">
                <a:solidFill>
                  <a:srgbClr val="0E9F6E"/>
                </a:solidFill>
                <a:latin typeface="Segoe UI" panose="020B0502040204020203" pitchFamily="34" charset="0"/>
              </a:rPr>
              <a:t>Neural refusal -&gt; safe baseline fallback, per SKU</a:t>
            </a:r>
          </a:p>
        </p:txBody>
      </p:sp>
      <p:sp>
        <p:nvSpPr>
          <p:cNvPr id="44" name="TextBox 43">
            <a:extLst>
              <a:ext uri="{FF2B5EF4-FFF2-40B4-BE49-F238E27FC236}">
                <a16:creationId xmlns:a16="http://schemas.microsoft.com/office/drawing/2014/main" id="{53CA679B-9FB8-E094-EAF9-282BD648EECD}"/>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5" name="TextBox 44">
            <a:extLst>
              <a:ext uri="{FF2B5EF4-FFF2-40B4-BE49-F238E27FC236}">
                <a16:creationId xmlns:a16="http://schemas.microsoft.com/office/drawing/2014/main" id="{92EE25AA-4458-5E6C-02F9-4424247C341E}"/>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11</a:t>
            </a:r>
          </a:p>
        </p:txBody>
      </p:sp>
    </p:spTree>
    <p:extLst>
      <p:ext uri="{BB962C8B-B14F-4D97-AF65-F5344CB8AC3E}">
        <p14:creationId xmlns:p14="http://schemas.microsoft.com/office/powerpoint/2010/main" val="623224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D1DFE5-C5F0-EB4E-829A-A2532EC2B172}"/>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MODEL EVIDENCE &amp; GOVERNANCE</a:t>
            </a:r>
          </a:p>
        </p:txBody>
      </p:sp>
      <p:sp>
        <p:nvSpPr>
          <p:cNvPr id="3" name="TextBox 2">
            <a:extLst>
              <a:ext uri="{FF2B5EF4-FFF2-40B4-BE49-F238E27FC236}">
                <a16:creationId xmlns:a16="http://schemas.microsoft.com/office/drawing/2014/main" id="{5CB35B10-C7E0-B115-A0C0-E1A5875CC99D}"/>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The model is operational; its business accuracy is not yet proven</a:t>
            </a:r>
          </a:p>
        </p:txBody>
      </p:sp>
      <p:sp>
        <p:nvSpPr>
          <p:cNvPr id="4" name="TextBox 3">
            <a:extLst>
              <a:ext uri="{FF2B5EF4-FFF2-40B4-BE49-F238E27FC236}">
                <a16:creationId xmlns:a16="http://schemas.microsoft.com/office/drawing/2014/main" id="{AA856EF8-B6A4-15CD-4EEF-C5A91F952D33}"/>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Lower WAPE is better. These results are pipeline evidence from generated history, not a production forecast claim.</a:t>
            </a:r>
          </a:p>
        </p:txBody>
      </p:sp>
      <p:sp>
        <p:nvSpPr>
          <p:cNvPr id="5" name="Rectangle: Rounded Corners 4">
            <a:extLst>
              <a:ext uri="{FF2B5EF4-FFF2-40B4-BE49-F238E27FC236}">
                <a16:creationId xmlns:a16="http://schemas.microsoft.com/office/drawing/2014/main" id="{CC52AD10-2382-5AD5-86D0-EE478E344EEC}"/>
              </a:ext>
            </a:extLst>
          </p:cNvPr>
          <p:cNvSpPr/>
          <p:nvPr/>
        </p:nvSpPr>
        <p:spPr>
          <a:xfrm>
            <a:off x="609600" y="1739900"/>
            <a:ext cx="6096000" cy="401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1A2273B-29FC-FB22-0AC8-03FF6EBDDFA5}"/>
              </a:ext>
            </a:extLst>
          </p:cNvPr>
          <p:cNvSpPr txBox="1"/>
          <p:nvPr/>
        </p:nvSpPr>
        <p:spPr>
          <a:xfrm>
            <a:off x="876300" y="1955800"/>
            <a:ext cx="4953000" cy="355600"/>
          </a:xfrm>
          <a:prstGeom prst="rect">
            <a:avLst/>
          </a:prstGeom>
          <a:noFill/>
        </p:spPr>
        <p:txBody>
          <a:bodyPr vert="horz" wrap="square" lIns="50800" tIns="25400" rIns="50800" bIns="25400" rtlCol="0" anchor="ctr">
            <a:noAutofit/>
          </a:bodyPr>
          <a:lstStyle/>
          <a:p>
            <a:r>
              <a:rPr lang="en-US" sz="1400" b="1">
                <a:solidFill>
                  <a:srgbClr val="0B1536"/>
                </a:solidFill>
                <a:latin typeface="Segoe UI" panose="020B0502040204020203" pitchFamily="34" charset="0"/>
              </a:rPr>
              <a:t>Most recent honest 30-day window</a:t>
            </a:r>
          </a:p>
        </p:txBody>
      </p:sp>
      <p:sp>
        <p:nvSpPr>
          <p:cNvPr id="7" name="TextBox 6">
            <a:extLst>
              <a:ext uri="{FF2B5EF4-FFF2-40B4-BE49-F238E27FC236}">
                <a16:creationId xmlns:a16="http://schemas.microsoft.com/office/drawing/2014/main" id="{BF01D2CD-D6B0-3121-3BB0-DF5A0EE3A520}"/>
              </a:ext>
            </a:extLst>
          </p:cNvPr>
          <p:cNvSpPr txBox="1"/>
          <p:nvPr/>
        </p:nvSpPr>
        <p:spPr>
          <a:xfrm>
            <a:off x="889000" y="2565400"/>
            <a:ext cx="1320800" cy="304800"/>
          </a:xfrm>
          <a:prstGeom prst="rect">
            <a:avLst/>
          </a:prstGeom>
          <a:noFill/>
        </p:spPr>
        <p:txBody>
          <a:bodyPr vert="horz" wrap="square" lIns="50800" tIns="25400" rIns="50800" bIns="25400" rtlCol="0" anchor="ctr">
            <a:noAutofit/>
          </a:bodyPr>
          <a:lstStyle/>
          <a:p>
            <a:pPr algn="r"/>
            <a:r>
              <a:rPr lang="en-US" sz="1000" b="1">
                <a:solidFill>
                  <a:srgbClr val="344054"/>
                </a:solidFill>
                <a:latin typeface="Segoe UI" panose="020B0502040204020203" pitchFamily="34" charset="0"/>
              </a:rPr>
              <a:t>EWMA</a:t>
            </a:r>
          </a:p>
        </p:txBody>
      </p:sp>
      <p:sp>
        <p:nvSpPr>
          <p:cNvPr id="8" name="Rectangle: Rounded Corners 7">
            <a:extLst>
              <a:ext uri="{FF2B5EF4-FFF2-40B4-BE49-F238E27FC236}">
                <a16:creationId xmlns:a16="http://schemas.microsoft.com/office/drawing/2014/main" id="{2CFFAF05-6E0A-F427-7558-C2F201C753E4}"/>
              </a:ext>
            </a:extLst>
          </p:cNvPr>
          <p:cNvSpPr/>
          <p:nvPr/>
        </p:nvSpPr>
        <p:spPr>
          <a:xfrm>
            <a:off x="2336800" y="2603500"/>
            <a:ext cx="3454400" cy="228600"/>
          </a:xfrm>
          <a:prstGeom prst="roundRect">
            <a:avLst/>
          </a:prstGeom>
          <a:solidFill>
            <a:srgbClr val="F4F7FB"/>
          </a:solidFill>
          <a:ln w="12700">
            <a:solidFill>
              <a:srgbClr val="F4F7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9E97537-8F71-B851-AB05-6CD5ABCE68F1}"/>
              </a:ext>
            </a:extLst>
          </p:cNvPr>
          <p:cNvSpPr/>
          <p:nvPr/>
        </p:nvSpPr>
        <p:spPr>
          <a:xfrm>
            <a:off x="2336800" y="2603500"/>
            <a:ext cx="2775610" cy="228600"/>
          </a:xfrm>
          <a:prstGeom prst="roundRect">
            <a:avLst/>
          </a:prstGeom>
          <a:solidFill>
            <a:srgbClr val="0E9F6E"/>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B16B19E-9C05-E2EB-7484-C2B035CA525A}"/>
              </a:ext>
            </a:extLst>
          </p:cNvPr>
          <p:cNvSpPr txBox="1"/>
          <p:nvPr/>
        </p:nvSpPr>
        <p:spPr>
          <a:xfrm>
            <a:off x="5880100" y="2552700"/>
            <a:ext cx="647700" cy="330200"/>
          </a:xfrm>
          <a:prstGeom prst="rect">
            <a:avLst/>
          </a:prstGeom>
          <a:noFill/>
        </p:spPr>
        <p:txBody>
          <a:bodyPr vert="horz" wrap="square" lIns="50800" tIns="25400" rIns="50800" bIns="25400" rtlCol="0" anchor="ctr">
            <a:noAutofit/>
          </a:bodyPr>
          <a:lstStyle/>
          <a:p>
            <a:pPr algn="r"/>
            <a:r>
              <a:rPr lang="en-US" sz="900" b="1">
                <a:solidFill>
                  <a:srgbClr val="0B1536"/>
                </a:solidFill>
                <a:latin typeface="Segoe UI" panose="020B0502040204020203" pitchFamily="34" charset="0"/>
              </a:rPr>
              <a:t>32.14%</a:t>
            </a:r>
          </a:p>
        </p:txBody>
      </p:sp>
      <p:sp>
        <p:nvSpPr>
          <p:cNvPr id="11" name="TextBox 10">
            <a:extLst>
              <a:ext uri="{FF2B5EF4-FFF2-40B4-BE49-F238E27FC236}">
                <a16:creationId xmlns:a16="http://schemas.microsoft.com/office/drawing/2014/main" id="{C1D6793B-7726-DAA3-3175-EF90E7AD72DF}"/>
              </a:ext>
            </a:extLst>
          </p:cNvPr>
          <p:cNvSpPr txBox="1"/>
          <p:nvPr/>
        </p:nvSpPr>
        <p:spPr>
          <a:xfrm>
            <a:off x="889000" y="3276600"/>
            <a:ext cx="1320800" cy="304800"/>
          </a:xfrm>
          <a:prstGeom prst="rect">
            <a:avLst/>
          </a:prstGeom>
          <a:noFill/>
        </p:spPr>
        <p:txBody>
          <a:bodyPr vert="horz" wrap="square" lIns="50800" tIns="25400" rIns="50800" bIns="25400" rtlCol="0" anchor="ctr">
            <a:noAutofit/>
          </a:bodyPr>
          <a:lstStyle/>
          <a:p>
            <a:pPr algn="r"/>
            <a:r>
              <a:rPr lang="en-US" sz="1000" b="1">
                <a:solidFill>
                  <a:srgbClr val="344054"/>
                </a:solidFill>
                <a:latin typeface="Segoe UI" panose="020B0502040204020203" pitchFamily="34" charset="0"/>
              </a:rPr>
              <a:t>Seasonal naive</a:t>
            </a:r>
          </a:p>
        </p:txBody>
      </p:sp>
      <p:sp>
        <p:nvSpPr>
          <p:cNvPr id="12" name="Rectangle: Rounded Corners 11">
            <a:extLst>
              <a:ext uri="{FF2B5EF4-FFF2-40B4-BE49-F238E27FC236}">
                <a16:creationId xmlns:a16="http://schemas.microsoft.com/office/drawing/2014/main" id="{DA4BD608-F706-B329-16ED-D231AFBC2B48}"/>
              </a:ext>
            </a:extLst>
          </p:cNvPr>
          <p:cNvSpPr/>
          <p:nvPr/>
        </p:nvSpPr>
        <p:spPr>
          <a:xfrm>
            <a:off x="2336800" y="3314700"/>
            <a:ext cx="3454400" cy="228600"/>
          </a:xfrm>
          <a:prstGeom prst="roundRect">
            <a:avLst/>
          </a:prstGeom>
          <a:solidFill>
            <a:srgbClr val="F4F7FB"/>
          </a:solidFill>
          <a:ln w="12700">
            <a:solidFill>
              <a:srgbClr val="F4F7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88E9CBD-900D-88E2-45C0-088D2B2B6A2D}"/>
              </a:ext>
            </a:extLst>
          </p:cNvPr>
          <p:cNvSpPr/>
          <p:nvPr/>
        </p:nvSpPr>
        <p:spPr>
          <a:xfrm>
            <a:off x="2336800" y="3314700"/>
            <a:ext cx="2800655" cy="2286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AE5946A-3A09-1A16-9BE5-35D934D11FD1}"/>
              </a:ext>
            </a:extLst>
          </p:cNvPr>
          <p:cNvSpPr txBox="1"/>
          <p:nvPr/>
        </p:nvSpPr>
        <p:spPr>
          <a:xfrm>
            <a:off x="5880100" y="3263900"/>
            <a:ext cx="647700" cy="330200"/>
          </a:xfrm>
          <a:prstGeom prst="rect">
            <a:avLst/>
          </a:prstGeom>
          <a:noFill/>
        </p:spPr>
        <p:txBody>
          <a:bodyPr vert="horz" wrap="square" lIns="50800" tIns="25400" rIns="50800" bIns="25400" rtlCol="0" anchor="ctr">
            <a:noAutofit/>
          </a:bodyPr>
          <a:lstStyle/>
          <a:p>
            <a:pPr algn="r"/>
            <a:r>
              <a:rPr lang="en-US" sz="900" b="1">
                <a:solidFill>
                  <a:srgbClr val="0B1536"/>
                </a:solidFill>
                <a:latin typeface="Segoe UI" panose="020B0502040204020203" pitchFamily="34" charset="0"/>
              </a:rPr>
              <a:t>32.43%</a:t>
            </a:r>
          </a:p>
        </p:txBody>
      </p:sp>
      <p:sp>
        <p:nvSpPr>
          <p:cNvPr id="15" name="TextBox 14">
            <a:extLst>
              <a:ext uri="{FF2B5EF4-FFF2-40B4-BE49-F238E27FC236}">
                <a16:creationId xmlns:a16="http://schemas.microsoft.com/office/drawing/2014/main" id="{FBFA02CD-1A14-464D-35F0-B321742283FC}"/>
              </a:ext>
            </a:extLst>
          </p:cNvPr>
          <p:cNvSpPr txBox="1"/>
          <p:nvPr/>
        </p:nvSpPr>
        <p:spPr>
          <a:xfrm>
            <a:off x="889000" y="3987800"/>
            <a:ext cx="1320800" cy="304800"/>
          </a:xfrm>
          <a:prstGeom prst="rect">
            <a:avLst/>
          </a:prstGeom>
          <a:noFill/>
        </p:spPr>
        <p:txBody>
          <a:bodyPr vert="horz" wrap="square" lIns="50800" tIns="25400" rIns="50800" bIns="25400" rtlCol="0" anchor="ctr">
            <a:noAutofit/>
          </a:bodyPr>
          <a:lstStyle/>
          <a:p>
            <a:pPr algn="r"/>
            <a:r>
              <a:rPr lang="en-US" sz="1000" b="1">
                <a:solidFill>
                  <a:srgbClr val="344054"/>
                </a:solidFill>
                <a:latin typeface="Segoe UI" panose="020B0502040204020203" pitchFamily="34" charset="0"/>
              </a:rPr>
              <a:t>TFT</a:t>
            </a:r>
          </a:p>
        </p:txBody>
      </p:sp>
      <p:sp>
        <p:nvSpPr>
          <p:cNvPr id="16" name="Rectangle: Rounded Corners 15">
            <a:extLst>
              <a:ext uri="{FF2B5EF4-FFF2-40B4-BE49-F238E27FC236}">
                <a16:creationId xmlns:a16="http://schemas.microsoft.com/office/drawing/2014/main" id="{0758B0E7-F407-300A-C8BD-D15B0D22A6FF}"/>
              </a:ext>
            </a:extLst>
          </p:cNvPr>
          <p:cNvSpPr/>
          <p:nvPr/>
        </p:nvSpPr>
        <p:spPr>
          <a:xfrm>
            <a:off x="2336800" y="4025900"/>
            <a:ext cx="3454400" cy="228600"/>
          </a:xfrm>
          <a:prstGeom prst="roundRect">
            <a:avLst/>
          </a:prstGeom>
          <a:solidFill>
            <a:srgbClr val="F4F7FB"/>
          </a:solidFill>
          <a:ln w="12700">
            <a:solidFill>
              <a:srgbClr val="F4F7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CD951A16-7123-0ADF-1ADB-2BDE3F00F2A4}"/>
              </a:ext>
            </a:extLst>
          </p:cNvPr>
          <p:cNvSpPr/>
          <p:nvPr/>
        </p:nvSpPr>
        <p:spPr>
          <a:xfrm>
            <a:off x="2336800" y="4025900"/>
            <a:ext cx="3052826" cy="2286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BE756A7-EE42-7D12-983F-239E22CF8991}"/>
              </a:ext>
            </a:extLst>
          </p:cNvPr>
          <p:cNvSpPr txBox="1"/>
          <p:nvPr/>
        </p:nvSpPr>
        <p:spPr>
          <a:xfrm>
            <a:off x="5880100" y="3975100"/>
            <a:ext cx="647700" cy="330200"/>
          </a:xfrm>
          <a:prstGeom prst="rect">
            <a:avLst/>
          </a:prstGeom>
          <a:noFill/>
        </p:spPr>
        <p:txBody>
          <a:bodyPr vert="horz" wrap="square" lIns="50800" tIns="25400" rIns="50800" bIns="25400" rtlCol="0" anchor="ctr">
            <a:noAutofit/>
          </a:bodyPr>
          <a:lstStyle/>
          <a:p>
            <a:pPr algn="r"/>
            <a:r>
              <a:rPr lang="en-US" sz="900" b="1">
                <a:solidFill>
                  <a:srgbClr val="0B1536"/>
                </a:solidFill>
                <a:latin typeface="Segoe UI" panose="020B0502040204020203" pitchFamily="34" charset="0"/>
              </a:rPr>
              <a:t>35.35%</a:t>
            </a:r>
          </a:p>
        </p:txBody>
      </p:sp>
      <p:sp>
        <p:nvSpPr>
          <p:cNvPr id="19" name="TextBox 18">
            <a:extLst>
              <a:ext uri="{FF2B5EF4-FFF2-40B4-BE49-F238E27FC236}">
                <a16:creationId xmlns:a16="http://schemas.microsoft.com/office/drawing/2014/main" id="{03CF7BF0-762D-FBBE-C5EB-ED22A05A9345}"/>
              </a:ext>
            </a:extLst>
          </p:cNvPr>
          <p:cNvSpPr txBox="1"/>
          <p:nvPr/>
        </p:nvSpPr>
        <p:spPr>
          <a:xfrm>
            <a:off x="889000" y="4699000"/>
            <a:ext cx="1320800" cy="304800"/>
          </a:xfrm>
          <a:prstGeom prst="rect">
            <a:avLst/>
          </a:prstGeom>
          <a:noFill/>
        </p:spPr>
        <p:txBody>
          <a:bodyPr vert="horz" wrap="square" lIns="50800" tIns="25400" rIns="50800" bIns="25400" rtlCol="0" anchor="ctr">
            <a:noAutofit/>
          </a:bodyPr>
          <a:lstStyle/>
          <a:p>
            <a:pPr algn="r"/>
            <a:r>
              <a:rPr lang="en-US" sz="1000" b="1">
                <a:solidFill>
                  <a:srgbClr val="344054"/>
                </a:solidFill>
                <a:latin typeface="Segoe UI" panose="020B0502040204020203" pitchFamily="34" charset="0"/>
              </a:rPr>
              <a:t>DeepAR</a:t>
            </a:r>
          </a:p>
        </p:txBody>
      </p:sp>
      <p:sp>
        <p:nvSpPr>
          <p:cNvPr id="20" name="Rectangle: Rounded Corners 19">
            <a:extLst>
              <a:ext uri="{FF2B5EF4-FFF2-40B4-BE49-F238E27FC236}">
                <a16:creationId xmlns:a16="http://schemas.microsoft.com/office/drawing/2014/main" id="{D4DACB58-3E07-7E8B-547E-F0D57D17233A}"/>
              </a:ext>
            </a:extLst>
          </p:cNvPr>
          <p:cNvSpPr/>
          <p:nvPr/>
        </p:nvSpPr>
        <p:spPr>
          <a:xfrm>
            <a:off x="2336800" y="4737100"/>
            <a:ext cx="3454400" cy="228600"/>
          </a:xfrm>
          <a:prstGeom prst="roundRect">
            <a:avLst/>
          </a:prstGeom>
          <a:solidFill>
            <a:srgbClr val="F4F7FB"/>
          </a:solidFill>
          <a:ln w="12700">
            <a:solidFill>
              <a:srgbClr val="F4F7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9D85402-A78C-4895-DFC0-53AD4B44E811}"/>
              </a:ext>
            </a:extLst>
          </p:cNvPr>
          <p:cNvSpPr/>
          <p:nvPr/>
        </p:nvSpPr>
        <p:spPr>
          <a:xfrm>
            <a:off x="2336800" y="4737100"/>
            <a:ext cx="3237636" cy="228600"/>
          </a:xfrm>
          <a:prstGeom prst="roundRect">
            <a:avLst/>
          </a:prstGeom>
          <a:solidFill>
            <a:srgbClr val="E5484D"/>
          </a:solidFill>
          <a:ln w="12700">
            <a:solidFill>
              <a:srgbClr val="E548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0257BD8-B627-42E3-EAF3-CFF156C47632}"/>
              </a:ext>
            </a:extLst>
          </p:cNvPr>
          <p:cNvSpPr txBox="1"/>
          <p:nvPr/>
        </p:nvSpPr>
        <p:spPr>
          <a:xfrm>
            <a:off x="5880100" y="4686300"/>
            <a:ext cx="647700" cy="330200"/>
          </a:xfrm>
          <a:prstGeom prst="rect">
            <a:avLst/>
          </a:prstGeom>
          <a:noFill/>
        </p:spPr>
        <p:txBody>
          <a:bodyPr vert="horz" wrap="square" lIns="50800" tIns="25400" rIns="50800" bIns="25400" rtlCol="0" anchor="ctr">
            <a:noAutofit/>
          </a:bodyPr>
          <a:lstStyle/>
          <a:p>
            <a:pPr algn="r"/>
            <a:r>
              <a:rPr lang="en-US" sz="900" b="1">
                <a:solidFill>
                  <a:srgbClr val="0B1536"/>
                </a:solidFill>
                <a:latin typeface="Segoe UI" panose="020B0502040204020203" pitchFamily="34" charset="0"/>
              </a:rPr>
              <a:t>37.49%</a:t>
            </a:r>
          </a:p>
        </p:txBody>
      </p:sp>
      <p:sp>
        <p:nvSpPr>
          <p:cNvPr id="23" name="TextBox 22">
            <a:extLst>
              <a:ext uri="{FF2B5EF4-FFF2-40B4-BE49-F238E27FC236}">
                <a16:creationId xmlns:a16="http://schemas.microsoft.com/office/drawing/2014/main" id="{545D45BD-E0FB-AE3E-2EBE-FD20E9A42BFA}"/>
              </a:ext>
            </a:extLst>
          </p:cNvPr>
          <p:cNvSpPr txBox="1"/>
          <p:nvPr/>
        </p:nvSpPr>
        <p:spPr>
          <a:xfrm>
            <a:off x="2336800" y="5397500"/>
            <a:ext cx="4064000" cy="279400"/>
          </a:xfrm>
          <a:prstGeom prst="rect">
            <a:avLst/>
          </a:prstGeom>
          <a:noFill/>
        </p:spPr>
        <p:txBody>
          <a:bodyPr vert="horz" wrap="square" lIns="50800" tIns="25400" rIns="50800" bIns="25400" rtlCol="0" anchor="ctr">
            <a:noAutofit/>
          </a:bodyPr>
          <a:lstStyle/>
          <a:p>
            <a:r>
              <a:rPr lang="en-US" sz="950" b="1">
                <a:solidFill>
                  <a:srgbClr val="0E9F6E"/>
                </a:solidFill>
                <a:latin typeface="Segoe UI" panose="020B0502040204020203" pitchFamily="34" charset="0"/>
              </a:rPr>
              <a:t>EWMA currently wins this checkpoint window.</a:t>
            </a:r>
          </a:p>
        </p:txBody>
      </p:sp>
      <p:sp>
        <p:nvSpPr>
          <p:cNvPr id="24" name="Rectangle: Rounded Corners 23">
            <a:extLst>
              <a:ext uri="{FF2B5EF4-FFF2-40B4-BE49-F238E27FC236}">
                <a16:creationId xmlns:a16="http://schemas.microsoft.com/office/drawing/2014/main" id="{0D29EB75-BDF0-A56E-9CAE-C0EA6280E681}"/>
              </a:ext>
            </a:extLst>
          </p:cNvPr>
          <p:cNvSpPr/>
          <p:nvPr/>
        </p:nvSpPr>
        <p:spPr>
          <a:xfrm>
            <a:off x="7010400" y="1739900"/>
            <a:ext cx="4572000" cy="4013200"/>
          </a:xfrm>
          <a:prstGeom prst="roundRect">
            <a:avLst/>
          </a:prstGeom>
          <a:solidFill>
            <a:srgbClr val="0B1536"/>
          </a:solidFill>
          <a:ln w="12700">
            <a:solidFill>
              <a:srgbClr val="0B1536"/>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3F01B3C-A8C4-E64B-332C-85CE4C3F11A2}"/>
              </a:ext>
            </a:extLst>
          </p:cNvPr>
          <p:cNvSpPr txBox="1"/>
          <p:nvPr/>
        </p:nvSpPr>
        <p:spPr>
          <a:xfrm>
            <a:off x="7353300" y="1993900"/>
            <a:ext cx="3810000" cy="381000"/>
          </a:xfrm>
          <a:prstGeom prst="rect">
            <a:avLst/>
          </a:prstGeom>
          <a:noFill/>
        </p:spPr>
        <p:txBody>
          <a:bodyPr vert="horz" wrap="square" lIns="50800" tIns="25400" rIns="50800" bIns="25400" rtlCol="0" anchor="ctr">
            <a:noAutofit/>
          </a:bodyPr>
          <a:lstStyle/>
          <a:p>
            <a:r>
              <a:rPr lang="en-US" sz="1500" b="1">
                <a:solidFill>
                  <a:srgbClr val="FFFFFF"/>
                </a:solidFill>
                <a:latin typeface="Segoe UI" panose="020B0502040204020203" pitchFamily="34" charset="0"/>
              </a:rPr>
              <a:t>What is working now</a:t>
            </a:r>
          </a:p>
        </p:txBody>
      </p:sp>
      <p:sp>
        <p:nvSpPr>
          <p:cNvPr id="26" name="TextBox 25">
            <a:extLst>
              <a:ext uri="{FF2B5EF4-FFF2-40B4-BE49-F238E27FC236}">
                <a16:creationId xmlns:a16="http://schemas.microsoft.com/office/drawing/2014/main" id="{40558CDF-7970-C33C-9C5D-B08A94A70029}"/>
              </a:ext>
            </a:extLst>
          </p:cNvPr>
          <p:cNvSpPr txBox="1"/>
          <p:nvPr/>
        </p:nvSpPr>
        <p:spPr>
          <a:xfrm>
            <a:off x="7353300" y="2679700"/>
            <a:ext cx="1676400" cy="444500"/>
          </a:xfrm>
          <a:prstGeom prst="rect">
            <a:avLst/>
          </a:prstGeom>
          <a:noFill/>
        </p:spPr>
        <p:txBody>
          <a:bodyPr vert="horz" wrap="square" lIns="50800" tIns="25400" rIns="50800" bIns="25400" rtlCol="0" anchor="ctr">
            <a:noAutofit/>
          </a:bodyPr>
          <a:lstStyle/>
          <a:p>
            <a:r>
              <a:rPr lang="en-US" sz="2200" b="1">
                <a:solidFill>
                  <a:srgbClr val="FFFFFF"/>
                </a:solidFill>
                <a:latin typeface="Segoe UI" panose="020B0502040204020203" pitchFamily="34" charset="0"/>
              </a:rPr>
              <a:t>441</a:t>
            </a:r>
          </a:p>
        </p:txBody>
      </p:sp>
      <p:sp>
        <p:nvSpPr>
          <p:cNvPr id="27" name="TextBox 26">
            <a:extLst>
              <a:ext uri="{FF2B5EF4-FFF2-40B4-BE49-F238E27FC236}">
                <a16:creationId xmlns:a16="http://schemas.microsoft.com/office/drawing/2014/main" id="{54EAD7CF-32FD-568E-8A42-324180EE5A6F}"/>
              </a:ext>
            </a:extLst>
          </p:cNvPr>
          <p:cNvSpPr txBox="1"/>
          <p:nvPr/>
        </p:nvSpPr>
        <p:spPr>
          <a:xfrm>
            <a:off x="7353300" y="3136900"/>
            <a:ext cx="1676400" cy="457200"/>
          </a:xfrm>
          <a:prstGeom prst="rect">
            <a:avLst/>
          </a:prstGeom>
          <a:noFill/>
        </p:spPr>
        <p:txBody>
          <a:bodyPr vert="horz" wrap="square" lIns="50800" tIns="25400" rIns="50800" bIns="25400" rtlCol="0" anchor="t">
            <a:noAutofit/>
          </a:bodyPr>
          <a:lstStyle/>
          <a:p>
            <a:r>
              <a:rPr lang="en-US" sz="850">
                <a:solidFill>
                  <a:srgbClr val="98A2B3"/>
                </a:solidFill>
                <a:latin typeface="Segoe UI" panose="020B0502040204020203" pitchFamily="34" charset="0"/>
              </a:rPr>
              <a:t>warehouse / SKU pairs processed</a:t>
            </a:r>
          </a:p>
        </p:txBody>
      </p:sp>
      <p:sp>
        <p:nvSpPr>
          <p:cNvPr id="28" name="TextBox 27">
            <a:extLst>
              <a:ext uri="{FF2B5EF4-FFF2-40B4-BE49-F238E27FC236}">
                <a16:creationId xmlns:a16="http://schemas.microsoft.com/office/drawing/2014/main" id="{C41A858B-E52E-0D55-A103-1BE9F9137CDD}"/>
              </a:ext>
            </a:extLst>
          </p:cNvPr>
          <p:cNvSpPr txBox="1"/>
          <p:nvPr/>
        </p:nvSpPr>
        <p:spPr>
          <a:xfrm>
            <a:off x="9258300" y="2679700"/>
            <a:ext cx="1676400" cy="444500"/>
          </a:xfrm>
          <a:prstGeom prst="rect">
            <a:avLst/>
          </a:prstGeom>
          <a:noFill/>
        </p:spPr>
        <p:txBody>
          <a:bodyPr vert="horz" wrap="square" lIns="50800" tIns="25400" rIns="50800" bIns="25400" rtlCol="0" anchor="ctr">
            <a:noAutofit/>
          </a:bodyPr>
          <a:lstStyle/>
          <a:p>
            <a:r>
              <a:rPr lang="en-US" sz="2200" b="1">
                <a:solidFill>
                  <a:srgbClr val="EEE9FF"/>
                </a:solidFill>
                <a:latin typeface="Segoe UI" panose="020B0502040204020203" pitchFamily="34" charset="0"/>
              </a:rPr>
              <a:t>404</a:t>
            </a:r>
          </a:p>
        </p:txBody>
      </p:sp>
      <p:sp>
        <p:nvSpPr>
          <p:cNvPr id="29" name="TextBox 28">
            <a:extLst>
              <a:ext uri="{FF2B5EF4-FFF2-40B4-BE49-F238E27FC236}">
                <a16:creationId xmlns:a16="http://schemas.microsoft.com/office/drawing/2014/main" id="{52BD3933-DB1A-127B-06DD-0275D403BAD7}"/>
              </a:ext>
            </a:extLst>
          </p:cNvPr>
          <p:cNvSpPr txBox="1"/>
          <p:nvPr/>
        </p:nvSpPr>
        <p:spPr>
          <a:xfrm>
            <a:off x="9258300" y="3136900"/>
            <a:ext cx="1676400" cy="457200"/>
          </a:xfrm>
          <a:prstGeom prst="rect">
            <a:avLst/>
          </a:prstGeom>
          <a:noFill/>
        </p:spPr>
        <p:txBody>
          <a:bodyPr vert="horz" wrap="square" lIns="50800" tIns="25400" rIns="50800" bIns="25400" rtlCol="0" anchor="t">
            <a:noAutofit/>
          </a:bodyPr>
          <a:lstStyle/>
          <a:p>
            <a:r>
              <a:rPr lang="en-US" sz="850">
                <a:solidFill>
                  <a:srgbClr val="98A2B3"/>
                </a:solidFill>
                <a:latin typeface="Segoe UI" panose="020B0502040204020203" pitchFamily="34" charset="0"/>
              </a:rPr>
              <a:t>TFT forecasts in a real seeded run</a:t>
            </a:r>
          </a:p>
        </p:txBody>
      </p:sp>
      <p:sp>
        <p:nvSpPr>
          <p:cNvPr id="30" name="TextBox 29">
            <a:extLst>
              <a:ext uri="{FF2B5EF4-FFF2-40B4-BE49-F238E27FC236}">
                <a16:creationId xmlns:a16="http://schemas.microsoft.com/office/drawing/2014/main" id="{2F8D0168-BCFD-26EC-C62B-99E35178A8B6}"/>
              </a:ext>
            </a:extLst>
          </p:cNvPr>
          <p:cNvSpPr txBox="1"/>
          <p:nvPr/>
        </p:nvSpPr>
        <p:spPr>
          <a:xfrm>
            <a:off x="7353300" y="3721100"/>
            <a:ext cx="1676400" cy="444500"/>
          </a:xfrm>
          <a:prstGeom prst="rect">
            <a:avLst/>
          </a:prstGeom>
          <a:noFill/>
        </p:spPr>
        <p:txBody>
          <a:bodyPr vert="horz" wrap="square" lIns="50800" tIns="25400" rIns="50800" bIns="25400" rtlCol="0" anchor="ctr">
            <a:noAutofit/>
          </a:bodyPr>
          <a:lstStyle/>
          <a:p>
            <a:r>
              <a:rPr lang="en-US" sz="2200" b="1">
                <a:solidFill>
                  <a:srgbClr val="FFFFFF"/>
                </a:solidFill>
                <a:latin typeface="Segoe UI" panose="020B0502040204020203" pitchFamily="34" charset="0"/>
              </a:rPr>
              <a:t>37</a:t>
            </a:r>
          </a:p>
        </p:txBody>
      </p:sp>
      <p:sp>
        <p:nvSpPr>
          <p:cNvPr id="31" name="TextBox 30">
            <a:extLst>
              <a:ext uri="{FF2B5EF4-FFF2-40B4-BE49-F238E27FC236}">
                <a16:creationId xmlns:a16="http://schemas.microsoft.com/office/drawing/2014/main" id="{32D7ADEE-EF9B-A5A3-994C-E1A63518ED79}"/>
              </a:ext>
            </a:extLst>
          </p:cNvPr>
          <p:cNvSpPr txBox="1"/>
          <p:nvPr/>
        </p:nvSpPr>
        <p:spPr>
          <a:xfrm>
            <a:off x="7353300" y="4178300"/>
            <a:ext cx="1676400" cy="457200"/>
          </a:xfrm>
          <a:prstGeom prst="rect">
            <a:avLst/>
          </a:prstGeom>
          <a:noFill/>
        </p:spPr>
        <p:txBody>
          <a:bodyPr vert="horz" wrap="square" lIns="50800" tIns="25400" rIns="50800" bIns="25400" rtlCol="0" anchor="t">
            <a:noAutofit/>
          </a:bodyPr>
          <a:lstStyle/>
          <a:p>
            <a:r>
              <a:rPr lang="en-US" sz="850">
                <a:solidFill>
                  <a:srgbClr val="98A2B3"/>
                </a:solidFill>
                <a:latin typeface="Segoe UI" panose="020B0502040204020203" pitchFamily="34" charset="0"/>
              </a:rPr>
              <a:t>safe baseline fallbacks</a:t>
            </a:r>
          </a:p>
        </p:txBody>
      </p:sp>
      <p:sp>
        <p:nvSpPr>
          <p:cNvPr id="32" name="TextBox 31">
            <a:extLst>
              <a:ext uri="{FF2B5EF4-FFF2-40B4-BE49-F238E27FC236}">
                <a16:creationId xmlns:a16="http://schemas.microsoft.com/office/drawing/2014/main" id="{FBBF18C9-F320-07CA-2375-7E56ED857FB6}"/>
              </a:ext>
            </a:extLst>
          </p:cNvPr>
          <p:cNvSpPr txBox="1"/>
          <p:nvPr/>
        </p:nvSpPr>
        <p:spPr>
          <a:xfrm>
            <a:off x="9258300" y="3721100"/>
            <a:ext cx="1676400" cy="444500"/>
          </a:xfrm>
          <a:prstGeom prst="rect">
            <a:avLst/>
          </a:prstGeom>
          <a:noFill/>
        </p:spPr>
        <p:txBody>
          <a:bodyPr vert="horz" wrap="square" lIns="50800" tIns="25400" rIns="50800" bIns="25400" rtlCol="0" anchor="ctr">
            <a:noAutofit/>
          </a:bodyPr>
          <a:lstStyle/>
          <a:p>
            <a:r>
              <a:rPr lang="en-US" sz="2200" b="1">
                <a:solidFill>
                  <a:srgbClr val="FFFFFF"/>
                </a:solidFill>
                <a:latin typeface="Segoe UI" panose="020B0502040204020203" pitchFamily="34" charset="0"/>
              </a:rPr>
              <a:t>~20s</a:t>
            </a:r>
          </a:p>
        </p:txBody>
      </p:sp>
      <p:sp>
        <p:nvSpPr>
          <p:cNvPr id="33" name="TextBox 32">
            <a:extLst>
              <a:ext uri="{FF2B5EF4-FFF2-40B4-BE49-F238E27FC236}">
                <a16:creationId xmlns:a16="http://schemas.microsoft.com/office/drawing/2014/main" id="{72322D9E-E696-492C-B06F-6DFCDC867408}"/>
              </a:ext>
            </a:extLst>
          </p:cNvPr>
          <p:cNvSpPr txBox="1"/>
          <p:nvPr/>
        </p:nvSpPr>
        <p:spPr>
          <a:xfrm>
            <a:off x="9258300" y="4178300"/>
            <a:ext cx="1676400" cy="457200"/>
          </a:xfrm>
          <a:prstGeom prst="rect">
            <a:avLst/>
          </a:prstGeom>
          <a:noFill/>
        </p:spPr>
        <p:txBody>
          <a:bodyPr vert="horz" wrap="square" lIns="50800" tIns="25400" rIns="50800" bIns="25400" rtlCol="0" anchor="t">
            <a:noAutofit/>
          </a:bodyPr>
          <a:lstStyle/>
          <a:p>
            <a:r>
              <a:rPr lang="en-US" sz="850">
                <a:solidFill>
                  <a:srgbClr val="98A2B3"/>
                </a:solidFill>
                <a:latin typeface="Segoe UI" panose="020B0502040204020203" pitchFamily="34" charset="0"/>
              </a:rPr>
              <a:t>warm end-to-end neural run</a:t>
            </a:r>
          </a:p>
        </p:txBody>
      </p:sp>
      <p:sp>
        <p:nvSpPr>
          <p:cNvPr id="34" name="Rectangle: Rounded Corners 33">
            <a:extLst>
              <a:ext uri="{FF2B5EF4-FFF2-40B4-BE49-F238E27FC236}">
                <a16:creationId xmlns:a16="http://schemas.microsoft.com/office/drawing/2014/main" id="{689D896D-E26C-7427-8F24-4977C1E579E9}"/>
              </a:ext>
            </a:extLst>
          </p:cNvPr>
          <p:cNvSpPr/>
          <p:nvPr/>
        </p:nvSpPr>
        <p:spPr>
          <a:xfrm>
            <a:off x="7353300" y="4749800"/>
            <a:ext cx="3886200" cy="749300"/>
          </a:xfrm>
          <a:prstGeom prst="roundRect">
            <a:avLst/>
          </a:prstGeom>
          <a:solidFill>
            <a:srgbClr val="E58A00"/>
          </a:solidFill>
          <a:ln w="12700">
            <a:solidFill>
              <a:srgbClr val="E58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20B3F2A-070D-CD7E-637C-64423F6236C2}"/>
              </a:ext>
            </a:extLst>
          </p:cNvPr>
          <p:cNvSpPr txBox="1"/>
          <p:nvPr/>
        </p:nvSpPr>
        <p:spPr>
          <a:xfrm>
            <a:off x="7518400" y="4838700"/>
            <a:ext cx="3556000" cy="571500"/>
          </a:xfrm>
          <a:prstGeom prst="rect">
            <a:avLst/>
          </a:prstGeom>
          <a:noFill/>
        </p:spPr>
        <p:txBody>
          <a:bodyPr vert="horz" wrap="square" lIns="50800" tIns="25400" rIns="50800" bIns="25400" rtlCol="0" anchor="ctr">
            <a:noAutofit/>
          </a:bodyPr>
          <a:lstStyle/>
          <a:p>
            <a:pPr algn="ctr"/>
            <a:r>
              <a:rPr lang="en-US" sz="1000" b="1">
                <a:solidFill>
                  <a:srgbClr val="0B1536"/>
                </a:solidFill>
                <a:latin typeface="Segoe UI" panose="020B0502040204020203" pitchFamily="34" charset="0"/>
              </a:rPr>
              <a:t>Decision: keep EWMA as default until real sales history validates a neural promotion.</a:t>
            </a:r>
          </a:p>
        </p:txBody>
      </p:sp>
      <p:sp>
        <p:nvSpPr>
          <p:cNvPr id="36" name="Rectangle: Rounded Corners 35">
            <a:extLst>
              <a:ext uri="{FF2B5EF4-FFF2-40B4-BE49-F238E27FC236}">
                <a16:creationId xmlns:a16="http://schemas.microsoft.com/office/drawing/2014/main" id="{681782A6-0826-6E68-AD90-D0DFA448D3BE}"/>
              </a:ext>
            </a:extLst>
          </p:cNvPr>
          <p:cNvSpPr/>
          <p:nvPr/>
        </p:nvSpPr>
        <p:spPr>
          <a:xfrm>
            <a:off x="1397000" y="5969000"/>
            <a:ext cx="9398000" cy="393700"/>
          </a:xfrm>
          <a:prstGeom prst="roundRect">
            <a:avLst/>
          </a:prstGeom>
          <a:solidFill>
            <a:srgbClr val="EEE9FF"/>
          </a:solidFill>
          <a:ln w="12700">
            <a:solidFill>
              <a:srgbClr val="EE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88585EE-5A6D-829A-9180-5369A133D6B6}"/>
              </a:ext>
            </a:extLst>
          </p:cNvPr>
          <p:cNvSpPr txBox="1"/>
          <p:nvPr/>
        </p:nvSpPr>
        <p:spPr>
          <a:xfrm>
            <a:off x="1397000" y="5969000"/>
            <a:ext cx="9398000" cy="393700"/>
          </a:xfrm>
          <a:prstGeom prst="rect">
            <a:avLst/>
          </a:prstGeom>
          <a:noFill/>
        </p:spPr>
        <p:txBody>
          <a:bodyPr vert="horz" wrap="square" lIns="50800" tIns="25400" rIns="50800" bIns="25400" rtlCol="0" anchor="ctr">
            <a:noAutofit/>
          </a:bodyPr>
          <a:lstStyle/>
          <a:p>
            <a:pPr algn="ctr"/>
            <a:r>
              <a:rPr lang="en-US" sz="880" b="1">
                <a:solidFill>
                  <a:srgbClr val="6D3EF2"/>
                </a:solidFill>
                <a:latin typeface="Segoe UI" panose="020B0502040204020203" pitchFamily="34" charset="0"/>
              </a:rPr>
              <a:t>A fresh TFT led the best baseline by about 7.8% in the first three rolling windows - but on synthetic history.</a:t>
            </a:r>
          </a:p>
        </p:txBody>
      </p:sp>
      <p:sp>
        <p:nvSpPr>
          <p:cNvPr id="38" name="TextBox 37">
            <a:extLst>
              <a:ext uri="{FF2B5EF4-FFF2-40B4-BE49-F238E27FC236}">
                <a16:creationId xmlns:a16="http://schemas.microsoft.com/office/drawing/2014/main" id="{DE180E3C-B19D-BDB8-7F55-587ABB3B4D90}"/>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39" name="TextBox 38">
            <a:extLst>
              <a:ext uri="{FF2B5EF4-FFF2-40B4-BE49-F238E27FC236}">
                <a16:creationId xmlns:a16="http://schemas.microsoft.com/office/drawing/2014/main" id="{F8396229-7051-FC6F-7FF9-E1F527134FDA}"/>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12</a:t>
            </a:r>
          </a:p>
        </p:txBody>
      </p:sp>
    </p:spTree>
    <p:extLst>
      <p:ext uri="{BB962C8B-B14F-4D97-AF65-F5344CB8AC3E}">
        <p14:creationId xmlns:p14="http://schemas.microsoft.com/office/powerpoint/2010/main" val="3860627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DEFD95-47A1-E4CC-4903-68339D0E7B03}"/>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PROCESS INFOGRAPHIC</a:t>
            </a:r>
          </a:p>
        </p:txBody>
      </p:sp>
      <p:sp>
        <p:nvSpPr>
          <p:cNvPr id="3" name="TextBox 2">
            <a:extLst>
              <a:ext uri="{FF2B5EF4-FFF2-40B4-BE49-F238E27FC236}">
                <a16:creationId xmlns:a16="http://schemas.microsoft.com/office/drawing/2014/main" id="{A489829C-6EF5-BAC6-0534-E21FA540BD18}"/>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A forecast becomes one of five controlled actions</a:t>
            </a:r>
          </a:p>
        </p:txBody>
      </p:sp>
      <p:sp>
        <p:nvSpPr>
          <p:cNvPr id="4" name="TextBox 3">
            <a:extLst>
              <a:ext uri="{FF2B5EF4-FFF2-40B4-BE49-F238E27FC236}">
                <a16:creationId xmlns:a16="http://schemas.microsoft.com/office/drawing/2014/main" id="{FC8B5838-E935-5D47-EBA1-C749E9074349}"/>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The decision engine combines demand, supply, ordering constraints, ageing and location before asking a person to decide.</a:t>
            </a:r>
          </a:p>
        </p:txBody>
      </p:sp>
      <p:sp>
        <p:nvSpPr>
          <p:cNvPr id="5" name="Rectangle: Rounded Corners 4">
            <a:extLst>
              <a:ext uri="{FF2B5EF4-FFF2-40B4-BE49-F238E27FC236}">
                <a16:creationId xmlns:a16="http://schemas.microsoft.com/office/drawing/2014/main" id="{D3AE53BD-621B-833D-1ACD-5AEBE9E5B5B3}"/>
              </a:ext>
            </a:extLst>
          </p:cNvPr>
          <p:cNvSpPr/>
          <p:nvPr/>
        </p:nvSpPr>
        <p:spPr>
          <a:xfrm>
            <a:off x="609600" y="18415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F8FE8DB-9D54-FE12-A6FA-2C5F14125D22}"/>
              </a:ext>
            </a:extLst>
          </p:cNvPr>
          <p:cNvSpPr txBox="1"/>
          <p:nvPr/>
        </p:nvSpPr>
        <p:spPr>
          <a:xfrm>
            <a:off x="736600" y="18669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Latest forecast</a:t>
            </a:r>
          </a:p>
        </p:txBody>
      </p:sp>
      <p:cxnSp>
        <p:nvCxnSpPr>
          <p:cNvPr id="7" name="Straight Connector 6">
            <a:extLst>
              <a:ext uri="{FF2B5EF4-FFF2-40B4-BE49-F238E27FC236}">
                <a16:creationId xmlns:a16="http://schemas.microsoft.com/office/drawing/2014/main" id="{467AB013-B14C-7CF5-FBAC-E4B36583F0D2}"/>
              </a:ext>
            </a:extLst>
          </p:cNvPr>
          <p:cNvCxnSpPr/>
          <p:nvPr/>
        </p:nvCxnSpPr>
        <p:spPr>
          <a:xfrm>
            <a:off x="3213100" y="2057400"/>
            <a:ext cx="1155700" cy="15240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5819D1BD-15D6-6206-D504-9032B3053D41}"/>
              </a:ext>
            </a:extLst>
          </p:cNvPr>
          <p:cNvSpPr/>
          <p:nvPr/>
        </p:nvSpPr>
        <p:spPr>
          <a:xfrm>
            <a:off x="609600" y="24384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3CCAC7-E50C-AF12-B933-BE6053C67DE4}"/>
              </a:ext>
            </a:extLst>
          </p:cNvPr>
          <p:cNvSpPr txBox="1"/>
          <p:nvPr/>
        </p:nvSpPr>
        <p:spPr>
          <a:xfrm>
            <a:off x="736600" y="24638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On hand + incoming</a:t>
            </a:r>
          </a:p>
        </p:txBody>
      </p:sp>
      <p:cxnSp>
        <p:nvCxnSpPr>
          <p:cNvPr id="10" name="Straight Connector 9">
            <a:extLst>
              <a:ext uri="{FF2B5EF4-FFF2-40B4-BE49-F238E27FC236}">
                <a16:creationId xmlns:a16="http://schemas.microsoft.com/office/drawing/2014/main" id="{1D675935-BD62-D242-BB03-3E510A56D7BB}"/>
              </a:ext>
            </a:extLst>
          </p:cNvPr>
          <p:cNvCxnSpPr/>
          <p:nvPr/>
        </p:nvCxnSpPr>
        <p:spPr>
          <a:xfrm>
            <a:off x="3213100" y="2654300"/>
            <a:ext cx="1155700" cy="9271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73D2579C-6B8D-FFE5-5899-6353A46CF3CA}"/>
              </a:ext>
            </a:extLst>
          </p:cNvPr>
          <p:cNvSpPr/>
          <p:nvPr/>
        </p:nvSpPr>
        <p:spPr>
          <a:xfrm>
            <a:off x="609600" y="30353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A6667B4-3BD2-1B5C-0E0A-6A827ED775B2}"/>
              </a:ext>
            </a:extLst>
          </p:cNvPr>
          <p:cNvSpPr txBox="1"/>
          <p:nvPr/>
        </p:nvSpPr>
        <p:spPr>
          <a:xfrm>
            <a:off x="736600" y="30607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Lead time + safety</a:t>
            </a:r>
          </a:p>
        </p:txBody>
      </p:sp>
      <p:cxnSp>
        <p:nvCxnSpPr>
          <p:cNvPr id="13" name="Straight Connector 12">
            <a:extLst>
              <a:ext uri="{FF2B5EF4-FFF2-40B4-BE49-F238E27FC236}">
                <a16:creationId xmlns:a16="http://schemas.microsoft.com/office/drawing/2014/main" id="{88DE31D1-6F67-6BEC-9676-B6084A010586}"/>
              </a:ext>
            </a:extLst>
          </p:cNvPr>
          <p:cNvCxnSpPr/>
          <p:nvPr/>
        </p:nvCxnSpPr>
        <p:spPr>
          <a:xfrm>
            <a:off x="3213100" y="3251200"/>
            <a:ext cx="1155700" cy="3302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E2FDADD5-2059-6E37-1021-347185DC8CAE}"/>
              </a:ext>
            </a:extLst>
          </p:cNvPr>
          <p:cNvSpPr/>
          <p:nvPr/>
        </p:nvSpPr>
        <p:spPr>
          <a:xfrm>
            <a:off x="609600" y="36322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5CC1CF9-D6D1-33B4-5558-48BE9370932A}"/>
              </a:ext>
            </a:extLst>
          </p:cNvPr>
          <p:cNvSpPr txBox="1"/>
          <p:nvPr/>
        </p:nvSpPr>
        <p:spPr>
          <a:xfrm>
            <a:off x="736600" y="36576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MOQ + order multiple</a:t>
            </a:r>
          </a:p>
        </p:txBody>
      </p:sp>
      <p:cxnSp>
        <p:nvCxnSpPr>
          <p:cNvPr id="16" name="Straight Connector 15">
            <a:extLst>
              <a:ext uri="{FF2B5EF4-FFF2-40B4-BE49-F238E27FC236}">
                <a16:creationId xmlns:a16="http://schemas.microsoft.com/office/drawing/2014/main" id="{6A4D52E4-5FCA-482C-1217-DEBD40B36751}"/>
              </a:ext>
            </a:extLst>
          </p:cNvPr>
          <p:cNvCxnSpPr/>
          <p:nvPr/>
        </p:nvCxnSpPr>
        <p:spPr>
          <a:xfrm flipV="1">
            <a:off x="3213100" y="3581400"/>
            <a:ext cx="1155700" cy="2667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07C99AFF-05FD-2D7E-0D99-0A6CE2A40EA5}"/>
              </a:ext>
            </a:extLst>
          </p:cNvPr>
          <p:cNvSpPr/>
          <p:nvPr/>
        </p:nvSpPr>
        <p:spPr>
          <a:xfrm>
            <a:off x="609600" y="42291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1CD300F-2974-19B3-8815-C30A2CE6E4DB}"/>
              </a:ext>
            </a:extLst>
          </p:cNvPr>
          <p:cNvSpPr txBox="1"/>
          <p:nvPr/>
        </p:nvSpPr>
        <p:spPr>
          <a:xfrm>
            <a:off x="736600" y="42545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FIFO age + overstock</a:t>
            </a:r>
          </a:p>
        </p:txBody>
      </p:sp>
      <p:cxnSp>
        <p:nvCxnSpPr>
          <p:cNvPr id="19" name="Straight Connector 18">
            <a:extLst>
              <a:ext uri="{FF2B5EF4-FFF2-40B4-BE49-F238E27FC236}">
                <a16:creationId xmlns:a16="http://schemas.microsoft.com/office/drawing/2014/main" id="{B4AFBD02-C626-B859-E015-DE2384C18DDB}"/>
              </a:ext>
            </a:extLst>
          </p:cNvPr>
          <p:cNvCxnSpPr/>
          <p:nvPr/>
        </p:nvCxnSpPr>
        <p:spPr>
          <a:xfrm flipV="1">
            <a:off x="3213100" y="3581400"/>
            <a:ext cx="1155700" cy="8636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8440E7C4-AD64-E9B9-0DC6-0511D4D0721D}"/>
              </a:ext>
            </a:extLst>
          </p:cNvPr>
          <p:cNvSpPr/>
          <p:nvPr/>
        </p:nvSpPr>
        <p:spPr>
          <a:xfrm>
            <a:off x="609600" y="4826000"/>
            <a:ext cx="2603500" cy="444500"/>
          </a:xfrm>
          <a:prstGeom prst="roundRect">
            <a:avLst/>
          </a:prstGeom>
          <a:solidFill>
            <a:srgbClr val="FFFFFF"/>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01E222A-8719-A654-AFB7-33B399C4D308}"/>
              </a:ext>
            </a:extLst>
          </p:cNvPr>
          <p:cNvSpPr txBox="1"/>
          <p:nvPr/>
        </p:nvSpPr>
        <p:spPr>
          <a:xfrm>
            <a:off x="736600" y="4851400"/>
            <a:ext cx="2349500" cy="368300"/>
          </a:xfrm>
          <a:prstGeom prst="rect">
            <a:avLst/>
          </a:prstGeom>
          <a:noFill/>
        </p:spPr>
        <p:txBody>
          <a:bodyPr vert="horz" wrap="square" lIns="50800" tIns="25400" rIns="50800" bIns="25400" rtlCol="0" anchor="ctr">
            <a:noAutofit/>
          </a:bodyPr>
          <a:lstStyle/>
          <a:p>
            <a:r>
              <a:rPr lang="en-US" sz="950" b="1">
                <a:solidFill>
                  <a:srgbClr val="0B1536"/>
                </a:solidFill>
                <a:latin typeface="Segoe UI" panose="020B0502040204020203" pitchFamily="34" charset="0"/>
              </a:rPr>
              <a:t>Other warehouse stock</a:t>
            </a:r>
          </a:p>
        </p:txBody>
      </p:sp>
      <p:cxnSp>
        <p:nvCxnSpPr>
          <p:cNvPr id="22" name="Straight Connector 21">
            <a:extLst>
              <a:ext uri="{FF2B5EF4-FFF2-40B4-BE49-F238E27FC236}">
                <a16:creationId xmlns:a16="http://schemas.microsoft.com/office/drawing/2014/main" id="{AE37AA5F-7343-A0A8-84D1-D778C1D533B5}"/>
              </a:ext>
            </a:extLst>
          </p:cNvPr>
          <p:cNvCxnSpPr/>
          <p:nvPr/>
        </p:nvCxnSpPr>
        <p:spPr>
          <a:xfrm flipV="1">
            <a:off x="3213100" y="3581400"/>
            <a:ext cx="1155700" cy="1460500"/>
          </a:xfrm>
          <a:prstGeom prst="line">
            <a:avLst/>
          </a:prstGeom>
          <a:ln w="2159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1C23218D-37B0-128D-C6CD-20CE39E518F8}"/>
              </a:ext>
            </a:extLst>
          </p:cNvPr>
          <p:cNvSpPr/>
          <p:nvPr/>
        </p:nvSpPr>
        <p:spPr>
          <a:xfrm>
            <a:off x="4419600" y="2501900"/>
            <a:ext cx="2616200" cy="2171700"/>
          </a:xfrm>
          <a:prstGeom prst="roundRect">
            <a:avLst/>
          </a:prstGeom>
          <a:solidFill>
            <a:srgbClr val="0B1536"/>
          </a:solidFill>
          <a:ln w="12700">
            <a:solidFill>
              <a:srgbClr val="0B1536"/>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41B59AD-1B92-9457-C0F7-27CFF74DC545}"/>
              </a:ext>
            </a:extLst>
          </p:cNvPr>
          <p:cNvSpPr/>
          <p:nvPr/>
        </p:nvSpPr>
        <p:spPr>
          <a:xfrm>
            <a:off x="5372100" y="2806700"/>
            <a:ext cx="698500" cy="6985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D58F246-2187-74F0-46A2-6DA3ECF7E401}"/>
              </a:ext>
            </a:extLst>
          </p:cNvPr>
          <p:cNvSpPr txBox="1"/>
          <p:nvPr/>
        </p:nvSpPr>
        <p:spPr>
          <a:xfrm>
            <a:off x="5372100" y="2806700"/>
            <a:ext cx="698500" cy="6985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RULES</a:t>
            </a:r>
          </a:p>
        </p:txBody>
      </p:sp>
      <p:sp>
        <p:nvSpPr>
          <p:cNvPr id="26" name="TextBox 25">
            <a:extLst>
              <a:ext uri="{FF2B5EF4-FFF2-40B4-BE49-F238E27FC236}">
                <a16:creationId xmlns:a16="http://schemas.microsoft.com/office/drawing/2014/main" id="{8B66DB51-F47A-0731-4E7E-83FEFF74E25D}"/>
              </a:ext>
            </a:extLst>
          </p:cNvPr>
          <p:cNvSpPr txBox="1"/>
          <p:nvPr/>
        </p:nvSpPr>
        <p:spPr>
          <a:xfrm>
            <a:off x="4813300" y="3721100"/>
            <a:ext cx="1828800" cy="635000"/>
          </a:xfrm>
          <a:prstGeom prst="rect">
            <a:avLst/>
          </a:prstGeom>
          <a:noFill/>
        </p:spPr>
        <p:txBody>
          <a:bodyPr vert="horz" wrap="square" lIns="50800" tIns="25400" rIns="50800" bIns="25400" rtlCol="0" anchor="ctr">
            <a:noAutofit/>
          </a:bodyPr>
          <a:lstStyle/>
          <a:p>
            <a:pPr algn="ctr"/>
            <a:r>
              <a:rPr lang="en-US" sz="1500" b="1">
                <a:solidFill>
                  <a:srgbClr val="FFFFFF"/>
                </a:solidFill>
                <a:latin typeface="Segoe UI" panose="020B0502040204020203" pitchFamily="34" charset="0"/>
              </a:rPr>
              <a:t>Inventory decision engine</a:t>
            </a:r>
          </a:p>
        </p:txBody>
      </p:sp>
      <p:cxnSp>
        <p:nvCxnSpPr>
          <p:cNvPr id="27" name="Straight Connector 26">
            <a:extLst>
              <a:ext uri="{FF2B5EF4-FFF2-40B4-BE49-F238E27FC236}">
                <a16:creationId xmlns:a16="http://schemas.microsoft.com/office/drawing/2014/main" id="{3F454201-A3AA-A4F4-57FF-2B9216756E2B}"/>
              </a:ext>
            </a:extLst>
          </p:cNvPr>
          <p:cNvCxnSpPr/>
          <p:nvPr/>
        </p:nvCxnSpPr>
        <p:spPr>
          <a:xfrm flipV="1">
            <a:off x="7035800" y="1981200"/>
            <a:ext cx="1041400" cy="1600200"/>
          </a:xfrm>
          <a:prstGeom prst="line">
            <a:avLst/>
          </a:prstGeom>
          <a:ln w="2159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560D6D2A-5D45-8E5B-69CD-E7265A71EF1D}"/>
              </a:ext>
            </a:extLst>
          </p:cNvPr>
          <p:cNvSpPr/>
          <p:nvPr/>
        </p:nvSpPr>
        <p:spPr>
          <a:xfrm>
            <a:off x="8128000" y="1739900"/>
            <a:ext cx="2273300" cy="495300"/>
          </a:xfrm>
          <a:prstGeom prst="roundRect">
            <a:avLst/>
          </a:prstGeom>
          <a:solidFill>
            <a:srgbClr val="EEE9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65991C9-0C3E-0FD5-0ABA-174F0CAB8DCD}"/>
              </a:ext>
            </a:extLst>
          </p:cNvPr>
          <p:cNvSpPr txBox="1"/>
          <p:nvPr/>
        </p:nvSpPr>
        <p:spPr>
          <a:xfrm>
            <a:off x="8255000" y="1778000"/>
            <a:ext cx="2019300" cy="393700"/>
          </a:xfrm>
          <a:prstGeom prst="rect">
            <a:avLst/>
          </a:prstGeom>
          <a:noFill/>
        </p:spPr>
        <p:txBody>
          <a:bodyPr vert="horz" wrap="square" lIns="50800" tIns="25400" rIns="50800" bIns="25400" rtlCol="0" anchor="ctr">
            <a:noAutofit/>
          </a:bodyPr>
          <a:lstStyle/>
          <a:p>
            <a:pPr algn="ctr"/>
            <a:r>
              <a:rPr lang="en-US" sz="1050" b="1">
                <a:solidFill>
                  <a:srgbClr val="6D3EF2"/>
                </a:solidFill>
                <a:latin typeface="Segoe UI" panose="020B0502040204020203" pitchFamily="34" charset="0"/>
              </a:rPr>
              <a:t>Purchase</a:t>
            </a:r>
          </a:p>
        </p:txBody>
      </p:sp>
      <p:cxnSp>
        <p:nvCxnSpPr>
          <p:cNvPr id="30" name="Straight Connector 29">
            <a:extLst>
              <a:ext uri="{FF2B5EF4-FFF2-40B4-BE49-F238E27FC236}">
                <a16:creationId xmlns:a16="http://schemas.microsoft.com/office/drawing/2014/main" id="{651B9BF0-4E08-8AF3-0948-176BCB6A6AFA}"/>
              </a:ext>
            </a:extLst>
          </p:cNvPr>
          <p:cNvCxnSpPr/>
          <p:nvPr/>
        </p:nvCxnSpPr>
        <p:spPr>
          <a:xfrm flipV="1">
            <a:off x="7035800" y="2667000"/>
            <a:ext cx="1041400" cy="914400"/>
          </a:xfrm>
          <a:prstGeom prst="line">
            <a:avLst/>
          </a:prstGeom>
          <a:ln w="21590">
            <a:solidFill>
              <a:srgbClr val="E58A00"/>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28A8E721-A3F0-FF33-FD86-D4175EBC1441}"/>
              </a:ext>
            </a:extLst>
          </p:cNvPr>
          <p:cNvSpPr/>
          <p:nvPr/>
        </p:nvSpPr>
        <p:spPr>
          <a:xfrm>
            <a:off x="8128000" y="2425700"/>
            <a:ext cx="2273300" cy="495300"/>
          </a:xfrm>
          <a:prstGeom prst="roundRect">
            <a:avLst/>
          </a:prstGeom>
          <a:solidFill>
            <a:srgbClr val="FFF2D9"/>
          </a:solidFill>
          <a:ln w="12700">
            <a:solidFill>
              <a:srgbClr val="E58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E308342-3562-6A68-23E6-5FCC4300E3E0}"/>
              </a:ext>
            </a:extLst>
          </p:cNvPr>
          <p:cNvSpPr txBox="1"/>
          <p:nvPr/>
        </p:nvSpPr>
        <p:spPr>
          <a:xfrm>
            <a:off x="8255000" y="2463800"/>
            <a:ext cx="2019300" cy="393700"/>
          </a:xfrm>
          <a:prstGeom prst="rect">
            <a:avLst/>
          </a:prstGeom>
          <a:noFill/>
        </p:spPr>
        <p:txBody>
          <a:bodyPr vert="horz" wrap="square" lIns="50800" tIns="25400" rIns="50800" bIns="25400" rtlCol="0" anchor="ctr">
            <a:noAutofit/>
          </a:bodyPr>
          <a:lstStyle/>
          <a:p>
            <a:pPr algn="ctr"/>
            <a:r>
              <a:rPr lang="en-US" sz="1050" b="1">
                <a:solidFill>
                  <a:srgbClr val="E58A00"/>
                </a:solidFill>
                <a:latin typeface="Segoe UI" panose="020B0502040204020203" pitchFamily="34" charset="0"/>
              </a:rPr>
              <a:t>Reduce purchase</a:t>
            </a:r>
          </a:p>
        </p:txBody>
      </p:sp>
      <p:cxnSp>
        <p:nvCxnSpPr>
          <p:cNvPr id="33" name="Straight Connector 32">
            <a:extLst>
              <a:ext uri="{FF2B5EF4-FFF2-40B4-BE49-F238E27FC236}">
                <a16:creationId xmlns:a16="http://schemas.microsoft.com/office/drawing/2014/main" id="{E6592E3A-289B-C7BD-E789-9C3FFE28B6FB}"/>
              </a:ext>
            </a:extLst>
          </p:cNvPr>
          <p:cNvCxnSpPr/>
          <p:nvPr/>
        </p:nvCxnSpPr>
        <p:spPr>
          <a:xfrm flipV="1">
            <a:off x="7035800" y="3352800"/>
            <a:ext cx="1041400" cy="228600"/>
          </a:xfrm>
          <a:prstGeom prst="line">
            <a:avLst/>
          </a:prstGeom>
          <a:ln w="21590">
            <a:solidFill>
              <a:srgbClr val="E5484D"/>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680ADBE7-21F5-7D21-57AE-EAB5E2345819}"/>
              </a:ext>
            </a:extLst>
          </p:cNvPr>
          <p:cNvSpPr/>
          <p:nvPr/>
        </p:nvSpPr>
        <p:spPr>
          <a:xfrm>
            <a:off x="8128000" y="3111500"/>
            <a:ext cx="2273300" cy="495300"/>
          </a:xfrm>
          <a:prstGeom prst="roundRect">
            <a:avLst/>
          </a:prstGeom>
          <a:solidFill>
            <a:srgbClr val="FDE7E7"/>
          </a:solidFill>
          <a:ln w="12700">
            <a:solidFill>
              <a:srgbClr val="E548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457076C-A580-4365-5F04-42B8B1D36E00}"/>
              </a:ext>
            </a:extLst>
          </p:cNvPr>
          <p:cNvSpPr txBox="1"/>
          <p:nvPr/>
        </p:nvSpPr>
        <p:spPr>
          <a:xfrm>
            <a:off x="8255000" y="3149600"/>
            <a:ext cx="2019300" cy="393700"/>
          </a:xfrm>
          <a:prstGeom prst="rect">
            <a:avLst/>
          </a:prstGeom>
          <a:noFill/>
        </p:spPr>
        <p:txBody>
          <a:bodyPr vert="horz" wrap="square" lIns="50800" tIns="25400" rIns="50800" bIns="25400" rtlCol="0" anchor="ctr">
            <a:noAutofit/>
          </a:bodyPr>
          <a:lstStyle/>
          <a:p>
            <a:pPr algn="ctr"/>
            <a:r>
              <a:rPr lang="en-US" sz="1050" b="1">
                <a:solidFill>
                  <a:srgbClr val="E5484D"/>
                </a:solidFill>
                <a:latin typeface="Segoe UI" panose="020B0502040204020203" pitchFamily="34" charset="0"/>
              </a:rPr>
              <a:t>Do not reorder</a:t>
            </a:r>
          </a:p>
        </p:txBody>
      </p:sp>
      <p:cxnSp>
        <p:nvCxnSpPr>
          <p:cNvPr id="36" name="Straight Connector 35">
            <a:extLst>
              <a:ext uri="{FF2B5EF4-FFF2-40B4-BE49-F238E27FC236}">
                <a16:creationId xmlns:a16="http://schemas.microsoft.com/office/drawing/2014/main" id="{67E950CD-5B55-C5BF-10DF-EEE243E22719}"/>
              </a:ext>
            </a:extLst>
          </p:cNvPr>
          <p:cNvCxnSpPr/>
          <p:nvPr/>
        </p:nvCxnSpPr>
        <p:spPr>
          <a:xfrm>
            <a:off x="7035800" y="3581400"/>
            <a:ext cx="1041400" cy="457200"/>
          </a:xfrm>
          <a:prstGeom prst="line">
            <a:avLst/>
          </a:prstGeom>
          <a:ln w="2159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E1AD399F-0C93-79C6-36D7-0545B2A4A549}"/>
              </a:ext>
            </a:extLst>
          </p:cNvPr>
          <p:cNvSpPr/>
          <p:nvPr/>
        </p:nvSpPr>
        <p:spPr>
          <a:xfrm>
            <a:off x="8128000" y="3797300"/>
            <a:ext cx="2273300" cy="495300"/>
          </a:xfrm>
          <a:prstGeom prst="roundRect">
            <a:avLst/>
          </a:prstGeom>
          <a:solidFill>
            <a:srgbClr val="E4F7F8"/>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21A3D6EE-A0E7-7D43-7CBE-F06F6DBFFB8B}"/>
              </a:ext>
            </a:extLst>
          </p:cNvPr>
          <p:cNvSpPr txBox="1"/>
          <p:nvPr/>
        </p:nvSpPr>
        <p:spPr>
          <a:xfrm>
            <a:off x="8255000" y="3835400"/>
            <a:ext cx="2019300" cy="393700"/>
          </a:xfrm>
          <a:prstGeom prst="rect">
            <a:avLst/>
          </a:prstGeom>
          <a:noFill/>
        </p:spPr>
        <p:txBody>
          <a:bodyPr vert="horz" wrap="square" lIns="50800" tIns="25400" rIns="50800" bIns="25400" rtlCol="0" anchor="ctr">
            <a:noAutofit/>
          </a:bodyPr>
          <a:lstStyle/>
          <a:p>
            <a:pPr algn="ctr"/>
            <a:r>
              <a:rPr lang="en-US" sz="1050" b="1">
                <a:solidFill>
                  <a:srgbClr val="078A99"/>
                </a:solidFill>
                <a:latin typeface="Segoe UI" panose="020B0502040204020203" pitchFamily="34" charset="0"/>
              </a:rPr>
              <a:t>Transfer stock</a:t>
            </a:r>
          </a:p>
        </p:txBody>
      </p:sp>
      <p:cxnSp>
        <p:nvCxnSpPr>
          <p:cNvPr id="39" name="Straight Connector 38">
            <a:extLst>
              <a:ext uri="{FF2B5EF4-FFF2-40B4-BE49-F238E27FC236}">
                <a16:creationId xmlns:a16="http://schemas.microsoft.com/office/drawing/2014/main" id="{6BBC2C4D-B1FC-6409-ABD6-04BAABCB3D91}"/>
              </a:ext>
            </a:extLst>
          </p:cNvPr>
          <p:cNvCxnSpPr/>
          <p:nvPr/>
        </p:nvCxnSpPr>
        <p:spPr>
          <a:xfrm>
            <a:off x="7035800" y="3581400"/>
            <a:ext cx="1041400" cy="1143000"/>
          </a:xfrm>
          <a:prstGeom prst="line">
            <a:avLst/>
          </a:prstGeom>
          <a:ln w="2159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675AD779-3784-A1AD-753F-5970A1325F93}"/>
              </a:ext>
            </a:extLst>
          </p:cNvPr>
          <p:cNvSpPr/>
          <p:nvPr/>
        </p:nvSpPr>
        <p:spPr>
          <a:xfrm>
            <a:off x="8128000" y="4483100"/>
            <a:ext cx="2273300" cy="495300"/>
          </a:xfrm>
          <a:prstGeom prst="roundRect">
            <a:avLst/>
          </a:prstGeom>
          <a:solidFill>
            <a:srgbClr val="E1F7E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3421F17-2BAE-9AC5-9338-926626CA0CE0}"/>
              </a:ext>
            </a:extLst>
          </p:cNvPr>
          <p:cNvSpPr txBox="1"/>
          <p:nvPr/>
        </p:nvSpPr>
        <p:spPr>
          <a:xfrm>
            <a:off x="8255000" y="4521200"/>
            <a:ext cx="2019300" cy="393700"/>
          </a:xfrm>
          <a:prstGeom prst="rect">
            <a:avLst/>
          </a:prstGeom>
          <a:noFill/>
        </p:spPr>
        <p:txBody>
          <a:bodyPr vert="horz" wrap="square" lIns="50800" tIns="25400" rIns="50800" bIns="25400" rtlCol="0" anchor="ctr">
            <a:noAutofit/>
          </a:bodyPr>
          <a:lstStyle/>
          <a:p>
            <a:pPr algn="ctr"/>
            <a:r>
              <a:rPr lang="en-US" sz="1050" b="1">
                <a:solidFill>
                  <a:srgbClr val="0E9F6E"/>
                </a:solidFill>
                <a:latin typeface="Segoe UI" panose="020B0502040204020203" pitchFamily="34" charset="0"/>
              </a:rPr>
              <a:t>Clearance</a:t>
            </a:r>
          </a:p>
        </p:txBody>
      </p:sp>
      <p:cxnSp>
        <p:nvCxnSpPr>
          <p:cNvPr id="42" name="Straight Connector 41">
            <a:extLst>
              <a:ext uri="{FF2B5EF4-FFF2-40B4-BE49-F238E27FC236}">
                <a16:creationId xmlns:a16="http://schemas.microsoft.com/office/drawing/2014/main" id="{1039505B-9007-EB98-6DAB-66E22A1B3E04}"/>
              </a:ext>
            </a:extLst>
          </p:cNvPr>
          <p:cNvCxnSpPr/>
          <p:nvPr/>
        </p:nvCxnSpPr>
        <p:spPr>
          <a:xfrm>
            <a:off x="10426700" y="3581400"/>
            <a:ext cx="558800" cy="0"/>
          </a:xfrm>
          <a:prstGeom prst="line">
            <a:avLst/>
          </a:prstGeom>
          <a:ln w="3175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43" name="Rectangle: Rounded Corners 42">
            <a:extLst>
              <a:ext uri="{FF2B5EF4-FFF2-40B4-BE49-F238E27FC236}">
                <a16:creationId xmlns:a16="http://schemas.microsoft.com/office/drawing/2014/main" id="{646C6353-47A4-13D2-D106-E46C9D8804C5}"/>
              </a:ext>
            </a:extLst>
          </p:cNvPr>
          <p:cNvSpPr/>
          <p:nvPr/>
        </p:nvSpPr>
        <p:spPr>
          <a:xfrm>
            <a:off x="10922000" y="2667000"/>
            <a:ext cx="914400" cy="1841500"/>
          </a:xfrm>
          <a:prstGeom prst="roundRect">
            <a:avLst/>
          </a:prstGeom>
          <a:solidFill>
            <a:srgbClr val="E1F7E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2E126E53-4B4F-B7C4-DE02-C4C7D03B79B2}"/>
              </a:ext>
            </a:extLst>
          </p:cNvPr>
          <p:cNvSpPr txBox="1"/>
          <p:nvPr/>
        </p:nvSpPr>
        <p:spPr>
          <a:xfrm>
            <a:off x="11010900" y="2794000"/>
            <a:ext cx="736600" cy="1600200"/>
          </a:xfrm>
          <a:prstGeom prst="rect">
            <a:avLst/>
          </a:prstGeom>
          <a:noFill/>
        </p:spPr>
        <p:txBody>
          <a:bodyPr vert="horz" wrap="square" lIns="50800" tIns="25400" rIns="50800" bIns="25400" rtlCol="0" anchor="ctr">
            <a:noAutofit/>
          </a:bodyPr>
          <a:lstStyle/>
          <a:p>
            <a:pPr algn="ctr"/>
            <a:r>
              <a:rPr lang="en-US" sz="900" b="1">
                <a:solidFill>
                  <a:srgbClr val="0E9F6E"/>
                </a:solidFill>
                <a:latin typeface="Segoe UI" panose="020B0502040204020203" pitchFamily="34" charset="0"/>
              </a:rPr>
              <a:t>HUMAN</a:t>
            </a:r>
          </a:p>
          <a:p>
            <a:pPr algn="ctr"/>
            <a:r>
              <a:rPr lang="en-US" sz="900" b="1">
                <a:solidFill>
                  <a:srgbClr val="0E9F6E"/>
                </a:solidFill>
                <a:latin typeface="Segoe UI" panose="020B0502040204020203" pitchFamily="34" charset="0"/>
              </a:rPr>
              <a:t>REVIEW</a:t>
            </a:r>
          </a:p>
          <a:p>
            <a:pPr algn="ctr"/>
            <a:endParaRPr lang="en-US" sz="900" b="1">
              <a:solidFill>
                <a:srgbClr val="0E9F6E"/>
              </a:solidFill>
              <a:latin typeface="Segoe UI" panose="020B0502040204020203" pitchFamily="34" charset="0"/>
            </a:endParaRPr>
          </a:p>
          <a:p>
            <a:pPr algn="ctr"/>
            <a:r>
              <a:rPr lang="en-US" sz="900" b="1">
                <a:solidFill>
                  <a:srgbClr val="0E9F6E"/>
                </a:solidFill>
                <a:latin typeface="Segoe UI" panose="020B0502040204020203" pitchFamily="34" charset="0"/>
              </a:rPr>
              <a:t>Accept</a:t>
            </a:r>
          </a:p>
          <a:p>
            <a:pPr algn="ctr"/>
            <a:r>
              <a:rPr lang="en-US" sz="900" b="1">
                <a:solidFill>
                  <a:srgbClr val="0E9F6E"/>
                </a:solidFill>
                <a:latin typeface="Segoe UI" panose="020B0502040204020203" pitchFamily="34" charset="0"/>
              </a:rPr>
              <a:t>Modify</a:t>
            </a:r>
          </a:p>
          <a:p>
            <a:pPr algn="ctr"/>
            <a:r>
              <a:rPr lang="en-US" sz="900" b="1">
                <a:solidFill>
                  <a:srgbClr val="0E9F6E"/>
                </a:solidFill>
                <a:latin typeface="Segoe UI" panose="020B0502040204020203" pitchFamily="34" charset="0"/>
              </a:rPr>
              <a:t>Reject</a:t>
            </a:r>
          </a:p>
        </p:txBody>
      </p:sp>
      <p:sp>
        <p:nvSpPr>
          <p:cNvPr id="45" name="Rectangle: Rounded Corners 44">
            <a:extLst>
              <a:ext uri="{FF2B5EF4-FFF2-40B4-BE49-F238E27FC236}">
                <a16:creationId xmlns:a16="http://schemas.microsoft.com/office/drawing/2014/main" id="{ED70AD51-BB88-30E7-BA9B-10E2AF183CDE}"/>
              </a:ext>
            </a:extLst>
          </p:cNvPr>
          <p:cNvSpPr/>
          <p:nvPr/>
        </p:nvSpPr>
        <p:spPr>
          <a:xfrm>
            <a:off x="1917700" y="5715000"/>
            <a:ext cx="8356600" cy="4445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8B3ACBF-AD55-9F3B-33BA-20B6A7586A9B}"/>
              </a:ext>
            </a:extLst>
          </p:cNvPr>
          <p:cNvSpPr txBox="1"/>
          <p:nvPr/>
        </p:nvSpPr>
        <p:spPr>
          <a:xfrm>
            <a:off x="1917700" y="5715000"/>
            <a:ext cx="8356600" cy="444500"/>
          </a:xfrm>
          <a:prstGeom prst="rect">
            <a:avLst/>
          </a:prstGeom>
          <a:noFill/>
        </p:spPr>
        <p:txBody>
          <a:bodyPr vert="horz" wrap="square" lIns="50800" tIns="25400" rIns="50800" bIns="25400" rtlCol="0" anchor="ctr">
            <a:noAutofit/>
          </a:bodyPr>
          <a:lstStyle/>
          <a:p>
            <a:pPr algn="ctr"/>
            <a:r>
              <a:rPr lang="en-US" sz="950" b="1">
                <a:solidFill>
                  <a:srgbClr val="0E9F6E"/>
                </a:solidFill>
                <a:latin typeface="Segoe UI" panose="020B0502040204020203" pitchFamily="34" charset="0"/>
              </a:rPr>
              <a:t>Accepted decisions are executed through normal PO or transfer workflows - never silently auto-posted.</a:t>
            </a:r>
          </a:p>
        </p:txBody>
      </p:sp>
      <p:sp>
        <p:nvSpPr>
          <p:cNvPr id="47" name="TextBox 46">
            <a:extLst>
              <a:ext uri="{FF2B5EF4-FFF2-40B4-BE49-F238E27FC236}">
                <a16:creationId xmlns:a16="http://schemas.microsoft.com/office/drawing/2014/main" id="{ED6616B3-FD0F-534C-048B-C8F729471A5F}"/>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8" name="TextBox 47">
            <a:extLst>
              <a:ext uri="{FF2B5EF4-FFF2-40B4-BE49-F238E27FC236}">
                <a16:creationId xmlns:a16="http://schemas.microsoft.com/office/drawing/2014/main" id="{176A183F-BBA5-B1BE-BF00-6EF687C7B07B}"/>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13</a:t>
            </a:r>
          </a:p>
        </p:txBody>
      </p:sp>
    </p:spTree>
    <p:extLst>
      <p:ext uri="{BB962C8B-B14F-4D97-AF65-F5344CB8AC3E}">
        <p14:creationId xmlns:p14="http://schemas.microsoft.com/office/powerpoint/2010/main" val="4288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D0C6B-A4A5-7886-55A7-DADD4DD6FC5C}"/>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MULTI-LOCATION DECISION FLOW</a:t>
            </a:r>
          </a:p>
        </p:txBody>
      </p:sp>
      <p:sp>
        <p:nvSpPr>
          <p:cNvPr id="3" name="TextBox 2">
            <a:extLst>
              <a:ext uri="{FF2B5EF4-FFF2-40B4-BE49-F238E27FC236}">
                <a16:creationId xmlns:a16="http://schemas.microsoft.com/office/drawing/2014/main" id="{B8D7714A-C8EE-62F3-1C00-2F4E180CA396}"/>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Optimize across warehouses before buying more</a:t>
            </a:r>
          </a:p>
        </p:txBody>
      </p:sp>
      <p:sp>
        <p:nvSpPr>
          <p:cNvPr id="4" name="TextBox 3">
            <a:extLst>
              <a:ext uri="{FF2B5EF4-FFF2-40B4-BE49-F238E27FC236}">
                <a16:creationId xmlns:a16="http://schemas.microsoft.com/office/drawing/2014/main" id="{907CCB7D-D1BA-AAAC-67A3-8DBC652E89B4}"/>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Stock transfer matching reduces avoidable purchasing; central allocation consolidates the remaining need.</a:t>
            </a:r>
          </a:p>
        </p:txBody>
      </p:sp>
      <p:sp>
        <p:nvSpPr>
          <p:cNvPr id="5" name="Rectangle: Rounded Corners 4">
            <a:extLst>
              <a:ext uri="{FF2B5EF4-FFF2-40B4-BE49-F238E27FC236}">
                <a16:creationId xmlns:a16="http://schemas.microsoft.com/office/drawing/2014/main" id="{79E58590-F682-F1FE-72BA-92C01177FD98}"/>
              </a:ext>
            </a:extLst>
          </p:cNvPr>
          <p:cNvSpPr/>
          <p:nvPr/>
        </p:nvSpPr>
        <p:spPr>
          <a:xfrm>
            <a:off x="711200" y="1905000"/>
            <a:ext cx="2476500" cy="889000"/>
          </a:xfrm>
          <a:prstGeom prst="roundRect">
            <a:avLst/>
          </a:prstGeom>
          <a:solidFill>
            <a:srgbClr val="E1F7E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B6455A-3B4A-898B-6CAC-489450125ECE}"/>
              </a:ext>
            </a:extLst>
          </p:cNvPr>
          <p:cNvSpPr txBox="1"/>
          <p:nvPr/>
        </p:nvSpPr>
        <p:spPr>
          <a:xfrm>
            <a:off x="939800" y="2032000"/>
            <a:ext cx="2032000" cy="304800"/>
          </a:xfrm>
          <a:prstGeom prst="rect">
            <a:avLst/>
          </a:prstGeom>
          <a:noFill/>
        </p:spPr>
        <p:txBody>
          <a:bodyPr vert="horz" wrap="square" lIns="50800" tIns="25400" rIns="50800" bIns="25400" rtlCol="0" anchor="ctr">
            <a:noAutofit/>
          </a:bodyPr>
          <a:lstStyle/>
          <a:p>
            <a:r>
              <a:rPr lang="en-US" sz="1200" b="1">
                <a:solidFill>
                  <a:srgbClr val="0B1536"/>
                </a:solidFill>
                <a:latin typeface="Segoe UI" panose="020B0502040204020203" pitchFamily="34" charset="0"/>
              </a:rPr>
              <a:t>Warehouse A</a:t>
            </a:r>
          </a:p>
        </p:txBody>
      </p:sp>
      <p:sp>
        <p:nvSpPr>
          <p:cNvPr id="7" name="TextBox 6">
            <a:extLst>
              <a:ext uri="{FF2B5EF4-FFF2-40B4-BE49-F238E27FC236}">
                <a16:creationId xmlns:a16="http://schemas.microsoft.com/office/drawing/2014/main" id="{B969BFB4-4374-522E-F9F9-1846DE973331}"/>
              </a:ext>
            </a:extLst>
          </p:cNvPr>
          <p:cNvSpPr txBox="1"/>
          <p:nvPr/>
        </p:nvSpPr>
        <p:spPr>
          <a:xfrm>
            <a:off x="939800" y="2362200"/>
            <a:ext cx="2032000" cy="292100"/>
          </a:xfrm>
          <a:prstGeom prst="rect">
            <a:avLst/>
          </a:prstGeom>
          <a:noFill/>
        </p:spPr>
        <p:txBody>
          <a:bodyPr vert="horz" wrap="square" lIns="50800" tIns="25400" rIns="50800" bIns="25400" rtlCol="0" anchor="ctr">
            <a:noAutofit/>
          </a:bodyPr>
          <a:lstStyle/>
          <a:p>
            <a:r>
              <a:rPr lang="en-US" sz="1050" b="1">
                <a:solidFill>
                  <a:srgbClr val="0E9F6E"/>
                </a:solidFill>
                <a:latin typeface="Segoe UI" panose="020B0502040204020203" pitchFamily="34" charset="0"/>
              </a:rPr>
              <a:t>+42 surplus</a:t>
            </a:r>
          </a:p>
        </p:txBody>
      </p:sp>
      <p:sp>
        <p:nvSpPr>
          <p:cNvPr id="8" name="Rectangle: Rounded Corners 7">
            <a:extLst>
              <a:ext uri="{FF2B5EF4-FFF2-40B4-BE49-F238E27FC236}">
                <a16:creationId xmlns:a16="http://schemas.microsoft.com/office/drawing/2014/main" id="{B81F1886-03A4-8429-0507-1312DBD798B9}"/>
              </a:ext>
            </a:extLst>
          </p:cNvPr>
          <p:cNvSpPr/>
          <p:nvPr/>
        </p:nvSpPr>
        <p:spPr>
          <a:xfrm>
            <a:off x="711200" y="3111500"/>
            <a:ext cx="2476500" cy="889000"/>
          </a:xfrm>
          <a:prstGeom prst="roundRect">
            <a:avLst/>
          </a:prstGeom>
          <a:solidFill>
            <a:srgbClr val="FDE7E7"/>
          </a:solidFill>
          <a:ln w="12700">
            <a:solidFill>
              <a:srgbClr val="E548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8F20D3D-141E-2D2A-EA3B-E9780E9FA4F4}"/>
              </a:ext>
            </a:extLst>
          </p:cNvPr>
          <p:cNvSpPr txBox="1"/>
          <p:nvPr/>
        </p:nvSpPr>
        <p:spPr>
          <a:xfrm>
            <a:off x="939800" y="3238500"/>
            <a:ext cx="2032000" cy="304800"/>
          </a:xfrm>
          <a:prstGeom prst="rect">
            <a:avLst/>
          </a:prstGeom>
          <a:noFill/>
        </p:spPr>
        <p:txBody>
          <a:bodyPr vert="horz" wrap="square" lIns="50800" tIns="25400" rIns="50800" bIns="25400" rtlCol="0" anchor="ctr">
            <a:noAutofit/>
          </a:bodyPr>
          <a:lstStyle/>
          <a:p>
            <a:r>
              <a:rPr lang="en-US" sz="1200" b="1">
                <a:solidFill>
                  <a:srgbClr val="0B1536"/>
                </a:solidFill>
                <a:latin typeface="Segoe UI" panose="020B0502040204020203" pitchFamily="34" charset="0"/>
              </a:rPr>
              <a:t>Warehouse B</a:t>
            </a:r>
          </a:p>
        </p:txBody>
      </p:sp>
      <p:sp>
        <p:nvSpPr>
          <p:cNvPr id="10" name="TextBox 9">
            <a:extLst>
              <a:ext uri="{FF2B5EF4-FFF2-40B4-BE49-F238E27FC236}">
                <a16:creationId xmlns:a16="http://schemas.microsoft.com/office/drawing/2014/main" id="{8EBC0858-D067-F08C-0EB4-44A129F13981}"/>
              </a:ext>
            </a:extLst>
          </p:cNvPr>
          <p:cNvSpPr txBox="1"/>
          <p:nvPr/>
        </p:nvSpPr>
        <p:spPr>
          <a:xfrm>
            <a:off x="939800" y="3568700"/>
            <a:ext cx="2032000" cy="292100"/>
          </a:xfrm>
          <a:prstGeom prst="rect">
            <a:avLst/>
          </a:prstGeom>
          <a:noFill/>
        </p:spPr>
        <p:txBody>
          <a:bodyPr vert="horz" wrap="square" lIns="50800" tIns="25400" rIns="50800" bIns="25400" rtlCol="0" anchor="ctr">
            <a:noAutofit/>
          </a:bodyPr>
          <a:lstStyle/>
          <a:p>
            <a:r>
              <a:rPr lang="en-US" sz="1050" b="1">
                <a:solidFill>
                  <a:srgbClr val="E5484D"/>
                </a:solidFill>
                <a:latin typeface="Segoe UI" panose="020B0502040204020203" pitchFamily="34" charset="0"/>
              </a:rPr>
              <a:t>-18 shortage</a:t>
            </a:r>
          </a:p>
        </p:txBody>
      </p:sp>
      <p:sp>
        <p:nvSpPr>
          <p:cNvPr id="11" name="Rectangle: Rounded Corners 10">
            <a:extLst>
              <a:ext uri="{FF2B5EF4-FFF2-40B4-BE49-F238E27FC236}">
                <a16:creationId xmlns:a16="http://schemas.microsoft.com/office/drawing/2014/main" id="{27CD2B5D-DAF4-65AE-EA1F-C2A95C0E5A55}"/>
              </a:ext>
            </a:extLst>
          </p:cNvPr>
          <p:cNvSpPr/>
          <p:nvPr/>
        </p:nvSpPr>
        <p:spPr>
          <a:xfrm>
            <a:off x="711200" y="4318000"/>
            <a:ext cx="2476500" cy="889000"/>
          </a:xfrm>
          <a:prstGeom prst="roundRect">
            <a:avLst/>
          </a:prstGeom>
          <a:solidFill>
            <a:srgbClr val="FDE7E7"/>
          </a:solidFill>
          <a:ln w="12700">
            <a:solidFill>
              <a:srgbClr val="E548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8D09787-6248-64F9-F10B-08801A88655A}"/>
              </a:ext>
            </a:extLst>
          </p:cNvPr>
          <p:cNvSpPr txBox="1"/>
          <p:nvPr/>
        </p:nvSpPr>
        <p:spPr>
          <a:xfrm>
            <a:off x="939800" y="4445000"/>
            <a:ext cx="2032000" cy="304800"/>
          </a:xfrm>
          <a:prstGeom prst="rect">
            <a:avLst/>
          </a:prstGeom>
          <a:noFill/>
        </p:spPr>
        <p:txBody>
          <a:bodyPr vert="horz" wrap="square" lIns="50800" tIns="25400" rIns="50800" bIns="25400" rtlCol="0" anchor="ctr">
            <a:noAutofit/>
          </a:bodyPr>
          <a:lstStyle/>
          <a:p>
            <a:r>
              <a:rPr lang="en-US" sz="1200" b="1">
                <a:solidFill>
                  <a:srgbClr val="0B1536"/>
                </a:solidFill>
                <a:latin typeface="Segoe UI" panose="020B0502040204020203" pitchFamily="34" charset="0"/>
              </a:rPr>
              <a:t>Warehouse C</a:t>
            </a:r>
          </a:p>
        </p:txBody>
      </p:sp>
      <p:sp>
        <p:nvSpPr>
          <p:cNvPr id="13" name="TextBox 12">
            <a:extLst>
              <a:ext uri="{FF2B5EF4-FFF2-40B4-BE49-F238E27FC236}">
                <a16:creationId xmlns:a16="http://schemas.microsoft.com/office/drawing/2014/main" id="{1467359D-18CF-7CE3-BD4E-34F7A5C5C06A}"/>
              </a:ext>
            </a:extLst>
          </p:cNvPr>
          <p:cNvSpPr txBox="1"/>
          <p:nvPr/>
        </p:nvSpPr>
        <p:spPr>
          <a:xfrm>
            <a:off x="939800" y="4775200"/>
            <a:ext cx="2032000" cy="292100"/>
          </a:xfrm>
          <a:prstGeom prst="rect">
            <a:avLst/>
          </a:prstGeom>
          <a:noFill/>
        </p:spPr>
        <p:txBody>
          <a:bodyPr vert="horz" wrap="square" lIns="50800" tIns="25400" rIns="50800" bIns="25400" rtlCol="0" anchor="ctr">
            <a:noAutofit/>
          </a:bodyPr>
          <a:lstStyle/>
          <a:p>
            <a:r>
              <a:rPr lang="en-US" sz="1050" b="1">
                <a:solidFill>
                  <a:srgbClr val="E5484D"/>
                </a:solidFill>
                <a:latin typeface="Segoe UI" panose="020B0502040204020203" pitchFamily="34" charset="0"/>
              </a:rPr>
              <a:t>-12 shortage</a:t>
            </a:r>
          </a:p>
        </p:txBody>
      </p:sp>
      <p:cxnSp>
        <p:nvCxnSpPr>
          <p:cNvPr id="14" name="Straight Connector 13">
            <a:extLst>
              <a:ext uri="{FF2B5EF4-FFF2-40B4-BE49-F238E27FC236}">
                <a16:creationId xmlns:a16="http://schemas.microsoft.com/office/drawing/2014/main" id="{F3D62DE0-0462-F832-C474-62B62A95F480}"/>
              </a:ext>
            </a:extLst>
          </p:cNvPr>
          <p:cNvCxnSpPr/>
          <p:nvPr/>
        </p:nvCxnSpPr>
        <p:spPr>
          <a:xfrm>
            <a:off x="3200400" y="2349500"/>
            <a:ext cx="1219200" cy="762000"/>
          </a:xfrm>
          <a:prstGeom prst="line">
            <a:avLst/>
          </a:prstGeom>
          <a:ln w="38100">
            <a:solidFill>
              <a:srgbClr val="0E9F6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8CF8AFD-FD09-82B4-7C9B-BC663DE2E47D}"/>
              </a:ext>
            </a:extLst>
          </p:cNvPr>
          <p:cNvCxnSpPr/>
          <p:nvPr/>
        </p:nvCxnSpPr>
        <p:spPr>
          <a:xfrm>
            <a:off x="3200400" y="3556000"/>
            <a:ext cx="1219200" cy="152400"/>
          </a:xfrm>
          <a:prstGeom prst="line">
            <a:avLst/>
          </a:prstGeom>
          <a:ln w="30480">
            <a:solidFill>
              <a:srgbClr val="E5484D"/>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B0DE1B9-B0EF-0B03-3648-6A3239C4A3E6}"/>
              </a:ext>
            </a:extLst>
          </p:cNvPr>
          <p:cNvCxnSpPr/>
          <p:nvPr/>
        </p:nvCxnSpPr>
        <p:spPr>
          <a:xfrm flipV="1">
            <a:off x="3200400" y="4305300"/>
            <a:ext cx="1219200" cy="457200"/>
          </a:xfrm>
          <a:prstGeom prst="line">
            <a:avLst/>
          </a:prstGeom>
          <a:ln w="30480">
            <a:solidFill>
              <a:srgbClr val="E5484D"/>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253BA2E9-BE10-7BAF-F98D-03DE4E514AF8}"/>
              </a:ext>
            </a:extLst>
          </p:cNvPr>
          <p:cNvSpPr/>
          <p:nvPr/>
        </p:nvSpPr>
        <p:spPr>
          <a:xfrm>
            <a:off x="4445000" y="2501900"/>
            <a:ext cx="2794000" cy="2413000"/>
          </a:xfrm>
          <a:prstGeom prst="roundRect">
            <a:avLst/>
          </a:prstGeom>
          <a:solidFill>
            <a:srgbClr val="0B1536"/>
          </a:solidFill>
          <a:ln w="12700">
            <a:solidFill>
              <a:srgbClr val="0B1536"/>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D82D85D-F378-FEBE-AC89-52514DEC3FA7}"/>
              </a:ext>
            </a:extLst>
          </p:cNvPr>
          <p:cNvSpPr txBox="1"/>
          <p:nvPr/>
        </p:nvSpPr>
        <p:spPr>
          <a:xfrm>
            <a:off x="4711700" y="2794000"/>
            <a:ext cx="2260600" cy="355600"/>
          </a:xfrm>
          <a:prstGeom prst="rect">
            <a:avLst/>
          </a:prstGeom>
          <a:noFill/>
        </p:spPr>
        <p:txBody>
          <a:bodyPr vert="horz" wrap="square" lIns="50800" tIns="25400" rIns="50800" bIns="25400" rtlCol="0" anchor="ctr">
            <a:noAutofit/>
          </a:bodyPr>
          <a:lstStyle/>
          <a:p>
            <a:pPr algn="ctr"/>
            <a:r>
              <a:rPr lang="en-US" sz="1250" b="1">
                <a:solidFill>
                  <a:srgbClr val="FFFFFF"/>
                </a:solidFill>
                <a:latin typeface="Segoe UI" panose="020B0502040204020203" pitchFamily="34" charset="0"/>
              </a:rPr>
              <a:t>TRANSFER MATCHING</a:t>
            </a:r>
          </a:p>
        </p:txBody>
      </p:sp>
      <p:sp>
        <p:nvSpPr>
          <p:cNvPr id="19" name="TextBox 18">
            <a:extLst>
              <a:ext uri="{FF2B5EF4-FFF2-40B4-BE49-F238E27FC236}">
                <a16:creationId xmlns:a16="http://schemas.microsoft.com/office/drawing/2014/main" id="{8DAB1273-5E32-3DD3-759B-649B713EFFCC}"/>
              </a:ext>
            </a:extLst>
          </p:cNvPr>
          <p:cNvSpPr txBox="1"/>
          <p:nvPr/>
        </p:nvSpPr>
        <p:spPr>
          <a:xfrm>
            <a:off x="4749800" y="3302000"/>
            <a:ext cx="2184400" cy="1282700"/>
          </a:xfrm>
          <a:prstGeom prst="rect">
            <a:avLst/>
          </a:prstGeom>
          <a:noFill/>
        </p:spPr>
        <p:txBody>
          <a:bodyPr vert="horz" wrap="square" lIns="50800" tIns="25400" rIns="50800" bIns="25400" rtlCol="0" anchor="t">
            <a:noAutofit/>
          </a:bodyPr>
          <a:lstStyle/>
          <a:p>
            <a:pPr algn="ctr"/>
            <a:r>
              <a:rPr lang="en-US" sz="1000">
                <a:solidFill>
                  <a:srgbClr val="98A2B3"/>
                </a:solidFill>
                <a:latin typeface="Segoe UI" panose="020B0502040204020203" pitchFamily="34" charset="0"/>
              </a:rPr>
              <a:t>Use another warehouse first when one source can cover the recipient's full need.</a:t>
            </a:r>
          </a:p>
          <a:p>
            <a:pPr algn="ctr"/>
            <a:endParaRPr lang="en-US" sz="1000">
              <a:solidFill>
                <a:srgbClr val="98A2B3"/>
              </a:solidFill>
              <a:latin typeface="Segoe UI" panose="020B0502040204020203" pitchFamily="34" charset="0"/>
            </a:endParaRPr>
          </a:p>
          <a:p>
            <a:pPr algn="ctr"/>
            <a:r>
              <a:rPr lang="en-US" sz="1000">
                <a:solidFill>
                  <a:srgbClr val="98A2B3"/>
                </a:solidFill>
                <a:latin typeface="Segoe UI" panose="020B0502040204020203" pitchFamily="34" charset="0"/>
              </a:rPr>
              <a:t>No route or transport-cost optimization yet.</a:t>
            </a:r>
          </a:p>
        </p:txBody>
      </p:sp>
      <p:cxnSp>
        <p:nvCxnSpPr>
          <p:cNvPr id="20" name="Straight Connector 19">
            <a:extLst>
              <a:ext uri="{FF2B5EF4-FFF2-40B4-BE49-F238E27FC236}">
                <a16:creationId xmlns:a16="http://schemas.microsoft.com/office/drawing/2014/main" id="{2777E9EA-FDB0-11FC-FAB7-311C1B421CEE}"/>
              </a:ext>
            </a:extLst>
          </p:cNvPr>
          <p:cNvCxnSpPr/>
          <p:nvPr/>
        </p:nvCxnSpPr>
        <p:spPr>
          <a:xfrm>
            <a:off x="7239000" y="3708400"/>
            <a:ext cx="1130300" cy="0"/>
          </a:xfrm>
          <a:prstGeom prst="line">
            <a:avLst/>
          </a:prstGeom>
          <a:ln w="3810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CE5B140-8363-8572-924E-EA0185B1A6FA}"/>
              </a:ext>
            </a:extLst>
          </p:cNvPr>
          <p:cNvSpPr/>
          <p:nvPr/>
        </p:nvSpPr>
        <p:spPr>
          <a:xfrm>
            <a:off x="8432800" y="2171700"/>
            <a:ext cx="3048000" cy="30734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8722F08-924E-B585-BA12-A6E51E283F77}"/>
              </a:ext>
            </a:extLst>
          </p:cNvPr>
          <p:cNvSpPr/>
          <p:nvPr/>
        </p:nvSpPr>
        <p:spPr>
          <a:xfrm>
            <a:off x="9613900" y="2451100"/>
            <a:ext cx="685800" cy="6858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D691F80-7231-54B9-2B99-A853B011D46D}"/>
              </a:ext>
            </a:extLst>
          </p:cNvPr>
          <p:cNvSpPr txBox="1"/>
          <p:nvPr/>
        </p:nvSpPr>
        <p:spPr>
          <a:xfrm>
            <a:off x="9613900" y="2451100"/>
            <a:ext cx="685800" cy="6858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BUY</a:t>
            </a:r>
          </a:p>
        </p:txBody>
      </p:sp>
      <p:sp>
        <p:nvSpPr>
          <p:cNvPr id="24" name="TextBox 23">
            <a:extLst>
              <a:ext uri="{FF2B5EF4-FFF2-40B4-BE49-F238E27FC236}">
                <a16:creationId xmlns:a16="http://schemas.microsoft.com/office/drawing/2014/main" id="{310485BB-F327-732F-391C-738A32A06B2A}"/>
              </a:ext>
            </a:extLst>
          </p:cNvPr>
          <p:cNvSpPr txBox="1"/>
          <p:nvPr/>
        </p:nvSpPr>
        <p:spPr>
          <a:xfrm>
            <a:off x="8788400" y="3302000"/>
            <a:ext cx="2336800" cy="355600"/>
          </a:xfrm>
          <a:prstGeom prst="rect">
            <a:avLst/>
          </a:prstGeom>
          <a:noFill/>
        </p:spPr>
        <p:txBody>
          <a:bodyPr vert="horz" wrap="square" lIns="50800" tIns="25400" rIns="50800" bIns="25400" rtlCol="0" anchor="ctr">
            <a:noAutofit/>
          </a:bodyPr>
          <a:lstStyle/>
          <a:p>
            <a:pPr algn="ctr"/>
            <a:r>
              <a:rPr lang="en-US" sz="1300" b="1">
                <a:solidFill>
                  <a:srgbClr val="6D3EF2"/>
                </a:solidFill>
                <a:latin typeface="Segoe UI" panose="020B0502040204020203" pitchFamily="34" charset="0"/>
              </a:rPr>
              <a:t>CENTRAL ALLOCATION</a:t>
            </a:r>
          </a:p>
        </p:txBody>
      </p:sp>
      <p:sp>
        <p:nvSpPr>
          <p:cNvPr id="25" name="TextBox 24">
            <a:extLst>
              <a:ext uri="{FF2B5EF4-FFF2-40B4-BE49-F238E27FC236}">
                <a16:creationId xmlns:a16="http://schemas.microsoft.com/office/drawing/2014/main" id="{4DB50992-221A-3DE9-3FE2-029E117A4D07}"/>
              </a:ext>
            </a:extLst>
          </p:cNvPr>
          <p:cNvSpPr txBox="1"/>
          <p:nvPr/>
        </p:nvSpPr>
        <p:spPr>
          <a:xfrm>
            <a:off x="8788400" y="3810000"/>
            <a:ext cx="2336800" cy="1219200"/>
          </a:xfrm>
          <a:prstGeom prst="rect">
            <a:avLst/>
          </a:prstGeom>
          <a:noFill/>
        </p:spPr>
        <p:txBody>
          <a:bodyPr vert="horz" wrap="square" lIns="50800" tIns="25400" rIns="50800" bIns="25400" rtlCol="0" anchor="t">
            <a:noAutofit/>
          </a:bodyPr>
          <a:lstStyle/>
          <a:p>
            <a:pPr algn="ctr"/>
            <a:r>
              <a:rPr lang="en-US" sz="950">
                <a:solidFill>
                  <a:srgbClr val="344054"/>
                </a:solidFill>
                <a:latin typeface="Segoe UI" panose="020B0502040204020203" pitchFamily="34" charset="0"/>
              </a:rPr>
              <a:t>For SKUs still needed in two or more warehouses:</a:t>
            </a:r>
          </a:p>
          <a:p>
            <a:pPr algn="ctr"/>
            <a:endParaRPr lang="en-US" sz="950">
              <a:solidFill>
                <a:srgbClr val="344054"/>
              </a:solidFill>
              <a:latin typeface="Segoe UI" panose="020B0502040204020203" pitchFamily="34" charset="0"/>
            </a:endParaRPr>
          </a:p>
          <a:p>
            <a:pPr algn="ctr"/>
            <a:r>
              <a:rPr lang="en-US" sz="950">
                <a:solidFill>
                  <a:srgbClr val="344054"/>
                </a:solidFill>
                <a:latin typeface="Segoe UI" panose="020B0502040204020203" pitchFamily="34" charset="0"/>
              </a:rPr>
              <a:t>- combine the quantity</a:t>
            </a:r>
          </a:p>
          <a:p>
            <a:pPr algn="ctr"/>
            <a:r>
              <a:rPr lang="en-US" sz="950">
                <a:solidFill>
                  <a:srgbClr val="344054"/>
                </a:solidFill>
                <a:latin typeface="Segoe UI" panose="020B0502040204020203" pitchFamily="34" charset="0"/>
              </a:rPr>
              <a:t>- retain warehouse breakdown</a:t>
            </a:r>
          </a:p>
          <a:p>
            <a:pPr algn="ctr"/>
            <a:r>
              <a:rPr lang="en-US" sz="950">
                <a:solidFill>
                  <a:srgbClr val="344054"/>
                </a:solidFill>
                <a:latin typeface="Segoe UI" panose="020B0502040204020203" pitchFamily="34" charset="0"/>
              </a:rPr>
              <a:t>- place a consolidated supplier order</a:t>
            </a:r>
          </a:p>
        </p:txBody>
      </p:sp>
      <p:sp>
        <p:nvSpPr>
          <p:cNvPr id="26" name="Rectangle: Rounded Corners 25">
            <a:extLst>
              <a:ext uri="{FF2B5EF4-FFF2-40B4-BE49-F238E27FC236}">
                <a16:creationId xmlns:a16="http://schemas.microsoft.com/office/drawing/2014/main" id="{420BB0C3-2D98-528F-C165-6E71C4DF561B}"/>
              </a:ext>
            </a:extLst>
          </p:cNvPr>
          <p:cNvSpPr/>
          <p:nvPr/>
        </p:nvSpPr>
        <p:spPr>
          <a:xfrm>
            <a:off x="2463800" y="5664200"/>
            <a:ext cx="7239000" cy="457200"/>
          </a:xfrm>
          <a:prstGeom prst="roundRect">
            <a:avLst/>
          </a:prstGeom>
          <a:solidFill>
            <a:srgbClr val="E4F7F8"/>
          </a:solidFill>
          <a:ln w="12700">
            <a:solidFill>
              <a:srgbClr val="E4F7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966E62D-2DDB-62F5-F8C8-1D860D361861}"/>
              </a:ext>
            </a:extLst>
          </p:cNvPr>
          <p:cNvSpPr txBox="1"/>
          <p:nvPr/>
        </p:nvSpPr>
        <p:spPr>
          <a:xfrm>
            <a:off x="2463800" y="5664200"/>
            <a:ext cx="7239000" cy="457200"/>
          </a:xfrm>
          <a:prstGeom prst="rect">
            <a:avLst/>
          </a:prstGeom>
          <a:noFill/>
        </p:spPr>
        <p:txBody>
          <a:bodyPr vert="horz" wrap="square" lIns="50800" tIns="25400" rIns="50800" bIns="25400" rtlCol="0" anchor="ctr">
            <a:noAutofit/>
          </a:bodyPr>
          <a:lstStyle/>
          <a:p>
            <a:pPr algn="ctr"/>
            <a:r>
              <a:rPr lang="en-US" sz="1000" b="1">
                <a:solidFill>
                  <a:srgbClr val="078A99"/>
                </a:solidFill>
                <a:latin typeface="Segoe UI" panose="020B0502040204020203" pitchFamily="34" charset="0"/>
              </a:rPr>
              <a:t>Business effect: rebalance owned stock before committing more working capital</a:t>
            </a:r>
          </a:p>
        </p:txBody>
      </p:sp>
      <p:sp>
        <p:nvSpPr>
          <p:cNvPr id="28" name="TextBox 27">
            <a:extLst>
              <a:ext uri="{FF2B5EF4-FFF2-40B4-BE49-F238E27FC236}">
                <a16:creationId xmlns:a16="http://schemas.microsoft.com/office/drawing/2014/main" id="{FB82E63C-8335-B4B4-2000-63C8C5D5CC4D}"/>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29" name="TextBox 28">
            <a:extLst>
              <a:ext uri="{FF2B5EF4-FFF2-40B4-BE49-F238E27FC236}">
                <a16:creationId xmlns:a16="http://schemas.microsoft.com/office/drawing/2014/main" id="{121AFDE5-F269-8D5B-86E9-7E2D3DB69102}"/>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14</a:t>
            </a:r>
          </a:p>
        </p:txBody>
      </p:sp>
    </p:spTree>
    <p:extLst>
      <p:ext uri="{BB962C8B-B14F-4D97-AF65-F5344CB8AC3E}">
        <p14:creationId xmlns:p14="http://schemas.microsoft.com/office/powerpoint/2010/main" val="2456002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E13AAF-1759-2878-CBDC-B47C02B6E645}"/>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ADVANCED INTELLIGENCE</a:t>
            </a:r>
          </a:p>
        </p:txBody>
      </p:sp>
      <p:sp>
        <p:nvSpPr>
          <p:cNvPr id="3" name="TextBox 2">
            <a:extLst>
              <a:ext uri="{FF2B5EF4-FFF2-40B4-BE49-F238E27FC236}">
                <a16:creationId xmlns:a16="http://schemas.microsoft.com/office/drawing/2014/main" id="{177D71EE-395E-9D83-8DEE-B4DED7DCC73E}"/>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Seven additional signals expand the management picture</a:t>
            </a:r>
          </a:p>
        </p:txBody>
      </p:sp>
      <p:sp>
        <p:nvSpPr>
          <p:cNvPr id="4" name="TextBox 3">
            <a:extLst>
              <a:ext uri="{FF2B5EF4-FFF2-40B4-BE49-F238E27FC236}">
                <a16:creationId xmlns:a16="http://schemas.microsoft.com/office/drawing/2014/main" id="{3F8A3481-F236-1D59-1E0D-5B5D724B3C84}"/>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Each view is independent, explainable and computed from operational history.</a:t>
            </a:r>
          </a:p>
        </p:txBody>
      </p:sp>
      <p:sp>
        <p:nvSpPr>
          <p:cNvPr id="5" name="Rectangle: Rounded Corners 4">
            <a:extLst>
              <a:ext uri="{FF2B5EF4-FFF2-40B4-BE49-F238E27FC236}">
                <a16:creationId xmlns:a16="http://schemas.microsoft.com/office/drawing/2014/main" id="{85DB8805-9D33-E472-4443-B12F269E07B7}"/>
              </a:ext>
            </a:extLst>
          </p:cNvPr>
          <p:cNvSpPr/>
          <p:nvPr/>
        </p:nvSpPr>
        <p:spPr>
          <a:xfrm>
            <a:off x="609600" y="17907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2651D20-87C7-775E-096D-7A9217571429}"/>
              </a:ext>
            </a:extLst>
          </p:cNvPr>
          <p:cNvSpPr/>
          <p:nvPr/>
        </p:nvSpPr>
        <p:spPr>
          <a:xfrm>
            <a:off x="774700" y="1981200"/>
            <a:ext cx="457200" cy="4572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A8C1FC-45D8-EBAD-A479-55F0EFD800FA}"/>
              </a:ext>
            </a:extLst>
          </p:cNvPr>
          <p:cNvSpPr txBox="1"/>
          <p:nvPr/>
        </p:nvSpPr>
        <p:spPr>
          <a:xfrm>
            <a:off x="774700" y="19812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SUP</a:t>
            </a:r>
          </a:p>
        </p:txBody>
      </p:sp>
      <p:sp>
        <p:nvSpPr>
          <p:cNvPr id="8" name="TextBox 7">
            <a:extLst>
              <a:ext uri="{FF2B5EF4-FFF2-40B4-BE49-F238E27FC236}">
                <a16:creationId xmlns:a16="http://schemas.microsoft.com/office/drawing/2014/main" id="{4967E7DF-B6A8-E691-1E33-06A4AC10F81F}"/>
              </a:ext>
            </a:extLst>
          </p:cNvPr>
          <p:cNvSpPr txBox="1"/>
          <p:nvPr/>
        </p:nvSpPr>
        <p:spPr>
          <a:xfrm>
            <a:off x="1333500" y="19431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Supplier performance</a:t>
            </a:r>
          </a:p>
        </p:txBody>
      </p:sp>
      <p:sp>
        <p:nvSpPr>
          <p:cNvPr id="9" name="TextBox 8">
            <a:extLst>
              <a:ext uri="{FF2B5EF4-FFF2-40B4-BE49-F238E27FC236}">
                <a16:creationId xmlns:a16="http://schemas.microsoft.com/office/drawing/2014/main" id="{955F5D4D-E3BD-4543-EA53-3D73F85A653D}"/>
              </a:ext>
            </a:extLst>
          </p:cNvPr>
          <p:cNvSpPr txBox="1"/>
          <p:nvPr/>
        </p:nvSpPr>
        <p:spPr>
          <a:xfrm>
            <a:off x="812800" y="26416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Actual lead time, on-time delivery and fill rate</a:t>
            </a:r>
          </a:p>
        </p:txBody>
      </p:sp>
      <p:sp>
        <p:nvSpPr>
          <p:cNvPr id="10" name="Rectangle: Rounded Corners 9">
            <a:extLst>
              <a:ext uri="{FF2B5EF4-FFF2-40B4-BE49-F238E27FC236}">
                <a16:creationId xmlns:a16="http://schemas.microsoft.com/office/drawing/2014/main" id="{1A460D35-5A1F-3FFD-E6E4-383727F40751}"/>
              </a:ext>
            </a:extLst>
          </p:cNvPr>
          <p:cNvSpPr/>
          <p:nvPr/>
        </p:nvSpPr>
        <p:spPr>
          <a:xfrm>
            <a:off x="3429000" y="17907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C98B37A-8CB7-7A66-68F6-A387C4BB5600}"/>
              </a:ext>
            </a:extLst>
          </p:cNvPr>
          <p:cNvSpPr/>
          <p:nvPr/>
        </p:nvSpPr>
        <p:spPr>
          <a:xfrm>
            <a:off x="3594100" y="1981200"/>
            <a:ext cx="457200" cy="457200"/>
          </a:xfrm>
          <a:prstGeom prst="ellipse">
            <a:avLst/>
          </a:prstGeom>
          <a:solidFill>
            <a:srgbClr val="E5484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6586801-6AC0-F8AB-F301-FB3A827B95C0}"/>
              </a:ext>
            </a:extLst>
          </p:cNvPr>
          <p:cNvSpPr txBox="1"/>
          <p:nvPr/>
        </p:nvSpPr>
        <p:spPr>
          <a:xfrm>
            <a:off x="3594100" y="19812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LOST</a:t>
            </a:r>
          </a:p>
        </p:txBody>
      </p:sp>
      <p:sp>
        <p:nvSpPr>
          <p:cNvPr id="13" name="TextBox 12">
            <a:extLst>
              <a:ext uri="{FF2B5EF4-FFF2-40B4-BE49-F238E27FC236}">
                <a16:creationId xmlns:a16="http://schemas.microsoft.com/office/drawing/2014/main" id="{C3602BBA-D39C-4414-DD6E-E37E2C6CEAFB}"/>
              </a:ext>
            </a:extLst>
          </p:cNvPr>
          <p:cNvSpPr txBox="1"/>
          <p:nvPr/>
        </p:nvSpPr>
        <p:spPr>
          <a:xfrm>
            <a:off x="4152900" y="19431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Lost-sales estimate</a:t>
            </a:r>
          </a:p>
        </p:txBody>
      </p:sp>
      <p:sp>
        <p:nvSpPr>
          <p:cNvPr id="14" name="TextBox 13">
            <a:extLst>
              <a:ext uri="{FF2B5EF4-FFF2-40B4-BE49-F238E27FC236}">
                <a16:creationId xmlns:a16="http://schemas.microsoft.com/office/drawing/2014/main" id="{962FE28A-C8AF-3EFA-3DE1-AAD4AD1FFD87}"/>
              </a:ext>
            </a:extLst>
          </p:cNvPr>
          <p:cNvSpPr txBox="1"/>
          <p:nvPr/>
        </p:nvSpPr>
        <p:spPr>
          <a:xfrm>
            <a:off x="3632200" y="26416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Likely missed units during real stockouts</a:t>
            </a:r>
          </a:p>
        </p:txBody>
      </p:sp>
      <p:sp>
        <p:nvSpPr>
          <p:cNvPr id="15" name="Rectangle: Rounded Corners 14">
            <a:extLst>
              <a:ext uri="{FF2B5EF4-FFF2-40B4-BE49-F238E27FC236}">
                <a16:creationId xmlns:a16="http://schemas.microsoft.com/office/drawing/2014/main" id="{E8117CDC-6AF3-9F02-6A4B-67C2286701C3}"/>
              </a:ext>
            </a:extLst>
          </p:cNvPr>
          <p:cNvSpPr/>
          <p:nvPr/>
        </p:nvSpPr>
        <p:spPr>
          <a:xfrm>
            <a:off x="6248400" y="17907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200B3A0-0EFE-41AB-1317-05B74ECE91F2}"/>
              </a:ext>
            </a:extLst>
          </p:cNvPr>
          <p:cNvSpPr/>
          <p:nvPr/>
        </p:nvSpPr>
        <p:spPr>
          <a:xfrm>
            <a:off x="6413500" y="1981200"/>
            <a:ext cx="457200" cy="4572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7CD1112-34F3-6A61-48A4-3CEB514B7CA9}"/>
              </a:ext>
            </a:extLst>
          </p:cNvPr>
          <p:cNvSpPr txBox="1"/>
          <p:nvPr/>
        </p:nvSpPr>
        <p:spPr>
          <a:xfrm>
            <a:off x="6413500" y="19812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ANOM</a:t>
            </a:r>
          </a:p>
        </p:txBody>
      </p:sp>
      <p:sp>
        <p:nvSpPr>
          <p:cNvPr id="18" name="TextBox 17">
            <a:extLst>
              <a:ext uri="{FF2B5EF4-FFF2-40B4-BE49-F238E27FC236}">
                <a16:creationId xmlns:a16="http://schemas.microsoft.com/office/drawing/2014/main" id="{3863F027-98F5-8A65-5315-615C88FF39EF}"/>
              </a:ext>
            </a:extLst>
          </p:cNvPr>
          <p:cNvSpPr txBox="1"/>
          <p:nvPr/>
        </p:nvSpPr>
        <p:spPr>
          <a:xfrm>
            <a:off x="6972300" y="19431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Demand anomalies</a:t>
            </a:r>
          </a:p>
        </p:txBody>
      </p:sp>
      <p:sp>
        <p:nvSpPr>
          <p:cNvPr id="19" name="TextBox 18">
            <a:extLst>
              <a:ext uri="{FF2B5EF4-FFF2-40B4-BE49-F238E27FC236}">
                <a16:creationId xmlns:a16="http://schemas.microsoft.com/office/drawing/2014/main" id="{8D89F1D2-C01F-C63E-5C5F-F904D26D060A}"/>
              </a:ext>
            </a:extLst>
          </p:cNvPr>
          <p:cNvSpPr txBox="1"/>
          <p:nvPr/>
        </p:nvSpPr>
        <p:spPr>
          <a:xfrm>
            <a:off x="6451600" y="26416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Statistical demand outliers by SKU and date</a:t>
            </a:r>
          </a:p>
        </p:txBody>
      </p:sp>
      <p:sp>
        <p:nvSpPr>
          <p:cNvPr id="20" name="Rectangle: Rounded Corners 19">
            <a:extLst>
              <a:ext uri="{FF2B5EF4-FFF2-40B4-BE49-F238E27FC236}">
                <a16:creationId xmlns:a16="http://schemas.microsoft.com/office/drawing/2014/main" id="{B5EE2A3A-14CC-F8C9-931A-02569AA5EEC5}"/>
              </a:ext>
            </a:extLst>
          </p:cNvPr>
          <p:cNvSpPr/>
          <p:nvPr/>
        </p:nvSpPr>
        <p:spPr>
          <a:xfrm>
            <a:off x="9067800" y="17907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0EA2140-22AD-9384-5D21-740699D8A352}"/>
              </a:ext>
            </a:extLst>
          </p:cNvPr>
          <p:cNvSpPr/>
          <p:nvPr/>
        </p:nvSpPr>
        <p:spPr>
          <a:xfrm>
            <a:off x="9232900" y="1981200"/>
            <a:ext cx="457200" cy="457200"/>
          </a:xfrm>
          <a:prstGeom prst="ellipse">
            <a:avLst/>
          </a:prstGeom>
          <a:solidFill>
            <a:srgbClr val="1769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F575E4C-A134-4B24-8912-B13A429FC48C}"/>
              </a:ext>
            </a:extLst>
          </p:cNvPr>
          <p:cNvSpPr txBox="1"/>
          <p:nvPr/>
        </p:nvSpPr>
        <p:spPr>
          <a:xfrm>
            <a:off x="9232900" y="19812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SIM</a:t>
            </a:r>
          </a:p>
        </p:txBody>
      </p:sp>
      <p:sp>
        <p:nvSpPr>
          <p:cNvPr id="23" name="TextBox 22">
            <a:extLst>
              <a:ext uri="{FF2B5EF4-FFF2-40B4-BE49-F238E27FC236}">
                <a16:creationId xmlns:a16="http://schemas.microsoft.com/office/drawing/2014/main" id="{5023325B-769B-751D-9291-38AB695A3AEB}"/>
              </a:ext>
            </a:extLst>
          </p:cNvPr>
          <p:cNvSpPr txBox="1"/>
          <p:nvPr/>
        </p:nvSpPr>
        <p:spPr>
          <a:xfrm>
            <a:off x="9791700" y="19431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Product similarity</a:t>
            </a:r>
          </a:p>
        </p:txBody>
      </p:sp>
      <p:sp>
        <p:nvSpPr>
          <p:cNvPr id="24" name="TextBox 23">
            <a:extLst>
              <a:ext uri="{FF2B5EF4-FFF2-40B4-BE49-F238E27FC236}">
                <a16:creationId xmlns:a16="http://schemas.microsoft.com/office/drawing/2014/main" id="{1967BC8E-68A6-0907-5849-E56ED4C19C18}"/>
              </a:ext>
            </a:extLst>
          </p:cNvPr>
          <p:cNvSpPr txBox="1"/>
          <p:nvPr/>
        </p:nvSpPr>
        <p:spPr>
          <a:xfrm>
            <a:off x="9271000" y="26416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Comparable items from product attributes</a:t>
            </a:r>
          </a:p>
        </p:txBody>
      </p:sp>
      <p:sp>
        <p:nvSpPr>
          <p:cNvPr id="25" name="Rectangle: Rounded Corners 24">
            <a:extLst>
              <a:ext uri="{FF2B5EF4-FFF2-40B4-BE49-F238E27FC236}">
                <a16:creationId xmlns:a16="http://schemas.microsoft.com/office/drawing/2014/main" id="{3EF4D263-B732-6156-4591-0584D8E3C812}"/>
              </a:ext>
            </a:extLst>
          </p:cNvPr>
          <p:cNvSpPr/>
          <p:nvPr/>
        </p:nvSpPr>
        <p:spPr>
          <a:xfrm>
            <a:off x="2019300" y="37338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0FB51C3-12D4-6547-F47F-0B99F80FBFBF}"/>
              </a:ext>
            </a:extLst>
          </p:cNvPr>
          <p:cNvSpPr/>
          <p:nvPr/>
        </p:nvSpPr>
        <p:spPr>
          <a:xfrm>
            <a:off x="2184400" y="3924300"/>
            <a:ext cx="457200" cy="4572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403CF58-CF62-740E-5D26-BEB0C03EBE53}"/>
              </a:ext>
            </a:extLst>
          </p:cNvPr>
          <p:cNvSpPr txBox="1"/>
          <p:nvPr/>
        </p:nvSpPr>
        <p:spPr>
          <a:xfrm>
            <a:off x="2184400" y="39243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REL</a:t>
            </a:r>
          </a:p>
        </p:txBody>
      </p:sp>
      <p:sp>
        <p:nvSpPr>
          <p:cNvPr id="28" name="TextBox 27">
            <a:extLst>
              <a:ext uri="{FF2B5EF4-FFF2-40B4-BE49-F238E27FC236}">
                <a16:creationId xmlns:a16="http://schemas.microsoft.com/office/drawing/2014/main" id="{EEC0F679-6AA4-A638-F429-01A6BDB80029}"/>
              </a:ext>
            </a:extLst>
          </p:cNvPr>
          <p:cNvSpPr txBox="1"/>
          <p:nvPr/>
        </p:nvSpPr>
        <p:spPr>
          <a:xfrm>
            <a:off x="2743200" y="38862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Cannibalization &amp; successor</a:t>
            </a:r>
          </a:p>
        </p:txBody>
      </p:sp>
      <p:sp>
        <p:nvSpPr>
          <p:cNvPr id="29" name="TextBox 28">
            <a:extLst>
              <a:ext uri="{FF2B5EF4-FFF2-40B4-BE49-F238E27FC236}">
                <a16:creationId xmlns:a16="http://schemas.microsoft.com/office/drawing/2014/main" id="{80596FF3-DDFA-C38C-2BE9-20D99F5176F1}"/>
              </a:ext>
            </a:extLst>
          </p:cNvPr>
          <p:cNvSpPr txBox="1"/>
          <p:nvPr/>
        </p:nvSpPr>
        <p:spPr>
          <a:xfrm>
            <a:off x="2222500" y="45847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Products that move against or replace each other</a:t>
            </a:r>
          </a:p>
        </p:txBody>
      </p:sp>
      <p:sp>
        <p:nvSpPr>
          <p:cNvPr id="30" name="Rectangle: Rounded Corners 29">
            <a:extLst>
              <a:ext uri="{FF2B5EF4-FFF2-40B4-BE49-F238E27FC236}">
                <a16:creationId xmlns:a16="http://schemas.microsoft.com/office/drawing/2014/main" id="{73A0044E-91F7-D80D-5DCE-35C7C54FE453}"/>
              </a:ext>
            </a:extLst>
          </p:cNvPr>
          <p:cNvSpPr/>
          <p:nvPr/>
        </p:nvSpPr>
        <p:spPr>
          <a:xfrm>
            <a:off x="4838700" y="37338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B577E3A-8FDE-D190-5192-A0BF04BF3540}"/>
              </a:ext>
            </a:extLst>
          </p:cNvPr>
          <p:cNvSpPr/>
          <p:nvPr/>
        </p:nvSpPr>
        <p:spPr>
          <a:xfrm>
            <a:off x="5003800" y="3924300"/>
            <a:ext cx="457200" cy="4572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2507868-B87A-17ED-18F0-D979037E064D}"/>
              </a:ext>
            </a:extLst>
          </p:cNvPr>
          <p:cNvSpPr txBox="1"/>
          <p:nvPr/>
        </p:nvSpPr>
        <p:spPr>
          <a:xfrm>
            <a:off x="5003800" y="39243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ELAS</a:t>
            </a:r>
          </a:p>
        </p:txBody>
      </p:sp>
      <p:sp>
        <p:nvSpPr>
          <p:cNvPr id="33" name="TextBox 32">
            <a:extLst>
              <a:ext uri="{FF2B5EF4-FFF2-40B4-BE49-F238E27FC236}">
                <a16:creationId xmlns:a16="http://schemas.microsoft.com/office/drawing/2014/main" id="{7F62AED0-B04A-73A5-D503-4F6E585603F4}"/>
              </a:ext>
            </a:extLst>
          </p:cNvPr>
          <p:cNvSpPr txBox="1"/>
          <p:nvPr/>
        </p:nvSpPr>
        <p:spPr>
          <a:xfrm>
            <a:off x="5562600" y="38862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Price elasticity</a:t>
            </a:r>
          </a:p>
        </p:txBody>
      </p:sp>
      <p:sp>
        <p:nvSpPr>
          <p:cNvPr id="34" name="TextBox 33">
            <a:extLst>
              <a:ext uri="{FF2B5EF4-FFF2-40B4-BE49-F238E27FC236}">
                <a16:creationId xmlns:a16="http://schemas.microsoft.com/office/drawing/2014/main" id="{6C153131-3BCE-5AEF-918B-10CD8E3CFE5D}"/>
              </a:ext>
            </a:extLst>
          </p:cNvPr>
          <p:cNvSpPr txBox="1"/>
          <p:nvPr/>
        </p:nvSpPr>
        <p:spPr>
          <a:xfrm>
            <a:off x="5041900" y="45847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Demand response across actual price points</a:t>
            </a:r>
          </a:p>
        </p:txBody>
      </p:sp>
      <p:sp>
        <p:nvSpPr>
          <p:cNvPr id="35" name="Rectangle: Rounded Corners 34">
            <a:extLst>
              <a:ext uri="{FF2B5EF4-FFF2-40B4-BE49-F238E27FC236}">
                <a16:creationId xmlns:a16="http://schemas.microsoft.com/office/drawing/2014/main" id="{8273C025-B4AC-7764-5483-F794E0CF08D1}"/>
              </a:ext>
            </a:extLst>
          </p:cNvPr>
          <p:cNvSpPr/>
          <p:nvPr/>
        </p:nvSpPr>
        <p:spPr>
          <a:xfrm>
            <a:off x="7658100" y="3733800"/>
            <a:ext cx="2514600" cy="15494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653C85A-CCAD-50F3-D22A-DD299686895A}"/>
              </a:ext>
            </a:extLst>
          </p:cNvPr>
          <p:cNvSpPr/>
          <p:nvPr/>
        </p:nvSpPr>
        <p:spPr>
          <a:xfrm>
            <a:off x="7823200" y="3924300"/>
            <a:ext cx="457200" cy="4572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B03983E-4DAF-5ADF-DD15-8BC8BE5DCD4E}"/>
              </a:ext>
            </a:extLst>
          </p:cNvPr>
          <p:cNvSpPr txBox="1"/>
          <p:nvPr/>
        </p:nvSpPr>
        <p:spPr>
          <a:xfrm>
            <a:off x="7823200" y="3924300"/>
            <a:ext cx="457200" cy="457200"/>
          </a:xfrm>
          <a:prstGeom prst="rect">
            <a:avLst/>
          </a:prstGeom>
          <a:noFill/>
        </p:spPr>
        <p:txBody>
          <a:bodyPr vert="horz" wrap="square" lIns="50800" tIns="25400" rIns="50800" bIns="25400" rtlCol="0" anchor="ctr">
            <a:noAutofit/>
          </a:bodyPr>
          <a:lstStyle/>
          <a:p>
            <a:pPr algn="ctr"/>
            <a:r>
              <a:rPr lang="en-US" sz="680" b="1">
                <a:solidFill>
                  <a:srgbClr val="FFFFFF"/>
                </a:solidFill>
                <a:latin typeface="Segoe UI" panose="020B0502040204020203" pitchFamily="34" charset="0"/>
              </a:rPr>
              <a:t>PROMO</a:t>
            </a:r>
          </a:p>
        </p:txBody>
      </p:sp>
      <p:sp>
        <p:nvSpPr>
          <p:cNvPr id="38" name="TextBox 37">
            <a:extLst>
              <a:ext uri="{FF2B5EF4-FFF2-40B4-BE49-F238E27FC236}">
                <a16:creationId xmlns:a16="http://schemas.microsoft.com/office/drawing/2014/main" id="{E0D26BF7-AE64-7435-7ADC-0A35ED810B9C}"/>
              </a:ext>
            </a:extLst>
          </p:cNvPr>
          <p:cNvSpPr txBox="1"/>
          <p:nvPr/>
        </p:nvSpPr>
        <p:spPr>
          <a:xfrm>
            <a:off x="8382000" y="3886200"/>
            <a:ext cx="1612900" cy="5080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Promotion impact</a:t>
            </a:r>
          </a:p>
        </p:txBody>
      </p:sp>
      <p:sp>
        <p:nvSpPr>
          <p:cNvPr id="39" name="TextBox 38">
            <a:extLst>
              <a:ext uri="{FF2B5EF4-FFF2-40B4-BE49-F238E27FC236}">
                <a16:creationId xmlns:a16="http://schemas.microsoft.com/office/drawing/2014/main" id="{48820025-6B39-1E84-6376-2B28BE3BD27E}"/>
              </a:ext>
            </a:extLst>
          </p:cNvPr>
          <p:cNvSpPr txBox="1"/>
          <p:nvPr/>
        </p:nvSpPr>
        <p:spPr>
          <a:xfrm>
            <a:off x="7861300" y="4584700"/>
            <a:ext cx="2108200" cy="546100"/>
          </a:xfrm>
          <a:prstGeom prst="rect">
            <a:avLst/>
          </a:prstGeom>
          <a:noFill/>
        </p:spPr>
        <p:txBody>
          <a:bodyPr vert="horz" wrap="square" lIns="50800" tIns="25400" rIns="50800" bIns="25400" rtlCol="0" anchor="t">
            <a:noAutofit/>
          </a:bodyPr>
          <a:lstStyle/>
          <a:p>
            <a:pPr algn="ctr"/>
            <a:r>
              <a:rPr lang="en-US" sz="880">
                <a:solidFill>
                  <a:srgbClr val="667085"/>
                </a:solidFill>
                <a:latin typeface="Segoe UI" panose="020B0502040204020203" pitchFamily="34" charset="0"/>
              </a:rPr>
              <a:t>Before-vs-during demand by promotion and SKU</a:t>
            </a:r>
          </a:p>
        </p:txBody>
      </p:sp>
      <p:sp>
        <p:nvSpPr>
          <p:cNvPr id="40" name="Rectangle: Rounded Corners 39">
            <a:extLst>
              <a:ext uri="{FF2B5EF4-FFF2-40B4-BE49-F238E27FC236}">
                <a16:creationId xmlns:a16="http://schemas.microsoft.com/office/drawing/2014/main" id="{CBFAE371-13F1-3AA5-53A8-3CF247296E09}"/>
              </a:ext>
            </a:extLst>
          </p:cNvPr>
          <p:cNvSpPr/>
          <p:nvPr/>
        </p:nvSpPr>
        <p:spPr>
          <a:xfrm>
            <a:off x="2540000" y="5778500"/>
            <a:ext cx="7112000" cy="406400"/>
          </a:xfrm>
          <a:prstGeom prst="roundRect">
            <a:avLst/>
          </a:prstGeom>
          <a:solidFill>
            <a:srgbClr val="FFF2D9"/>
          </a:solidFill>
          <a:ln w="12700">
            <a:solidFill>
              <a:srgbClr val="FFF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9AD3063-7044-D22B-38B4-FAD20043B858}"/>
              </a:ext>
            </a:extLst>
          </p:cNvPr>
          <p:cNvSpPr txBox="1"/>
          <p:nvPr/>
        </p:nvSpPr>
        <p:spPr>
          <a:xfrm>
            <a:off x="2540000" y="5778500"/>
            <a:ext cx="7112000" cy="406400"/>
          </a:xfrm>
          <a:prstGeom prst="rect">
            <a:avLst/>
          </a:prstGeom>
          <a:noFill/>
        </p:spPr>
        <p:txBody>
          <a:bodyPr vert="horz" wrap="square" lIns="50800" tIns="25400" rIns="50800" bIns="25400" rtlCol="0" anchor="ctr">
            <a:noAutofit/>
          </a:bodyPr>
          <a:lstStyle/>
          <a:p>
            <a:pPr algn="ctr"/>
            <a:r>
              <a:rPr lang="en-US" sz="900" b="1">
                <a:solidFill>
                  <a:srgbClr val="E58A00"/>
                </a:solidFill>
                <a:latin typeface="Segoe UI" panose="020B0502040204020203" pitchFamily="34" charset="0"/>
              </a:rPr>
              <a:t>Interpret low-sample signals carefully: availability is not the same as statistical certainty</a:t>
            </a:r>
          </a:p>
        </p:txBody>
      </p:sp>
      <p:sp>
        <p:nvSpPr>
          <p:cNvPr id="42" name="TextBox 41">
            <a:extLst>
              <a:ext uri="{FF2B5EF4-FFF2-40B4-BE49-F238E27FC236}">
                <a16:creationId xmlns:a16="http://schemas.microsoft.com/office/drawing/2014/main" id="{3BB63668-AF71-9A5A-03CC-6690E9C7EF15}"/>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3" name="TextBox 42">
            <a:extLst>
              <a:ext uri="{FF2B5EF4-FFF2-40B4-BE49-F238E27FC236}">
                <a16:creationId xmlns:a16="http://schemas.microsoft.com/office/drawing/2014/main" id="{C07D8C75-6694-8463-DBA2-A0C290CCB429}"/>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15</a:t>
            </a:r>
          </a:p>
        </p:txBody>
      </p:sp>
    </p:spTree>
    <p:extLst>
      <p:ext uri="{BB962C8B-B14F-4D97-AF65-F5344CB8AC3E}">
        <p14:creationId xmlns:p14="http://schemas.microsoft.com/office/powerpoint/2010/main" val="1976674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77DBF3-0BB8-46F7-62B0-797BA0AEAB77}"/>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PROCESS INFOGRAPHIC</a:t>
            </a:r>
          </a:p>
        </p:txBody>
      </p:sp>
      <p:sp>
        <p:nvSpPr>
          <p:cNvPr id="3" name="TextBox 2">
            <a:extLst>
              <a:ext uri="{FF2B5EF4-FFF2-40B4-BE49-F238E27FC236}">
                <a16:creationId xmlns:a16="http://schemas.microsoft.com/office/drawing/2014/main" id="{02CBE1AB-60CF-031D-CDBB-BE3D9E60D003}"/>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Automation keeps history, accuracy and decisions current</a:t>
            </a:r>
          </a:p>
        </p:txBody>
      </p:sp>
      <p:sp>
        <p:nvSpPr>
          <p:cNvPr id="4" name="TextBox 3">
            <a:extLst>
              <a:ext uri="{FF2B5EF4-FFF2-40B4-BE49-F238E27FC236}">
                <a16:creationId xmlns:a16="http://schemas.microsoft.com/office/drawing/2014/main" id="{03413B64-2765-C7B7-A818-5BEB1D076336}"/>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The queue worker and scheduler are operational dependencies; without them, the application appears healthy while intelligence becomes stale.</a:t>
            </a:r>
          </a:p>
        </p:txBody>
      </p:sp>
      <p:sp>
        <p:nvSpPr>
          <p:cNvPr id="5" name="TextBox 4">
            <a:extLst>
              <a:ext uri="{FF2B5EF4-FFF2-40B4-BE49-F238E27FC236}">
                <a16:creationId xmlns:a16="http://schemas.microsoft.com/office/drawing/2014/main" id="{EB798F06-78C4-BA18-4FAB-209E284A522C}"/>
              </a:ext>
            </a:extLst>
          </p:cNvPr>
          <p:cNvSpPr txBox="1"/>
          <p:nvPr/>
        </p:nvSpPr>
        <p:spPr>
          <a:xfrm>
            <a:off x="609600" y="1816100"/>
            <a:ext cx="1270000" cy="304800"/>
          </a:xfrm>
          <a:prstGeom prst="rect">
            <a:avLst/>
          </a:prstGeom>
          <a:noFill/>
        </p:spPr>
        <p:txBody>
          <a:bodyPr vert="horz" wrap="square" lIns="50800" tIns="25400" rIns="50800" bIns="25400" rtlCol="0" anchor="ctr">
            <a:noAutofit/>
          </a:bodyPr>
          <a:lstStyle/>
          <a:p>
            <a:r>
              <a:rPr lang="en-US" sz="1000" b="1">
                <a:solidFill>
                  <a:srgbClr val="1769E0"/>
                </a:solidFill>
                <a:latin typeface="Segoe UI" panose="020B0502040204020203" pitchFamily="34" charset="0"/>
              </a:rPr>
              <a:t>EVERY DAY</a:t>
            </a:r>
          </a:p>
        </p:txBody>
      </p:sp>
      <p:cxnSp>
        <p:nvCxnSpPr>
          <p:cNvPr id="6" name="Straight Connector 5">
            <a:extLst>
              <a:ext uri="{FF2B5EF4-FFF2-40B4-BE49-F238E27FC236}">
                <a16:creationId xmlns:a16="http://schemas.microsoft.com/office/drawing/2014/main" id="{60BBAAC0-6F06-F339-49D7-67D5A632AD93}"/>
              </a:ext>
            </a:extLst>
          </p:cNvPr>
          <p:cNvCxnSpPr/>
          <p:nvPr/>
        </p:nvCxnSpPr>
        <p:spPr>
          <a:xfrm>
            <a:off x="1536700" y="3149600"/>
            <a:ext cx="9156700" cy="0"/>
          </a:xfrm>
          <a:prstGeom prst="line">
            <a:avLst/>
          </a:prstGeom>
          <a:ln w="50800">
            <a:solidFill>
              <a:srgbClr val="1769E0"/>
            </a:solidFill>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9D3EB2FC-2631-FF8C-1D6B-355FB46CA48F}"/>
              </a:ext>
            </a:extLst>
          </p:cNvPr>
          <p:cNvSpPr/>
          <p:nvPr/>
        </p:nvSpPr>
        <p:spPr>
          <a:xfrm>
            <a:off x="1600200" y="2844800"/>
            <a:ext cx="609600" cy="609600"/>
          </a:xfrm>
          <a:prstGeom prst="ellipse">
            <a:avLst/>
          </a:prstGeom>
          <a:solidFill>
            <a:srgbClr val="078A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4047F7B-A81C-2B77-3531-098AFA3CB6E5}"/>
              </a:ext>
            </a:extLst>
          </p:cNvPr>
          <p:cNvSpPr txBox="1"/>
          <p:nvPr/>
        </p:nvSpPr>
        <p:spPr>
          <a:xfrm>
            <a:off x="1600200" y="2844800"/>
            <a:ext cx="609600" cy="6096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00:15</a:t>
            </a:r>
          </a:p>
        </p:txBody>
      </p:sp>
      <p:sp>
        <p:nvSpPr>
          <p:cNvPr id="9" name="Rectangle: Rounded Corners 8">
            <a:extLst>
              <a:ext uri="{FF2B5EF4-FFF2-40B4-BE49-F238E27FC236}">
                <a16:creationId xmlns:a16="http://schemas.microsoft.com/office/drawing/2014/main" id="{C91A6490-6D87-3D08-1D41-BEA7ECA7E604}"/>
              </a:ext>
            </a:extLst>
          </p:cNvPr>
          <p:cNvSpPr/>
          <p:nvPr/>
        </p:nvSpPr>
        <p:spPr>
          <a:xfrm>
            <a:off x="990600" y="3695700"/>
            <a:ext cx="2387600" cy="1168400"/>
          </a:xfrm>
          <a:prstGeom prst="roundRect">
            <a:avLst/>
          </a:prstGeom>
          <a:solidFill>
            <a:srgbClr val="FFFFFF"/>
          </a:solidFill>
          <a:ln w="12700">
            <a:solidFill>
              <a:srgbClr val="078A99"/>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566B5FD-0A3D-43A9-DD6A-72CDC773D30F}"/>
              </a:ext>
            </a:extLst>
          </p:cNvPr>
          <p:cNvSpPr txBox="1"/>
          <p:nvPr/>
        </p:nvSpPr>
        <p:spPr>
          <a:xfrm>
            <a:off x="1130300" y="3835400"/>
            <a:ext cx="2108200" cy="3429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Capture snapshots</a:t>
            </a:r>
          </a:p>
        </p:txBody>
      </p:sp>
      <p:sp>
        <p:nvSpPr>
          <p:cNvPr id="11" name="TextBox 10">
            <a:extLst>
              <a:ext uri="{FF2B5EF4-FFF2-40B4-BE49-F238E27FC236}">
                <a16:creationId xmlns:a16="http://schemas.microsoft.com/office/drawing/2014/main" id="{A2B9E928-D1B1-4AAB-4AC4-10727098E994}"/>
              </a:ext>
            </a:extLst>
          </p:cNvPr>
          <p:cNvSpPr txBox="1"/>
          <p:nvPr/>
        </p:nvSpPr>
        <p:spPr>
          <a:xfrm>
            <a:off x="1143000" y="4254500"/>
            <a:ext cx="2082800" cy="495300"/>
          </a:xfrm>
          <a:prstGeom prst="rect">
            <a:avLst/>
          </a:prstGeom>
          <a:noFill/>
        </p:spPr>
        <p:txBody>
          <a:bodyPr vert="horz" wrap="square" lIns="50800" tIns="25400" rIns="50800" bIns="25400" rtlCol="0" anchor="t">
            <a:noAutofit/>
          </a:bodyPr>
          <a:lstStyle/>
          <a:p>
            <a:pPr algn="ctr"/>
            <a:r>
              <a:rPr lang="en-US" sz="850">
                <a:solidFill>
                  <a:srgbClr val="667085"/>
                </a:solidFill>
                <a:latin typeface="Segoe UI" panose="020B0502040204020203" pitchFamily="34" charset="0"/>
              </a:rPr>
              <a:t>Previous day balances, demand and stockout minutes</a:t>
            </a:r>
          </a:p>
        </p:txBody>
      </p:sp>
      <p:sp>
        <p:nvSpPr>
          <p:cNvPr id="12" name="Oval 11">
            <a:extLst>
              <a:ext uri="{FF2B5EF4-FFF2-40B4-BE49-F238E27FC236}">
                <a16:creationId xmlns:a16="http://schemas.microsoft.com/office/drawing/2014/main" id="{5470416D-7E8A-5BA4-5949-7E4F1FA6A91F}"/>
              </a:ext>
            </a:extLst>
          </p:cNvPr>
          <p:cNvSpPr/>
          <p:nvPr/>
        </p:nvSpPr>
        <p:spPr>
          <a:xfrm>
            <a:off x="4762500" y="2844800"/>
            <a:ext cx="609600" cy="6096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7915B83-B60C-AFB0-70D8-51957F9E365A}"/>
              </a:ext>
            </a:extLst>
          </p:cNvPr>
          <p:cNvSpPr txBox="1"/>
          <p:nvPr/>
        </p:nvSpPr>
        <p:spPr>
          <a:xfrm>
            <a:off x="4762500" y="2844800"/>
            <a:ext cx="609600" cy="6096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00:30</a:t>
            </a:r>
          </a:p>
        </p:txBody>
      </p:sp>
      <p:sp>
        <p:nvSpPr>
          <p:cNvPr id="14" name="Rectangle: Rounded Corners 13">
            <a:extLst>
              <a:ext uri="{FF2B5EF4-FFF2-40B4-BE49-F238E27FC236}">
                <a16:creationId xmlns:a16="http://schemas.microsoft.com/office/drawing/2014/main" id="{1FF0A566-9116-3F5B-9CE1-876EEFF245BA}"/>
              </a:ext>
            </a:extLst>
          </p:cNvPr>
          <p:cNvSpPr/>
          <p:nvPr/>
        </p:nvSpPr>
        <p:spPr>
          <a:xfrm>
            <a:off x="4152900" y="3695700"/>
            <a:ext cx="2387600" cy="11684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E6F9B68-9946-D605-1CD9-01523E68B899}"/>
              </a:ext>
            </a:extLst>
          </p:cNvPr>
          <p:cNvSpPr txBox="1"/>
          <p:nvPr/>
        </p:nvSpPr>
        <p:spPr>
          <a:xfrm>
            <a:off x="4292600" y="3835400"/>
            <a:ext cx="2108200" cy="3429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Score due forecasts</a:t>
            </a:r>
          </a:p>
        </p:txBody>
      </p:sp>
      <p:sp>
        <p:nvSpPr>
          <p:cNvPr id="16" name="TextBox 15">
            <a:extLst>
              <a:ext uri="{FF2B5EF4-FFF2-40B4-BE49-F238E27FC236}">
                <a16:creationId xmlns:a16="http://schemas.microsoft.com/office/drawing/2014/main" id="{8FA1EF70-B7BC-9348-3394-35A253DD8211}"/>
              </a:ext>
            </a:extLst>
          </p:cNvPr>
          <p:cNvSpPr txBox="1"/>
          <p:nvPr/>
        </p:nvSpPr>
        <p:spPr>
          <a:xfrm>
            <a:off x="4305300" y="4254500"/>
            <a:ext cx="2082800" cy="495300"/>
          </a:xfrm>
          <a:prstGeom prst="rect">
            <a:avLst/>
          </a:prstGeom>
          <a:noFill/>
        </p:spPr>
        <p:txBody>
          <a:bodyPr vert="horz" wrap="square" lIns="50800" tIns="25400" rIns="50800" bIns="25400" rtlCol="0" anchor="t">
            <a:noAutofit/>
          </a:bodyPr>
          <a:lstStyle/>
          <a:p>
            <a:pPr algn="ctr"/>
            <a:r>
              <a:rPr lang="en-US" sz="850">
                <a:solidFill>
                  <a:srgbClr val="667085"/>
                </a:solidFill>
                <a:latin typeface="Segoe UI" panose="020B0502040204020203" pitchFamily="34" charset="0"/>
              </a:rPr>
              <a:t>Compare elapsed horizons with actual demand</a:t>
            </a:r>
          </a:p>
        </p:txBody>
      </p:sp>
      <p:sp>
        <p:nvSpPr>
          <p:cNvPr id="17" name="Oval 16">
            <a:extLst>
              <a:ext uri="{FF2B5EF4-FFF2-40B4-BE49-F238E27FC236}">
                <a16:creationId xmlns:a16="http://schemas.microsoft.com/office/drawing/2014/main" id="{15DAF29D-EF5B-A670-948C-8D1BD983A1B8}"/>
              </a:ext>
            </a:extLst>
          </p:cNvPr>
          <p:cNvSpPr/>
          <p:nvPr/>
        </p:nvSpPr>
        <p:spPr>
          <a:xfrm>
            <a:off x="7924800" y="2844800"/>
            <a:ext cx="609600" cy="6096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5931339-B54B-450A-0EC1-8529A5B5349B}"/>
              </a:ext>
            </a:extLst>
          </p:cNvPr>
          <p:cNvSpPr txBox="1"/>
          <p:nvPr/>
        </p:nvSpPr>
        <p:spPr>
          <a:xfrm>
            <a:off x="7924800" y="2844800"/>
            <a:ext cx="609600" cy="609600"/>
          </a:xfrm>
          <a:prstGeom prst="rect">
            <a:avLst/>
          </a:prstGeom>
          <a:noFill/>
        </p:spPr>
        <p:txBody>
          <a:bodyPr vert="horz" wrap="square" lIns="50800" tIns="25400" rIns="50800" bIns="25400" rtlCol="0" anchor="ctr">
            <a:noAutofit/>
          </a:bodyPr>
          <a:lstStyle/>
          <a:p>
            <a:pPr algn="ctr"/>
            <a:r>
              <a:rPr lang="en-US" sz="750" b="1">
                <a:solidFill>
                  <a:srgbClr val="FFFFFF"/>
                </a:solidFill>
                <a:latin typeface="Segoe UI" panose="020B0502040204020203" pitchFamily="34" charset="0"/>
              </a:rPr>
              <a:t>00:45</a:t>
            </a:r>
          </a:p>
        </p:txBody>
      </p:sp>
      <p:sp>
        <p:nvSpPr>
          <p:cNvPr id="19" name="Rectangle: Rounded Corners 18">
            <a:extLst>
              <a:ext uri="{FF2B5EF4-FFF2-40B4-BE49-F238E27FC236}">
                <a16:creationId xmlns:a16="http://schemas.microsoft.com/office/drawing/2014/main" id="{EF0977DD-B18C-810B-F197-1003729A7E32}"/>
              </a:ext>
            </a:extLst>
          </p:cNvPr>
          <p:cNvSpPr/>
          <p:nvPr/>
        </p:nvSpPr>
        <p:spPr>
          <a:xfrm>
            <a:off x="7315200" y="3695700"/>
            <a:ext cx="2387600" cy="1168400"/>
          </a:xfrm>
          <a:prstGeom prst="roundRect">
            <a:avLst/>
          </a:prstGeom>
          <a:solidFill>
            <a:srgbClr val="FFFFFF"/>
          </a:solidFill>
          <a:ln w="12700">
            <a:solidFill>
              <a:srgbClr val="0E9F6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C0C0F72-1402-37EA-94C9-B56011E07253}"/>
              </a:ext>
            </a:extLst>
          </p:cNvPr>
          <p:cNvSpPr txBox="1"/>
          <p:nvPr/>
        </p:nvSpPr>
        <p:spPr>
          <a:xfrm>
            <a:off x="7454900" y="3835400"/>
            <a:ext cx="2108200" cy="3429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Generate recommendations</a:t>
            </a:r>
          </a:p>
        </p:txBody>
      </p:sp>
      <p:sp>
        <p:nvSpPr>
          <p:cNvPr id="21" name="TextBox 20">
            <a:extLst>
              <a:ext uri="{FF2B5EF4-FFF2-40B4-BE49-F238E27FC236}">
                <a16:creationId xmlns:a16="http://schemas.microsoft.com/office/drawing/2014/main" id="{1B201C06-E75F-B98C-3216-FE7CE1C0C972}"/>
              </a:ext>
            </a:extLst>
          </p:cNvPr>
          <p:cNvSpPr txBox="1"/>
          <p:nvPr/>
        </p:nvSpPr>
        <p:spPr>
          <a:xfrm>
            <a:off x="7467600" y="4254500"/>
            <a:ext cx="2082800" cy="495300"/>
          </a:xfrm>
          <a:prstGeom prst="rect">
            <a:avLst/>
          </a:prstGeom>
          <a:noFill/>
        </p:spPr>
        <p:txBody>
          <a:bodyPr vert="horz" wrap="square" lIns="50800" tIns="25400" rIns="50800" bIns="25400" rtlCol="0" anchor="t">
            <a:noAutofit/>
          </a:bodyPr>
          <a:lstStyle/>
          <a:p>
            <a:pPr algn="ctr"/>
            <a:r>
              <a:rPr lang="en-US" sz="850">
                <a:solidFill>
                  <a:srgbClr val="667085"/>
                </a:solidFill>
                <a:latin typeface="Segoe UI" panose="020B0502040204020203" pitchFamily="34" charset="0"/>
              </a:rPr>
              <a:t>Refresh purchase, transfer and ageing actions</a:t>
            </a:r>
          </a:p>
        </p:txBody>
      </p:sp>
      <p:sp>
        <p:nvSpPr>
          <p:cNvPr id="22" name="TextBox 21">
            <a:extLst>
              <a:ext uri="{FF2B5EF4-FFF2-40B4-BE49-F238E27FC236}">
                <a16:creationId xmlns:a16="http://schemas.microsoft.com/office/drawing/2014/main" id="{ECE0C334-83AC-FA89-A07D-0AECFC951436}"/>
              </a:ext>
            </a:extLst>
          </p:cNvPr>
          <p:cNvSpPr txBox="1"/>
          <p:nvPr/>
        </p:nvSpPr>
        <p:spPr>
          <a:xfrm>
            <a:off x="609600" y="5245100"/>
            <a:ext cx="2286000" cy="304800"/>
          </a:xfrm>
          <a:prstGeom prst="rect">
            <a:avLst/>
          </a:prstGeom>
          <a:noFill/>
        </p:spPr>
        <p:txBody>
          <a:bodyPr vert="horz" wrap="square" lIns="50800" tIns="25400" rIns="50800" bIns="25400" rtlCol="0" anchor="ctr">
            <a:noAutofit/>
          </a:bodyPr>
          <a:lstStyle/>
          <a:p>
            <a:r>
              <a:rPr lang="en-US" sz="1000" b="1">
                <a:solidFill>
                  <a:srgbClr val="6D3EF2"/>
                </a:solidFill>
                <a:latin typeface="Segoe UI" panose="020B0502040204020203" pitchFamily="34" charset="0"/>
              </a:rPr>
              <a:t>FIRST DAY OF EACH MONTH</a:t>
            </a:r>
          </a:p>
        </p:txBody>
      </p:sp>
      <p:sp>
        <p:nvSpPr>
          <p:cNvPr id="23" name="Rectangle: Rounded Corners 22">
            <a:extLst>
              <a:ext uri="{FF2B5EF4-FFF2-40B4-BE49-F238E27FC236}">
                <a16:creationId xmlns:a16="http://schemas.microsoft.com/office/drawing/2014/main" id="{2017E46F-848C-5AF7-75EA-964C4D44A17B}"/>
              </a:ext>
            </a:extLst>
          </p:cNvPr>
          <p:cNvSpPr/>
          <p:nvPr/>
        </p:nvSpPr>
        <p:spPr>
          <a:xfrm>
            <a:off x="3098800" y="5168900"/>
            <a:ext cx="3454400" cy="431800"/>
          </a:xfrm>
          <a:prstGeom prst="roundRect">
            <a:avLst/>
          </a:prstGeom>
          <a:solidFill>
            <a:srgbClr val="E4F7F8"/>
          </a:solidFill>
          <a:ln w="12700">
            <a:solidFill>
              <a:srgbClr val="E4F7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72E9C8-5B98-4EE4-D58E-0D0F6E053A67}"/>
              </a:ext>
            </a:extLst>
          </p:cNvPr>
          <p:cNvSpPr txBox="1"/>
          <p:nvPr/>
        </p:nvSpPr>
        <p:spPr>
          <a:xfrm>
            <a:off x="3098800" y="5168900"/>
            <a:ext cx="3454400" cy="431800"/>
          </a:xfrm>
          <a:prstGeom prst="rect">
            <a:avLst/>
          </a:prstGeom>
          <a:noFill/>
        </p:spPr>
        <p:txBody>
          <a:bodyPr vert="horz" wrap="square" lIns="50800" tIns="25400" rIns="50800" bIns="25400" rtlCol="0" anchor="ctr">
            <a:noAutofit/>
          </a:bodyPr>
          <a:lstStyle/>
          <a:p>
            <a:pPr algn="ctr"/>
            <a:r>
              <a:rPr lang="en-US" sz="900" b="1">
                <a:solidFill>
                  <a:srgbClr val="078A99"/>
                </a:solidFill>
                <a:latin typeface="Segoe UI" panose="020B0502040204020203" pitchFamily="34" charset="0"/>
              </a:rPr>
              <a:t>01:00 - Capture supplier performance</a:t>
            </a:r>
          </a:p>
        </p:txBody>
      </p:sp>
      <p:sp>
        <p:nvSpPr>
          <p:cNvPr id="25" name="Rectangle: Rounded Corners 24">
            <a:extLst>
              <a:ext uri="{FF2B5EF4-FFF2-40B4-BE49-F238E27FC236}">
                <a16:creationId xmlns:a16="http://schemas.microsoft.com/office/drawing/2014/main" id="{0EC2B323-3659-75F6-FBE1-A2450AFA20A4}"/>
              </a:ext>
            </a:extLst>
          </p:cNvPr>
          <p:cNvSpPr/>
          <p:nvPr/>
        </p:nvSpPr>
        <p:spPr>
          <a:xfrm>
            <a:off x="6794500" y="5168900"/>
            <a:ext cx="4279900" cy="431800"/>
          </a:xfrm>
          <a:prstGeom prst="roundRect">
            <a:avLst/>
          </a:prstGeom>
          <a:solidFill>
            <a:srgbClr val="EEE9FF"/>
          </a:solidFill>
          <a:ln w="12700">
            <a:solidFill>
              <a:srgbClr val="EEE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4DEE8B2-B58B-4266-E37E-47E830E951D3}"/>
              </a:ext>
            </a:extLst>
          </p:cNvPr>
          <p:cNvSpPr txBox="1"/>
          <p:nvPr/>
        </p:nvSpPr>
        <p:spPr>
          <a:xfrm>
            <a:off x="6794500" y="5168900"/>
            <a:ext cx="4279900" cy="431800"/>
          </a:xfrm>
          <a:prstGeom prst="rect">
            <a:avLst/>
          </a:prstGeom>
          <a:noFill/>
        </p:spPr>
        <p:txBody>
          <a:bodyPr vert="horz" wrap="square" lIns="50800" tIns="25400" rIns="50800" bIns="25400" rtlCol="0" anchor="ctr">
            <a:noAutofit/>
          </a:bodyPr>
          <a:lstStyle/>
          <a:p>
            <a:pPr algn="ctr"/>
            <a:r>
              <a:rPr lang="en-US" sz="900" b="1">
                <a:solidFill>
                  <a:srgbClr val="6D3EF2"/>
                </a:solidFill>
                <a:latin typeface="Segoe UI" panose="020B0502040204020203" pitchFamily="34" charset="0"/>
              </a:rPr>
              <a:t>02:00 - Retrain neural models in background</a:t>
            </a:r>
          </a:p>
        </p:txBody>
      </p:sp>
      <p:sp>
        <p:nvSpPr>
          <p:cNvPr id="27" name="Rectangle: Rounded Corners 26">
            <a:extLst>
              <a:ext uri="{FF2B5EF4-FFF2-40B4-BE49-F238E27FC236}">
                <a16:creationId xmlns:a16="http://schemas.microsoft.com/office/drawing/2014/main" id="{66EF3346-0AFD-D54E-6D2F-9D6D7041A2B3}"/>
              </a:ext>
            </a:extLst>
          </p:cNvPr>
          <p:cNvSpPr/>
          <p:nvPr/>
        </p:nvSpPr>
        <p:spPr>
          <a:xfrm>
            <a:off x="2578100" y="5880100"/>
            <a:ext cx="7048500" cy="393700"/>
          </a:xfrm>
          <a:prstGeom prst="roundRect">
            <a:avLst/>
          </a:prstGeom>
          <a:solidFill>
            <a:srgbClr val="0B1536"/>
          </a:solidFill>
          <a:ln w="12700">
            <a:solidFill>
              <a:srgbClr val="0B15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DF1EB64-5E01-6E7E-FCDF-0502CA616A95}"/>
              </a:ext>
            </a:extLst>
          </p:cNvPr>
          <p:cNvSpPr txBox="1"/>
          <p:nvPr/>
        </p:nvSpPr>
        <p:spPr>
          <a:xfrm>
            <a:off x="2578100" y="5880100"/>
            <a:ext cx="7048500" cy="393700"/>
          </a:xfrm>
          <a:prstGeom prst="rect">
            <a:avLst/>
          </a:prstGeom>
          <a:noFill/>
        </p:spPr>
        <p:txBody>
          <a:bodyPr vert="horz" wrap="square" lIns="50800" tIns="25400" rIns="50800" bIns="25400" rtlCol="0" anchor="ctr">
            <a:noAutofit/>
          </a:bodyPr>
          <a:lstStyle/>
          <a:p>
            <a:pPr algn="ctr"/>
            <a:r>
              <a:rPr lang="en-US" sz="900" b="1">
                <a:solidFill>
                  <a:srgbClr val="FFFFFF"/>
                </a:solidFill>
                <a:latin typeface="Segoe UI" panose="020B0502040204020203" pitchFamily="34" charset="0"/>
              </a:rPr>
              <a:t>Manual buttons remain available for controlled backfill and on-demand runs</a:t>
            </a:r>
          </a:p>
        </p:txBody>
      </p:sp>
      <p:sp>
        <p:nvSpPr>
          <p:cNvPr id="29" name="TextBox 28">
            <a:extLst>
              <a:ext uri="{FF2B5EF4-FFF2-40B4-BE49-F238E27FC236}">
                <a16:creationId xmlns:a16="http://schemas.microsoft.com/office/drawing/2014/main" id="{366A9526-9344-2C49-2AFA-5CECF22D96EC}"/>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30" name="TextBox 29">
            <a:extLst>
              <a:ext uri="{FF2B5EF4-FFF2-40B4-BE49-F238E27FC236}">
                <a16:creationId xmlns:a16="http://schemas.microsoft.com/office/drawing/2014/main" id="{C430052A-5FBB-6C49-7F39-DC1D959A3750}"/>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16</a:t>
            </a:r>
          </a:p>
        </p:txBody>
      </p:sp>
    </p:spTree>
    <p:extLst>
      <p:ext uri="{BB962C8B-B14F-4D97-AF65-F5344CB8AC3E}">
        <p14:creationId xmlns:p14="http://schemas.microsoft.com/office/powerpoint/2010/main" val="1595226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8EBB85-9322-96E2-D6D0-78E65903634B}"/>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TECHNICAL ARCHITECTURE</a:t>
            </a:r>
          </a:p>
        </p:txBody>
      </p:sp>
      <p:sp>
        <p:nvSpPr>
          <p:cNvPr id="3" name="TextBox 2">
            <a:extLst>
              <a:ext uri="{FF2B5EF4-FFF2-40B4-BE49-F238E27FC236}">
                <a16:creationId xmlns:a16="http://schemas.microsoft.com/office/drawing/2014/main" id="{EF0E1E5C-AE95-3F26-E9A6-B93E675F665C}"/>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The system is one product across two runtimes</a:t>
            </a:r>
          </a:p>
        </p:txBody>
      </p:sp>
      <p:sp>
        <p:nvSpPr>
          <p:cNvPr id="4" name="TextBox 3">
            <a:extLst>
              <a:ext uri="{FF2B5EF4-FFF2-40B4-BE49-F238E27FC236}">
                <a16:creationId xmlns:a16="http://schemas.microsoft.com/office/drawing/2014/main" id="{2935B296-F45C-3814-9414-EF57FB8C4801}"/>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Laravel owns business truth and workflow; Python serves statistical and neural forecasts through a narrow HTTP contract.</a:t>
            </a:r>
          </a:p>
        </p:txBody>
      </p:sp>
      <p:cxnSp>
        <p:nvCxnSpPr>
          <p:cNvPr id="5" name="Straight Connector 4">
            <a:extLst>
              <a:ext uri="{FF2B5EF4-FFF2-40B4-BE49-F238E27FC236}">
                <a16:creationId xmlns:a16="http://schemas.microsoft.com/office/drawing/2014/main" id="{CA550B35-239C-3C04-802F-F3E9CFF3C8F8}"/>
              </a:ext>
            </a:extLst>
          </p:cNvPr>
          <p:cNvCxnSpPr/>
          <p:nvPr/>
        </p:nvCxnSpPr>
        <p:spPr>
          <a:xfrm>
            <a:off x="2260600" y="3251200"/>
            <a:ext cx="254000" cy="0"/>
          </a:xfrm>
          <a:prstGeom prst="line">
            <a:avLst/>
          </a:prstGeom>
          <a:ln w="3048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0B9F3D45-EB76-0B23-1582-6BA1BF6EC605}"/>
              </a:ext>
            </a:extLst>
          </p:cNvPr>
          <p:cNvSpPr/>
          <p:nvPr/>
        </p:nvSpPr>
        <p:spPr>
          <a:xfrm>
            <a:off x="508000" y="2006600"/>
            <a:ext cx="1752600" cy="24892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9856ABB-1E5E-AC0D-F8FD-E1738E757D69}"/>
              </a:ext>
            </a:extLst>
          </p:cNvPr>
          <p:cNvSpPr/>
          <p:nvPr/>
        </p:nvSpPr>
        <p:spPr>
          <a:xfrm>
            <a:off x="508000" y="2006600"/>
            <a:ext cx="1752600" cy="495300"/>
          </a:xfrm>
          <a:prstGeom prst="roundRect">
            <a:avLst/>
          </a:prstGeom>
          <a:solidFill>
            <a:srgbClr val="1769E0"/>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E146795-6D9F-613A-42FC-63D2E079D692}"/>
              </a:ext>
            </a:extLst>
          </p:cNvPr>
          <p:cNvSpPr txBox="1"/>
          <p:nvPr/>
        </p:nvSpPr>
        <p:spPr>
          <a:xfrm>
            <a:off x="596900" y="2082800"/>
            <a:ext cx="1574800" cy="330200"/>
          </a:xfrm>
          <a:prstGeom prst="rect">
            <a:avLst/>
          </a:prstGeom>
          <a:noFill/>
        </p:spPr>
        <p:txBody>
          <a:bodyPr vert="horz" wrap="square" lIns="50800" tIns="25400" rIns="50800" bIns="25400" rtlCol="0" anchor="ctr">
            <a:noAutofit/>
          </a:bodyPr>
          <a:lstStyle/>
          <a:p>
            <a:pPr algn="ctr"/>
            <a:r>
              <a:rPr lang="en-US" sz="1050" b="1">
                <a:solidFill>
                  <a:srgbClr val="FFFFFF"/>
                </a:solidFill>
                <a:latin typeface="Segoe UI" panose="020B0502040204020203" pitchFamily="34" charset="0"/>
              </a:rPr>
              <a:t>USERS</a:t>
            </a:r>
          </a:p>
        </p:txBody>
      </p:sp>
      <p:sp>
        <p:nvSpPr>
          <p:cNvPr id="9" name="TextBox 8">
            <a:extLst>
              <a:ext uri="{FF2B5EF4-FFF2-40B4-BE49-F238E27FC236}">
                <a16:creationId xmlns:a16="http://schemas.microsoft.com/office/drawing/2014/main" id="{4862DE63-957D-A514-E8A5-1F23611D53DC}"/>
              </a:ext>
            </a:extLst>
          </p:cNvPr>
          <p:cNvSpPr txBox="1"/>
          <p:nvPr/>
        </p:nvSpPr>
        <p:spPr>
          <a:xfrm>
            <a:off x="647700" y="2743200"/>
            <a:ext cx="1473200" cy="1498600"/>
          </a:xfrm>
          <a:prstGeom prst="rect">
            <a:avLst/>
          </a:prstGeom>
          <a:noFill/>
        </p:spPr>
        <p:txBody>
          <a:bodyPr vert="horz" wrap="square" lIns="50800" tIns="25400" rIns="50800" bIns="25400" rtlCol="0" anchor="t">
            <a:noAutofit/>
          </a:bodyPr>
          <a:lstStyle/>
          <a:p>
            <a:pPr algn="ctr"/>
            <a:r>
              <a:rPr lang="it-IT" sz="910">
                <a:solidFill>
                  <a:srgbClr val="344054"/>
                </a:solidFill>
                <a:latin typeface="Segoe UI" panose="020B0502040204020203" pitchFamily="34" charset="0"/>
              </a:rPr>
              <a:t>Browser</a:t>
            </a:r>
          </a:p>
          <a:p>
            <a:pPr algn="ctr"/>
            <a:r>
              <a:rPr lang="it-IT" sz="910">
                <a:solidFill>
                  <a:srgbClr val="344054"/>
                </a:solidFill>
                <a:latin typeface="Segoe UI" panose="020B0502040204020203" pitchFamily="34" charset="0"/>
              </a:rPr>
              <a:t>Login + verification</a:t>
            </a:r>
          </a:p>
          <a:p>
            <a:pPr algn="ctr"/>
            <a:r>
              <a:rPr lang="it-IT" sz="910">
                <a:solidFill>
                  <a:srgbClr val="344054"/>
                </a:solidFill>
                <a:latin typeface="Segoe UI" panose="020B0502040204020203" pitchFamily="34" charset="0"/>
              </a:rPr>
              <a:t>2FA + passkeys</a:t>
            </a:r>
            <a:endParaRPr lang="en-US" sz="910">
              <a:solidFill>
                <a:srgbClr val="344054"/>
              </a:solidFill>
              <a:latin typeface="Segoe UI" panose="020B0502040204020203" pitchFamily="34" charset="0"/>
            </a:endParaRPr>
          </a:p>
        </p:txBody>
      </p:sp>
      <p:cxnSp>
        <p:nvCxnSpPr>
          <p:cNvPr id="10" name="Straight Connector 9">
            <a:extLst>
              <a:ext uri="{FF2B5EF4-FFF2-40B4-BE49-F238E27FC236}">
                <a16:creationId xmlns:a16="http://schemas.microsoft.com/office/drawing/2014/main" id="{D88AC301-2A6A-EF46-C9E4-A486C73C40F8}"/>
              </a:ext>
            </a:extLst>
          </p:cNvPr>
          <p:cNvCxnSpPr/>
          <p:nvPr/>
        </p:nvCxnSpPr>
        <p:spPr>
          <a:xfrm>
            <a:off x="4940300" y="3251200"/>
            <a:ext cx="254000" cy="0"/>
          </a:xfrm>
          <a:prstGeom prst="line">
            <a:avLst/>
          </a:prstGeom>
          <a:ln w="30480">
            <a:solidFill>
              <a:srgbClr val="6D3EF2"/>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6BB25BD-4898-07C8-B8CB-DE3AC1E8407F}"/>
              </a:ext>
            </a:extLst>
          </p:cNvPr>
          <p:cNvSpPr/>
          <p:nvPr/>
        </p:nvSpPr>
        <p:spPr>
          <a:xfrm>
            <a:off x="2616200" y="2006600"/>
            <a:ext cx="2324100" cy="24892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4CEF9C3-6D18-006B-BEF1-1A1AB5C9F513}"/>
              </a:ext>
            </a:extLst>
          </p:cNvPr>
          <p:cNvSpPr/>
          <p:nvPr/>
        </p:nvSpPr>
        <p:spPr>
          <a:xfrm>
            <a:off x="2616200" y="2006600"/>
            <a:ext cx="2324100" cy="4953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453047D-AEE8-4941-1D83-262F169EFD35}"/>
              </a:ext>
            </a:extLst>
          </p:cNvPr>
          <p:cNvSpPr txBox="1"/>
          <p:nvPr/>
        </p:nvSpPr>
        <p:spPr>
          <a:xfrm>
            <a:off x="2705100" y="2082800"/>
            <a:ext cx="2146300" cy="330200"/>
          </a:xfrm>
          <a:prstGeom prst="rect">
            <a:avLst/>
          </a:prstGeom>
          <a:noFill/>
        </p:spPr>
        <p:txBody>
          <a:bodyPr vert="horz" wrap="square" lIns="50800" tIns="25400" rIns="50800" bIns="25400" rtlCol="0" anchor="ctr">
            <a:noAutofit/>
          </a:bodyPr>
          <a:lstStyle/>
          <a:p>
            <a:pPr algn="ctr"/>
            <a:r>
              <a:rPr lang="en-US" sz="1050" b="1">
                <a:solidFill>
                  <a:srgbClr val="FFFFFF"/>
                </a:solidFill>
                <a:latin typeface="Segoe UI" panose="020B0502040204020203" pitchFamily="34" charset="0"/>
              </a:rPr>
              <a:t>WEB APPLICATION</a:t>
            </a:r>
          </a:p>
        </p:txBody>
      </p:sp>
      <p:sp>
        <p:nvSpPr>
          <p:cNvPr id="14" name="TextBox 13">
            <a:extLst>
              <a:ext uri="{FF2B5EF4-FFF2-40B4-BE49-F238E27FC236}">
                <a16:creationId xmlns:a16="http://schemas.microsoft.com/office/drawing/2014/main" id="{A049A631-AD54-6922-07A4-EE6FA4B031D8}"/>
              </a:ext>
            </a:extLst>
          </p:cNvPr>
          <p:cNvSpPr txBox="1"/>
          <p:nvPr/>
        </p:nvSpPr>
        <p:spPr>
          <a:xfrm>
            <a:off x="2755900" y="2743200"/>
            <a:ext cx="2044700" cy="1498600"/>
          </a:xfrm>
          <a:prstGeom prst="rect">
            <a:avLst/>
          </a:prstGeom>
          <a:noFill/>
        </p:spPr>
        <p:txBody>
          <a:bodyPr vert="horz" wrap="square" lIns="50800" tIns="25400" rIns="50800" bIns="25400" rtlCol="0" anchor="t">
            <a:noAutofit/>
          </a:bodyPr>
          <a:lstStyle/>
          <a:p>
            <a:pPr algn="ctr"/>
            <a:r>
              <a:rPr lang="en-US" sz="910">
                <a:solidFill>
                  <a:srgbClr val="344054"/>
                </a:solidFill>
                <a:latin typeface="Segoe UI" panose="020B0502040204020203" pitchFamily="34" charset="0"/>
              </a:rPr>
              <a:t>Inertia v3 + React 19</a:t>
            </a:r>
          </a:p>
          <a:p>
            <a:pPr algn="ctr"/>
            <a:r>
              <a:rPr lang="en-US" sz="910">
                <a:solidFill>
                  <a:srgbClr val="344054"/>
                </a:solidFill>
                <a:latin typeface="Segoe UI" panose="020B0502040204020203" pitchFamily="34" charset="0"/>
              </a:rPr>
              <a:t>Bootstrap 5.3 + SCSS</a:t>
            </a:r>
          </a:p>
          <a:p>
            <a:pPr algn="ctr"/>
            <a:r>
              <a:rPr lang="en-US" sz="910">
                <a:solidFill>
                  <a:srgbClr val="344054"/>
                </a:solidFill>
                <a:latin typeface="Segoe UI" panose="020B0502040204020203" pitchFamily="34" charset="0"/>
              </a:rPr>
              <a:t>Typed Wayfinder routes</a:t>
            </a:r>
          </a:p>
        </p:txBody>
      </p:sp>
      <p:cxnSp>
        <p:nvCxnSpPr>
          <p:cNvPr id="15" name="Straight Connector 14">
            <a:extLst>
              <a:ext uri="{FF2B5EF4-FFF2-40B4-BE49-F238E27FC236}">
                <a16:creationId xmlns:a16="http://schemas.microsoft.com/office/drawing/2014/main" id="{8B641FDC-766A-7BCE-976D-43C6EB66B717}"/>
              </a:ext>
            </a:extLst>
          </p:cNvPr>
          <p:cNvCxnSpPr/>
          <p:nvPr/>
        </p:nvCxnSpPr>
        <p:spPr>
          <a:xfrm>
            <a:off x="7835900" y="3251200"/>
            <a:ext cx="254000" cy="0"/>
          </a:xfrm>
          <a:prstGeom prst="line">
            <a:avLst/>
          </a:prstGeom>
          <a:ln w="30480">
            <a:solidFill>
              <a:srgbClr val="1769E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4B1D76E1-3EBF-376A-5B36-298B9DECFFC2}"/>
              </a:ext>
            </a:extLst>
          </p:cNvPr>
          <p:cNvSpPr/>
          <p:nvPr/>
        </p:nvSpPr>
        <p:spPr>
          <a:xfrm>
            <a:off x="5295900" y="2006600"/>
            <a:ext cx="2540000" cy="24892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3EB208C-CB8C-7F62-8CBE-27D00FB21EA8}"/>
              </a:ext>
            </a:extLst>
          </p:cNvPr>
          <p:cNvSpPr/>
          <p:nvPr/>
        </p:nvSpPr>
        <p:spPr>
          <a:xfrm>
            <a:off x="5295900" y="2006600"/>
            <a:ext cx="2540000" cy="495300"/>
          </a:xfrm>
          <a:prstGeom prst="roundRect">
            <a:avLst/>
          </a:prstGeom>
          <a:solidFill>
            <a:srgbClr val="1769E0"/>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0E6C4FC-A94F-53BA-CF82-D997AF89BFD0}"/>
              </a:ext>
            </a:extLst>
          </p:cNvPr>
          <p:cNvSpPr txBox="1"/>
          <p:nvPr/>
        </p:nvSpPr>
        <p:spPr>
          <a:xfrm>
            <a:off x="5384800" y="2082800"/>
            <a:ext cx="2362200" cy="330200"/>
          </a:xfrm>
          <a:prstGeom prst="rect">
            <a:avLst/>
          </a:prstGeom>
          <a:noFill/>
        </p:spPr>
        <p:txBody>
          <a:bodyPr vert="horz" wrap="square" lIns="50800" tIns="25400" rIns="50800" bIns="25400" rtlCol="0" anchor="ctr">
            <a:noAutofit/>
          </a:bodyPr>
          <a:lstStyle/>
          <a:p>
            <a:pPr algn="ctr"/>
            <a:r>
              <a:rPr lang="en-US" sz="1050" b="1">
                <a:solidFill>
                  <a:srgbClr val="FFFFFF"/>
                </a:solidFill>
                <a:latin typeface="Segoe UI" panose="020B0502040204020203" pitchFamily="34" charset="0"/>
              </a:rPr>
              <a:t>LARAVEL 13</a:t>
            </a:r>
          </a:p>
        </p:txBody>
      </p:sp>
      <p:sp>
        <p:nvSpPr>
          <p:cNvPr id="19" name="TextBox 18">
            <a:extLst>
              <a:ext uri="{FF2B5EF4-FFF2-40B4-BE49-F238E27FC236}">
                <a16:creationId xmlns:a16="http://schemas.microsoft.com/office/drawing/2014/main" id="{6D3CF768-A835-E9E4-6AE5-6E3F51CE471E}"/>
              </a:ext>
            </a:extLst>
          </p:cNvPr>
          <p:cNvSpPr txBox="1"/>
          <p:nvPr/>
        </p:nvSpPr>
        <p:spPr>
          <a:xfrm>
            <a:off x="5435600" y="2743200"/>
            <a:ext cx="2260600" cy="1498600"/>
          </a:xfrm>
          <a:prstGeom prst="rect">
            <a:avLst/>
          </a:prstGeom>
          <a:noFill/>
        </p:spPr>
        <p:txBody>
          <a:bodyPr vert="horz" wrap="square" lIns="50800" tIns="25400" rIns="50800" bIns="25400" rtlCol="0" anchor="t">
            <a:noAutofit/>
          </a:bodyPr>
          <a:lstStyle/>
          <a:p>
            <a:pPr algn="ctr"/>
            <a:r>
              <a:rPr lang="en-US" sz="910">
                <a:solidFill>
                  <a:srgbClr val="344054"/>
                </a:solidFill>
                <a:latin typeface="Segoe UI" panose="020B0502040204020203" pitchFamily="34" charset="0"/>
              </a:rPr>
              <a:t>Form Request -&gt; Controller</a:t>
            </a:r>
          </a:p>
          <a:p>
            <a:pPr algn="ctr"/>
            <a:r>
              <a:rPr lang="en-US" sz="910">
                <a:solidFill>
                  <a:srgbClr val="344054"/>
                </a:solidFill>
                <a:latin typeface="Segoe UI" panose="020B0502040204020203" pitchFamily="34" charset="0"/>
              </a:rPr>
              <a:t>Facade -&gt; Service -&gt; Model</a:t>
            </a:r>
          </a:p>
          <a:p>
            <a:pPr algn="ctr"/>
            <a:r>
              <a:rPr lang="en-US" sz="910">
                <a:solidFill>
                  <a:srgbClr val="344054"/>
                </a:solidFill>
                <a:latin typeface="Segoe UI" panose="020B0502040204020203" pitchFamily="34" charset="0"/>
              </a:rPr>
              <a:t>Transactions + validation</a:t>
            </a:r>
          </a:p>
        </p:txBody>
      </p:sp>
      <p:cxnSp>
        <p:nvCxnSpPr>
          <p:cNvPr id="20" name="Straight Connector 19">
            <a:extLst>
              <a:ext uri="{FF2B5EF4-FFF2-40B4-BE49-F238E27FC236}">
                <a16:creationId xmlns:a16="http://schemas.microsoft.com/office/drawing/2014/main" id="{3065A5FB-0EF7-5E4B-E7A7-8FECF0D7A915}"/>
              </a:ext>
            </a:extLst>
          </p:cNvPr>
          <p:cNvCxnSpPr/>
          <p:nvPr/>
        </p:nvCxnSpPr>
        <p:spPr>
          <a:xfrm>
            <a:off x="9931400" y="3251200"/>
            <a:ext cx="254000" cy="0"/>
          </a:xfrm>
          <a:prstGeom prst="line">
            <a:avLst/>
          </a:prstGeom>
          <a:ln w="30480">
            <a:solidFill>
              <a:srgbClr val="078A99"/>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F7324392-7BC1-DD54-ACC8-9C6D898C6CCA}"/>
              </a:ext>
            </a:extLst>
          </p:cNvPr>
          <p:cNvSpPr/>
          <p:nvPr/>
        </p:nvSpPr>
        <p:spPr>
          <a:xfrm>
            <a:off x="8191500" y="2006600"/>
            <a:ext cx="1739900" cy="2489200"/>
          </a:xfrm>
          <a:prstGeom prst="roundRect">
            <a:avLst/>
          </a:prstGeom>
          <a:solidFill>
            <a:srgbClr val="FFFFFF"/>
          </a:solidFill>
          <a:ln w="12700">
            <a:solidFill>
              <a:srgbClr val="078A99"/>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3DFC86AA-2F27-1038-7575-CA46432AED2D}"/>
              </a:ext>
            </a:extLst>
          </p:cNvPr>
          <p:cNvSpPr/>
          <p:nvPr/>
        </p:nvSpPr>
        <p:spPr>
          <a:xfrm>
            <a:off x="8191500" y="2006600"/>
            <a:ext cx="1739900" cy="4953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16E9760-B81A-5FC9-BEE4-0B69E489A2C9}"/>
              </a:ext>
            </a:extLst>
          </p:cNvPr>
          <p:cNvSpPr txBox="1"/>
          <p:nvPr/>
        </p:nvSpPr>
        <p:spPr>
          <a:xfrm>
            <a:off x="8280400" y="2082800"/>
            <a:ext cx="1562100" cy="330200"/>
          </a:xfrm>
          <a:prstGeom prst="rect">
            <a:avLst/>
          </a:prstGeom>
          <a:noFill/>
        </p:spPr>
        <p:txBody>
          <a:bodyPr vert="horz" wrap="square" lIns="50800" tIns="25400" rIns="50800" bIns="25400" rtlCol="0" anchor="ctr">
            <a:noAutofit/>
          </a:bodyPr>
          <a:lstStyle/>
          <a:p>
            <a:pPr algn="ctr"/>
            <a:r>
              <a:rPr lang="en-US" sz="1050" b="1">
                <a:solidFill>
                  <a:srgbClr val="FFFFFF"/>
                </a:solidFill>
                <a:latin typeface="Segoe UI" panose="020B0502040204020203" pitchFamily="34" charset="0"/>
              </a:rPr>
              <a:t>MYSQL</a:t>
            </a:r>
          </a:p>
        </p:txBody>
      </p:sp>
      <p:sp>
        <p:nvSpPr>
          <p:cNvPr id="24" name="TextBox 23">
            <a:extLst>
              <a:ext uri="{FF2B5EF4-FFF2-40B4-BE49-F238E27FC236}">
                <a16:creationId xmlns:a16="http://schemas.microsoft.com/office/drawing/2014/main" id="{E9FB0304-3B3C-ECF4-9BC3-6B04899BF4EF}"/>
              </a:ext>
            </a:extLst>
          </p:cNvPr>
          <p:cNvSpPr txBox="1"/>
          <p:nvPr/>
        </p:nvSpPr>
        <p:spPr>
          <a:xfrm>
            <a:off x="8331200" y="2743200"/>
            <a:ext cx="1460500" cy="1498600"/>
          </a:xfrm>
          <a:prstGeom prst="rect">
            <a:avLst/>
          </a:prstGeom>
          <a:noFill/>
        </p:spPr>
        <p:txBody>
          <a:bodyPr vert="horz" wrap="square" lIns="50800" tIns="25400" rIns="50800" bIns="25400" rtlCol="0" anchor="t">
            <a:noAutofit/>
          </a:bodyPr>
          <a:lstStyle/>
          <a:p>
            <a:pPr algn="ctr"/>
            <a:r>
              <a:rPr lang="en-US" sz="910">
                <a:solidFill>
                  <a:srgbClr val="344054"/>
                </a:solidFill>
                <a:latin typeface="Segoe UI" panose="020B0502040204020203" pitchFamily="34" charset="0"/>
              </a:rPr>
              <a:t>Operational tables</a:t>
            </a:r>
          </a:p>
          <a:p>
            <a:pPr algn="ctr"/>
            <a:r>
              <a:rPr lang="en-US" sz="910">
                <a:solidFill>
                  <a:srgbClr val="344054"/>
                </a:solidFill>
                <a:latin typeface="Segoe UI" panose="020B0502040204020203" pitchFamily="34" charset="0"/>
              </a:rPr>
              <a:t>Ledger + snapshots</a:t>
            </a:r>
          </a:p>
          <a:p>
            <a:pPr algn="ctr"/>
            <a:r>
              <a:rPr lang="en-US" sz="910">
                <a:solidFill>
                  <a:srgbClr val="344054"/>
                </a:solidFill>
                <a:latin typeface="Segoe UI" panose="020B0502040204020203" pitchFamily="34" charset="0"/>
              </a:rPr>
              <a:t>Forecasts + decisions</a:t>
            </a:r>
          </a:p>
        </p:txBody>
      </p:sp>
      <p:sp>
        <p:nvSpPr>
          <p:cNvPr id="25" name="Rectangle: Rounded Corners 24">
            <a:extLst>
              <a:ext uri="{FF2B5EF4-FFF2-40B4-BE49-F238E27FC236}">
                <a16:creationId xmlns:a16="http://schemas.microsoft.com/office/drawing/2014/main" id="{28972BCF-DE5F-E4B8-D3FB-5C70E47213F4}"/>
              </a:ext>
            </a:extLst>
          </p:cNvPr>
          <p:cNvSpPr/>
          <p:nvPr/>
        </p:nvSpPr>
        <p:spPr>
          <a:xfrm>
            <a:off x="10287000" y="2006600"/>
            <a:ext cx="1397000" cy="24892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DC22AB59-91EE-A2B5-9ED4-09482FCE07B1}"/>
              </a:ext>
            </a:extLst>
          </p:cNvPr>
          <p:cNvSpPr/>
          <p:nvPr/>
        </p:nvSpPr>
        <p:spPr>
          <a:xfrm>
            <a:off x="10287000" y="2006600"/>
            <a:ext cx="1397000" cy="4953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123AF72-6C01-4EC2-D555-505874F40E53}"/>
              </a:ext>
            </a:extLst>
          </p:cNvPr>
          <p:cNvSpPr txBox="1"/>
          <p:nvPr/>
        </p:nvSpPr>
        <p:spPr>
          <a:xfrm>
            <a:off x="10375900" y="2082800"/>
            <a:ext cx="1219200" cy="330200"/>
          </a:xfrm>
          <a:prstGeom prst="rect">
            <a:avLst/>
          </a:prstGeom>
          <a:noFill/>
        </p:spPr>
        <p:txBody>
          <a:bodyPr vert="horz" wrap="square" lIns="50800" tIns="25400" rIns="50800" bIns="25400" rtlCol="0" anchor="ctr">
            <a:noAutofit/>
          </a:bodyPr>
          <a:lstStyle/>
          <a:p>
            <a:pPr algn="ctr"/>
            <a:r>
              <a:rPr lang="en-US" sz="1050" b="1">
                <a:solidFill>
                  <a:srgbClr val="FFFFFF"/>
                </a:solidFill>
                <a:latin typeface="Segoe UI" panose="020B0502040204020203" pitchFamily="34" charset="0"/>
              </a:rPr>
              <a:t>PYTHON</a:t>
            </a:r>
          </a:p>
        </p:txBody>
      </p:sp>
      <p:sp>
        <p:nvSpPr>
          <p:cNvPr id="28" name="TextBox 27">
            <a:extLst>
              <a:ext uri="{FF2B5EF4-FFF2-40B4-BE49-F238E27FC236}">
                <a16:creationId xmlns:a16="http://schemas.microsoft.com/office/drawing/2014/main" id="{CF1954F9-3CF7-71E2-8A24-B86789DF6461}"/>
              </a:ext>
            </a:extLst>
          </p:cNvPr>
          <p:cNvSpPr txBox="1"/>
          <p:nvPr/>
        </p:nvSpPr>
        <p:spPr>
          <a:xfrm>
            <a:off x="10426700" y="2743200"/>
            <a:ext cx="1117600" cy="1498600"/>
          </a:xfrm>
          <a:prstGeom prst="rect">
            <a:avLst/>
          </a:prstGeom>
          <a:noFill/>
        </p:spPr>
        <p:txBody>
          <a:bodyPr vert="horz" wrap="square" lIns="50800" tIns="25400" rIns="50800" bIns="25400" rtlCol="0" anchor="t">
            <a:noAutofit/>
          </a:bodyPr>
          <a:lstStyle/>
          <a:p>
            <a:pPr algn="ctr"/>
            <a:r>
              <a:rPr lang="en-US" sz="910">
                <a:solidFill>
                  <a:srgbClr val="344054"/>
                </a:solidFill>
                <a:latin typeface="Segoe UI" panose="020B0502040204020203" pitchFamily="34" charset="0"/>
              </a:rPr>
              <a:t>FastAPI</a:t>
            </a:r>
          </a:p>
          <a:p>
            <a:pPr algn="ctr"/>
            <a:r>
              <a:rPr lang="en-US" sz="910">
                <a:solidFill>
                  <a:srgbClr val="344054"/>
                </a:solidFill>
                <a:latin typeface="Segoe UI" panose="020B0502040204020203" pitchFamily="34" charset="0"/>
              </a:rPr>
              <a:t>EWMA / seasonal</a:t>
            </a:r>
          </a:p>
          <a:p>
            <a:pPr algn="ctr"/>
            <a:r>
              <a:rPr lang="en-US" sz="910">
                <a:solidFill>
                  <a:srgbClr val="344054"/>
                </a:solidFill>
                <a:latin typeface="Segoe UI" panose="020B0502040204020203" pitchFamily="34" charset="0"/>
              </a:rPr>
              <a:t>TFT / DeepAR</a:t>
            </a:r>
          </a:p>
        </p:txBody>
      </p:sp>
      <p:cxnSp>
        <p:nvCxnSpPr>
          <p:cNvPr id="29" name="Straight Connector 28">
            <a:extLst>
              <a:ext uri="{FF2B5EF4-FFF2-40B4-BE49-F238E27FC236}">
                <a16:creationId xmlns:a16="http://schemas.microsoft.com/office/drawing/2014/main" id="{5DAF3463-8310-16F8-7BAE-AD22D5EF2303}"/>
              </a:ext>
            </a:extLst>
          </p:cNvPr>
          <p:cNvCxnSpPr/>
          <p:nvPr/>
        </p:nvCxnSpPr>
        <p:spPr>
          <a:xfrm>
            <a:off x="6553200" y="4495800"/>
            <a:ext cx="0" cy="673100"/>
          </a:xfrm>
          <a:prstGeom prst="line">
            <a:avLst/>
          </a:prstGeom>
          <a:ln w="27940">
            <a:solidFill>
              <a:srgbClr val="0E9F6E"/>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88501FF0-7895-DFD0-1352-3F884AE7FAFA}"/>
              </a:ext>
            </a:extLst>
          </p:cNvPr>
          <p:cNvSpPr/>
          <p:nvPr/>
        </p:nvSpPr>
        <p:spPr>
          <a:xfrm>
            <a:off x="4343400" y="5232400"/>
            <a:ext cx="3467100" cy="431800"/>
          </a:xfrm>
          <a:prstGeom prst="roundRect">
            <a:avLst/>
          </a:prstGeom>
          <a:solidFill>
            <a:srgbClr val="E1F7EF"/>
          </a:solidFill>
          <a:ln w="12700">
            <a:solidFill>
              <a:srgbClr val="E1F7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3CEC4BFF-4D6F-0F65-07A6-FB9F2E3E772A}"/>
              </a:ext>
            </a:extLst>
          </p:cNvPr>
          <p:cNvSpPr txBox="1"/>
          <p:nvPr/>
        </p:nvSpPr>
        <p:spPr>
          <a:xfrm>
            <a:off x="4343400" y="5232400"/>
            <a:ext cx="3467100" cy="431800"/>
          </a:xfrm>
          <a:prstGeom prst="rect">
            <a:avLst/>
          </a:prstGeom>
          <a:noFill/>
        </p:spPr>
        <p:txBody>
          <a:bodyPr vert="horz" wrap="square" lIns="50800" tIns="25400" rIns="50800" bIns="25400" rtlCol="0" anchor="ctr">
            <a:noAutofit/>
          </a:bodyPr>
          <a:lstStyle/>
          <a:p>
            <a:pPr algn="ctr"/>
            <a:r>
              <a:rPr lang="en-US" sz="900" b="1">
                <a:solidFill>
                  <a:srgbClr val="0E9F6E"/>
                </a:solidFill>
                <a:latin typeface="Segoe UI" panose="020B0502040204020203" pitchFamily="34" charset="0"/>
              </a:rPr>
              <a:t>Database queue worker: forecast jobs</a:t>
            </a:r>
          </a:p>
        </p:txBody>
      </p:sp>
      <p:cxnSp>
        <p:nvCxnSpPr>
          <p:cNvPr id="32" name="Straight Connector 31">
            <a:extLst>
              <a:ext uri="{FF2B5EF4-FFF2-40B4-BE49-F238E27FC236}">
                <a16:creationId xmlns:a16="http://schemas.microsoft.com/office/drawing/2014/main" id="{547D9D78-C6D0-3301-FA54-A375F91D37E5}"/>
              </a:ext>
            </a:extLst>
          </p:cNvPr>
          <p:cNvCxnSpPr/>
          <p:nvPr/>
        </p:nvCxnSpPr>
        <p:spPr>
          <a:xfrm>
            <a:off x="9067800" y="4495800"/>
            <a:ext cx="0" cy="673100"/>
          </a:xfrm>
          <a:prstGeom prst="line">
            <a:avLst/>
          </a:prstGeom>
          <a:ln w="27940">
            <a:solidFill>
              <a:srgbClr val="E58A00"/>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Rounded Corners 32">
            <a:extLst>
              <a:ext uri="{FF2B5EF4-FFF2-40B4-BE49-F238E27FC236}">
                <a16:creationId xmlns:a16="http://schemas.microsoft.com/office/drawing/2014/main" id="{A2C2638F-2C44-07EB-78C9-6C1845D5A3A6}"/>
              </a:ext>
            </a:extLst>
          </p:cNvPr>
          <p:cNvSpPr/>
          <p:nvPr/>
        </p:nvSpPr>
        <p:spPr>
          <a:xfrm>
            <a:off x="8013700" y="5232400"/>
            <a:ext cx="3479800" cy="431800"/>
          </a:xfrm>
          <a:prstGeom prst="roundRect">
            <a:avLst/>
          </a:prstGeom>
          <a:solidFill>
            <a:srgbClr val="FFF2D9"/>
          </a:solidFill>
          <a:ln w="12700">
            <a:solidFill>
              <a:srgbClr val="FFF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2988DFE-E3BC-E565-D6C7-70BACD24ABE7}"/>
              </a:ext>
            </a:extLst>
          </p:cNvPr>
          <p:cNvSpPr txBox="1"/>
          <p:nvPr/>
        </p:nvSpPr>
        <p:spPr>
          <a:xfrm>
            <a:off x="8013700" y="5232400"/>
            <a:ext cx="3479800" cy="431800"/>
          </a:xfrm>
          <a:prstGeom prst="rect">
            <a:avLst/>
          </a:prstGeom>
          <a:noFill/>
        </p:spPr>
        <p:txBody>
          <a:bodyPr vert="horz" wrap="square" lIns="50800" tIns="25400" rIns="50800" bIns="25400" rtlCol="0" anchor="ctr">
            <a:noAutofit/>
          </a:bodyPr>
          <a:lstStyle/>
          <a:p>
            <a:pPr algn="ctr"/>
            <a:r>
              <a:rPr lang="en-US" sz="900" b="1">
                <a:solidFill>
                  <a:srgbClr val="E58A00"/>
                </a:solidFill>
                <a:latin typeface="Segoe UI" panose="020B0502040204020203" pitchFamily="34" charset="0"/>
              </a:rPr>
              <a:t>Scheduler: daily + monthly sequence</a:t>
            </a:r>
          </a:p>
        </p:txBody>
      </p:sp>
      <p:sp>
        <p:nvSpPr>
          <p:cNvPr id="35" name="Rectangle: Rounded Corners 34">
            <a:extLst>
              <a:ext uri="{FF2B5EF4-FFF2-40B4-BE49-F238E27FC236}">
                <a16:creationId xmlns:a16="http://schemas.microsoft.com/office/drawing/2014/main" id="{35C63F14-BDB6-622B-A3C9-412650376F2A}"/>
              </a:ext>
            </a:extLst>
          </p:cNvPr>
          <p:cNvSpPr/>
          <p:nvPr/>
        </p:nvSpPr>
        <p:spPr>
          <a:xfrm>
            <a:off x="2108200" y="5892800"/>
            <a:ext cx="7988300" cy="393700"/>
          </a:xfrm>
          <a:prstGeom prst="roundRect">
            <a:avLst/>
          </a:prstGeom>
          <a:solidFill>
            <a:srgbClr val="FDE7E7"/>
          </a:solidFill>
          <a:ln w="12700">
            <a:solidFill>
              <a:srgbClr val="FDE7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2B9CC43-946D-7DEC-20C2-69E0DD759DE5}"/>
              </a:ext>
            </a:extLst>
          </p:cNvPr>
          <p:cNvSpPr txBox="1"/>
          <p:nvPr/>
        </p:nvSpPr>
        <p:spPr>
          <a:xfrm>
            <a:off x="2108200" y="5892800"/>
            <a:ext cx="7988300" cy="393700"/>
          </a:xfrm>
          <a:prstGeom prst="rect">
            <a:avLst/>
          </a:prstGeom>
          <a:noFill/>
        </p:spPr>
        <p:txBody>
          <a:bodyPr vert="horz" wrap="square" lIns="50800" tIns="25400" rIns="50800" bIns="25400" rtlCol="0" anchor="ctr">
            <a:noAutofit/>
          </a:bodyPr>
          <a:lstStyle/>
          <a:p>
            <a:pPr algn="ctr"/>
            <a:r>
              <a:rPr lang="en-US" sz="880" b="1">
                <a:solidFill>
                  <a:srgbClr val="E5484D"/>
                </a:solidFill>
                <a:latin typeface="Segoe UI" panose="020B0502040204020203" pitchFamily="34" charset="0"/>
              </a:rPr>
              <a:t>Python is separate: supervise it and require bearer-token auth before network exposure</a:t>
            </a:r>
          </a:p>
        </p:txBody>
      </p:sp>
      <p:sp>
        <p:nvSpPr>
          <p:cNvPr id="37" name="TextBox 36">
            <a:extLst>
              <a:ext uri="{FF2B5EF4-FFF2-40B4-BE49-F238E27FC236}">
                <a16:creationId xmlns:a16="http://schemas.microsoft.com/office/drawing/2014/main" id="{D109DE5A-6C19-67ED-A15E-E6456134D562}"/>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38" name="TextBox 37">
            <a:extLst>
              <a:ext uri="{FF2B5EF4-FFF2-40B4-BE49-F238E27FC236}">
                <a16:creationId xmlns:a16="http://schemas.microsoft.com/office/drawing/2014/main" id="{261CC8D7-E948-DD5C-0B9E-E83E365708FC}"/>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17</a:t>
            </a:r>
          </a:p>
        </p:txBody>
      </p:sp>
    </p:spTree>
    <p:extLst>
      <p:ext uri="{BB962C8B-B14F-4D97-AF65-F5344CB8AC3E}">
        <p14:creationId xmlns:p14="http://schemas.microsoft.com/office/powerpoint/2010/main" val="4802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E4E914-EE43-04CD-CBB3-7BE465129D98}"/>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SECURITY &amp; DATA INTEGRITY</a:t>
            </a:r>
          </a:p>
        </p:txBody>
      </p:sp>
      <p:sp>
        <p:nvSpPr>
          <p:cNvPr id="3" name="TextBox 2">
            <a:extLst>
              <a:ext uri="{FF2B5EF4-FFF2-40B4-BE49-F238E27FC236}">
                <a16:creationId xmlns:a16="http://schemas.microsoft.com/office/drawing/2014/main" id="{1374684F-0793-9ECB-6123-E11CD69AF474}"/>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Controls delivered - and controls still required</a:t>
            </a:r>
          </a:p>
        </p:txBody>
      </p:sp>
      <p:sp>
        <p:nvSpPr>
          <p:cNvPr id="4" name="TextBox 3">
            <a:extLst>
              <a:ext uri="{FF2B5EF4-FFF2-40B4-BE49-F238E27FC236}">
                <a16:creationId xmlns:a16="http://schemas.microsoft.com/office/drawing/2014/main" id="{BF11F98C-DE37-2913-3AA9-604E971E7C95}"/>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The application protects individual accounts and stock transactions, but does not yet separate business duties by role.</a:t>
            </a:r>
          </a:p>
        </p:txBody>
      </p:sp>
      <p:sp>
        <p:nvSpPr>
          <p:cNvPr id="5" name="Rectangle: Rounded Corners 4">
            <a:extLst>
              <a:ext uri="{FF2B5EF4-FFF2-40B4-BE49-F238E27FC236}">
                <a16:creationId xmlns:a16="http://schemas.microsoft.com/office/drawing/2014/main" id="{4B8A73AE-798A-6D22-BA7F-3944F771DB60}"/>
              </a:ext>
            </a:extLst>
          </p:cNvPr>
          <p:cNvSpPr/>
          <p:nvPr/>
        </p:nvSpPr>
        <p:spPr>
          <a:xfrm>
            <a:off x="609600" y="1765300"/>
            <a:ext cx="5257800" cy="4191000"/>
          </a:xfrm>
          <a:prstGeom prst="roundRect">
            <a:avLst/>
          </a:prstGeom>
          <a:solidFill>
            <a:srgbClr val="FFFFFF"/>
          </a:solidFill>
          <a:ln w="12700">
            <a:solidFill>
              <a:srgbClr val="0E9F6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F2B0524-3F97-3544-DAF4-A60DB86F9899}"/>
              </a:ext>
            </a:extLst>
          </p:cNvPr>
          <p:cNvSpPr/>
          <p:nvPr/>
        </p:nvSpPr>
        <p:spPr>
          <a:xfrm>
            <a:off x="863600" y="1993900"/>
            <a:ext cx="2514600" cy="406400"/>
          </a:xfrm>
          <a:prstGeom prst="roundRect">
            <a:avLst/>
          </a:prstGeom>
          <a:solidFill>
            <a:srgbClr val="0E9F6E"/>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F7DC305-ED15-C562-03AC-E65E6EDC06DA}"/>
              </a:ext>
            </a:extLst>
          </p:cNvPr>
          <p:cNvSpPr txBox="1"/>
          <p:nvPr/>
        </p:nvSpPr>
        <p:spPr>
          <a:xfrm>
            <a:off x="863600" y="1993900"/>
            <a:ext cx="25146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DELIVERED CONTROLS</a:t>
            </a:r>
          </a:p>
        </p:txBody>
      </p:sp>
      <p:sp>
        <p:nvSpPr>
          <p:cNvPr id="8" name="Oval 7">
            <a:extLst>
              <a:ext uri="{FF2B5EF4-FFF2-40B4-BE49-F238E27FC236}">
                <a16:creationId xmlns:a16="http://schemas.microsoft.com/office/drawing/2014/main" id="{28238871-E19F-A26B-E27C-5793522CC3E7}"/>
              </a:ext>
            </a:extLst>
          </p:cNvPr>
          <p:cNvSpPr/>
          <p:nvPr/>
        </p:nvSpPr>
        <p:spPr>
          <a:xfrm>
            <a:off x="914400" y="2679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759CD5E-8013-D44D-39B5-4B60C80699A4}"/>
              </a:ext>
            </a:extLst>
          </p:cNvPr>
          <p:cNvSpPr txBox="1"/>
          <p:nvPr/>
        </p:nvSpPr>
        <p:spPr>
          <a:xfrm>
            <a:off x="914400" y="2679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10" name="TextBox 9">
            <a:extLst>
              <a:ext uri="{FF2B5EF4-FFF2-40B4-BE49-F238E27FC236}">
                <a16:creationId xmlns:a16="http://schemas.microsoft.com/office/drawing/2014/main" id="{04B8DB56-7480-FC22-F89D-4F98F736F0EB}"/>
              </a:ext>
            </a:extLst>
          </p:cNvPr>
          <p:cNvSpPr txBox="1"/>
          <p:nvPr/>
        </p:nvSpPr>
        <p:spPr>
          <a:xfrm>
            <a:off x="1346200" y="2641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Verified login, reset and password confirmation</a:t>
            </a:r>
          </a:p>
        </p:txBody>
      </p:sp>
      <p:sp>
        <p:nvSpPr>
          <p:cNvPr id="11" name="Oval 10">
            <a:extLst>
              <a:ext uri="{FF2B5EF4-FFF2-40B4-BE49-F238E27FC236}">
                <a16:creationId xmlns:a16="http://schemas.microsoft.com/office/drawing/2014/main" id="{0CF3113B-9626-3132-3156-66C7E33687FF}"/>
              </a:ext>
            </a:extLst>
          </p:cNvPr>
          <p:cNvSpPr/>
          <p:nvPr/>
        </p:nvSpPr>
        <p:spPr>
          <a:xfrm>
            <a:off x="914400" y="3187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EAEBA6A-1A9E-8B4B-AA6D-F95C29AAF61A}"/>
              </a:ext>
            </a:extLst>
          </p:cNvPr>
          <p:cNvSpPr txBox="1"/>
          <p:nvPr/>
        </p:nvSpPr>
        <p:spPr>
          <a:xfrm>
            <a:off x="914400" y="3187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13" name="TextBox 12">
            <a:extLst>
              <a:ext uri="{FF2B5EF4-FFF2-40B4-BE49-F238E27FC236}">
                <a16:creationId xmlns:a16="http://schemas.microsoft.com/office/drawing/2014/main" id="{BEB49114-BF73-E91C-15C5-9C6B5555DDE4}"/>
              </a:ext>
            </a:extLst>
          </p:cNvPr>
          <p:cNvSpPr txBox="1"/>
          <p:nvPr/>
        </p:nvSpPr>
        <p:spPr>
          <a:xfrm>
            <a:off x="1346200" y="3149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TOTP two-factor authentication and passkeys</a:t>
            </a:r>
          </a:p>
        </p:txBody>
      </p:sp>
      <p:sp>
        <p:nvSpPr>
          <p:cNvPr id="14" name="Oval 13">
            <a:extLst>
              <a:ext uri="{FF2B5EF4-FFF2-40B4-BE49-F238E27FC236}">
                <a16:creationId xmlns:a16="http://schemas.microsoft.com/office/drawing/2014/main" id="{2C6B8310-352C-ACB4-EA7A-06D111C10FE2}"/>
              </a:ext>
            </a:extLst>
          </p:cNvPr>
          <p:cNvSpPr/>
          <p:nvPr/>
        </p:nvSpPr>
        <p:spPr>
          <a:xfrm>
            <a:off x="914400" y="3695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1C7904B-1A09-68D0-17BD-DF03FD46A974}"/>
              </a:ext>
            </a:extLst>
          </p:cNvPr>
          <p:cNvSpPr txBox="1"/>
          <p:nvPr/>
        </p:nvSpPr>
        <p:spPr>
          <a:xfrm>
            <a:off x="914400" y="3695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16" name="TextBox 15">
            <a:extLst>
              <a:ext uri="{FF2B5EF4-FFF2-40B4-BE49-F238E27FC236}">
                <a16:creationId xmlns:a16="http://schemas.microsoft.com/office/drawing/2014/main" id="{0367EE46-5341-D494-499D-177E4D7D85FE}"/>
              </a:ext>
            </a:extLst>
          </p:cNvPr>
          <p:cNvSpPr txBox="1"/>
          <p:nvPr/>
        </p:nvSpPr>
        <p:spPr>
          <a:xfrm>
            <a:off x="1346200" y="3657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Login / 2FA / passkey rate limits</a:t>
            </a:r>
          </a:p>
        </p:txBody>
      </p:sp>
      <p:sp>
        <p:nvSpPr>
          <p:cNvPr id="17" name="Oval 16">
            <a:extLst>
              <a:ext uri="{FF2B5EF4-FFF2-40B4-BE49-F238E27FC236}">
                <a16:creationId xmlns:a16="http://schemas.microsoft.com/office/drawing/2014/main" id="{8986E178-09C6-0500-520E-5B211E6FEE3D}"/>
              </a:ext>
            </a:extLst>
          </p:cNvPr>
          <p:cNvSpPr/>
          <p:nvPr/>
        </p:nvSpPr>
        <p:spPr>
          <a:xfrm>
            <a:off x="914400" y="4203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D6198F2-E901-7412-F564-CAF397169A64}"/>
              </a:ext>
            </a:extLst>
          </p:cNvPr>
          <p:cNvSpPr txBox="1"/>
          <p:nvPr/>
        </p:nvSpPr>
        <p:spPr>
          <a:xfrm>
            <a:off x="914400" y="4203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19" name="TextBox 18">
            <a:extLst>
              <a:ext uri="{FF2B5EF4-FFF2-40B4-BE49-F238E27FC236}">
                <a16:creationId xmlns:a16="http://schemas.microsoft.com/office/drawing/2014/main" id="{132E745E-BE07-C0F7-0E95-C1CDDCF6918B}"/>
              </a:ext>
            </a:extLst>
          </p:cNvPr>
          <p:cNvSpPr txBox="1"/>
          <p:nvPr/>
        </p:nvSpPr>
        <p:spPr>
          <a:xfrm>
            <a:off x="1346200" y="4165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Append-only ledger and immutable posted documents</a:t>
            </a:r>
          </a:p>
        </p:txBody>
      </p:sp>
      <p:sp>
        <p:nvSpPr>
          <p:cNvPr id="20" name="Oval 19">
            <a:extLst>
              <a:ext uri="{FF2B5EF4-FFF2-40B4-BE49-F238E27FC236}">
                <a16:creationId xmlns:a16="http://schemas.microsoft.com/office/drawing/2014/main" id="{F06C3FDB-5162-8891-9FE8-407A27057567}"/>
              </a:ext>
            </a:extLst>
          </p:cNvPr>
          <p:cNvSpPr/>
          <p:nvPr/>
        </p:nvSpPr>
        <p:spPr>
          <a:xfrm>
            <a:off x="914400" y="4711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E0E0A1E-B6AF-3107-3519-670F19B178FC}"/>
              </a:ext>
            </a:extLst>
          </p:cNvPr>
          <p:cNvSpPr txBox="1"/>
          <p:nvPr/>
        </p:nvSpPr>
        <p:spPr>
          <a:xfrm>
            <a:off x="914400" y="4711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22" name="TextBox 21">
            <a:extLst>
              <a:ext uri="{FF2B5EF4-FFF2-40B4-BE49-F238E27FC236}">
                <a16:creationId xmlns:a16="http://schemas.microsoft.com/office/drawing/2014/main" id="{75B5179B-F703-161C-6B1F-F6F390AE287B}"/>
              </a:ext>
            </a:extLst>
          </p:cNvPr>
          <p:cNvSpPr txBox="1"/>
          <p:nvPr/>
        </p:nvSpPr>
        <p:spPr>
          <a:xfrm>
            <a:off x="1346200" y="4673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Transactional stock writes and negative-stock guard</a:t>
            </a:r>
          </a:p>
        </p:txBody>
      </p:sp>
      <p:sp>
        <p:nvSpPr>
          <p:cNvPr id="23" name="Oval 22">
            <a:extLst>
              <a:ext uri="{FF2B5EF4-FFF2-40B4-BE49-F238E27FC236}">
                <a16:creationId xmlns:a16="http://schemas.microsoft.com/office/drawing/2014/main" id="{6B5202B3-CC15-EBFD-4503-CD2AF3E4D926}"/>
              </a:ext>
            </a:extLst>
          </p:cNvPr>
          <p:cNvSpPr/>
          <p:nvPr/>
        </p:nvSpPr>
        <p:spPr>
          <a:xfrm>
            <a:off x="914400" y="5219700"/>
            <a:ext cx="317500" cy="3175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835711-5CDD-25DD-7403-45892856F3E6}"/>
              </a:ext>
            </a:extLst>
          </p:cNvPr>
          <p:cNvSpPr txBox="1"/>
          <p:nvPr/>
        </p:nvSpPr>
        <p:spPr>
          <a:xfrm>
            <a:off x="914400" y="5219700"/>
            <a:ext cx="317500" cy="317500"/>
          </a:xfrm>
          <a:prstGeom prst="rect">
            <a:avLst/>
          </a:prstGeom>
          <a:noFill/>
        </p:spPr>
        <p:txBody>
          <a:bodyPr vert="horz" wrap="square" lIns="50800" tIns="25400" rIns="50800" bIns="25400" rtlCol="0" anchor="ctr">
            <a:noAutofit/>
          </a:bodyPr>
          <a:lstStyle/>
          <a:p>
            <a:pPr algn="ctr"/>
            <a:r>
              <a:rPr lang="en-US" sz="700" b="1">
                <a:solidFill>
                  <a:srgbClr val="FFFFFF"/>
                </a:solidFill>
                <a:latin typeface="Segoe UI" panose="020B0502040204020203" pitchFamily="34" charset="0"/>
              </a:rPr>
              <a:t>OK</a:t>
            </a:r>
          </a:p>
        </p:txBody>
      </p:sp>
      <p:sp>
        <p:nvSpPr>
          <p:cNvPr id="25" name="TextBox 24">
            <a:extLst>
              <a:ext uri="{FF2B5EF4-FFF2-40B4-BE49-F238E27FC236}">
                <a16:creationId xmlns:a16="http://schemas.microsoft.com/office/drawing/2014/main" id="{D092BF13-73C6-DE14-5D29-69625D89DDE0}"/>
              </a:ext>
            </a:extLst>
          </p:cNvPr>
          <p:cNvSpPr txBox="1"/>
          <p:nvPr/>
        </p:nvSpPr>
        <p:spPr>
          <a:xfrm>
            <a:off x="1346200" y="5181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Server-calculated PO totals and FIFO sale cost</a:t>
            </a:r>
          </a:p>
        </p:txBody>
      </p:sp>
      <p:sp>
        <p:nvSpPr>
          <p:cNvPr id="26" name="Rectangle: Rounded Corners 25">
            <a:extLst>
              <a:ext uri="{FF2B5EF4-FFF2-40B4-BE49-F238E27FC236}">
                <a16:creationId xmlns:a16="http://schemas.microsoft.com/office/drawing/2014/main" id="{60D0DD59-D28B-CC6E-1B38-26E507A7ACC0}"/>
              </a:ext>
            </a:extLst>
          </p:cNvPr>
          <p:cNvSpPr/>
          <p:nvPr/>
        </p:nvSpPr>
        <p:spPr>
          <a:xfrm>
            <a:off x="6324600" y="1765300"/>
            <a:ext cx="5257800" cy="4191000"/>
          </a:xfrm>
          <a:prstGeom prst="roundRect">
            <a:avLst/>
          </a:prstGeom>
          <a:solidFill>
            <a:srgbClr val="FFFFFF"/>
          </a:solidFill>
          <a:ln w="12700">
            <a:solidFill>
              <a:srgbClr val="E58A0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7628DAD1-4E8E-EBBD-AB90-0D61A9C524CC}"/>
              </a:ext>
            </a:extLst>
          </p:cNvPr>
          <p:cNvSpPr/>
          <p:nvPr/>
        </p:nvSpPr>
        <p:spPr>
          <a:xfrm>
            <a:off x="6578600" y="1993900"/>
            <a:ext cx="2514600" cy="406400"/>
          </a:xfrm>
          <a:prstGeom prst="roundRect">
            <a:avLst/>
          </a:prstGeom>
          <a:solidFill>
            <a:srgbClr val="E58A00"/>
          </a:solidFill>
          <a:ln w="12700">
            <a:solidFill>
              <a:srgbClr val="E58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4B29ED5-022F-248D-A400-0DFF3592A5D3}"/>
              </a:ext>
            </a:extLst>
          </p:cNvPr>
          <p:cNvSpPr txBox="1"/>
          <p:nvPr/>
        </p:nvSpPr>
        <p:spPr>
          <a:xfrm>
            <a:off x="6578600" y="1993900"/>
            <a:ext cx="2514600" cy="406400"/>
          </a:xfrm>
          <a:prstGeom prst="rect">
            <a:avLst/>
          </a:prstGeom>
          <a:noFill/>
        </p:spPr>
        <p:txBody>
          <a:bodyPr vert="horz" wrap="square" lIns="50800" tIns="25400" rIns="50800" bIns="25400" rtlCol="0" anchor="ctr">
            <a:noAutofit/>
          </a:bodyPr>
          <a:lstStyle/>
          <a:p>
            <a:pPr algn="ctr"/>
            <a:r>
              <a:rPr lang="en-US" sz="1000" b="1">
                <a:solidFill>
                  <a:srgbClr val="0B1536"/>
                </a:solidFill>
                <a:latin typeface="Segoe UI" panose="020B0502040204020203" pitchFamily="34" charset="0"/>
              </a:rPr>
              <a:t>BEFORE PRODUCTION</a:t>
            </a:r>
          </a:p>
        </p:txBody>
      </p:sp>
      <p:sp>
        <p:nvSpPr>
          <p:cNvPr id="29" name="Oval 28">
            <a:extLst>
              <a:ext uri="{FF2B5EF4-FFF2-40B4-BE49-F238E27FC236}">
                <a16:creationId xmlns:a16="http://schemas.microsoft.com/office/drawing/2014/main" id="{8AE84451-98F8-7029-F997-E662EB843BF6}"/>
              </a:ext>
            </a:extLst>
          </p:cNvPr>
          <p:cNvSpPr/>
          <p:nvPr/>
        </p:nvSpPr>
        <p:spPr>
          <a:xfrm>
            <a:off x="6629400" y="2679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25262E5-8865-7F7C-2804-42D690A5AD33}"/>
              </a:ext>
            </a:extLst>
          </p:cNvPr>
          <p:cNvSpPr txBox="1"/>
          <p:nvPr/>
        </p:nvSpPr>
        <p:spPr>
          <a:xfrm>
            <a:off x="6629400" y="2679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31" name="TextBox 30">
            <a:extLst>
              <a:ext uri="{FF2B5EF4-FFF2-40B4-BE49-F238E27FC236}">
                <a16:creationId xmlns:a16="http://schemas.microsoft.com/office/drawing/2014/main" id="{C3676374-7B7A-3485-44DA-96BEB9912BE5}"/>
              </a:ext>
            </a:extLst>
          </p:cNvPr>
          <p:cNvSpPr txBox="1"/>
          <p:nvPr/>
        </p:nvSpPr>
        <p:spPr>
          <a:xfrm>
            <a:off x="7061200" y="2641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Role-based permissions and separation of duties</a:t>
            </a:r>
          </a:p>
        </p:txBody>
      </p:sp>
      <p:sp>
        <p:nvSpPr>
          <p:cNvPr id="32" name="Oval 31">
            <a:extLst>
              <a:ext uri="{FF2B5EF4-FFF2-40B4-BE49-F238E27FC236}">
                <a16:creationId xmlns:a16="http://schemas.microsoft.com/office/drawing/2014/main" id="{32E756E7-CA24-8632-ADC1-1B238C4989C6}"/>
              </a:ext>
            </a:extLst>
          </p:cNvPr>
          <p:cNvSpPr/>
          <p:nvPr/>
        </p:nvSpPr>
        <p:spPr>
          <a:xfrm>
            <a:off x="6629400" y="3187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55A1E67-D985-639F-2F0D-A529621E502E}"/>
              </a:ext>
            </a:extLst>
          </p:cNvPr>
          <p:cNvSpPr txBox="1"/>
          <p:nvPr/>
        </p:nvSpPr>
        <p:spPr>
          <a:xfrm>
            <a:off x="6629400" y="3187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34" name="TextBox 33">
            <a:extLst>
              <a:ext uri="{FF2B5EF4-FFF2-40B4-BE49-F238E27FC236}">
                <a16:creationId xmlns:a16="http://schemas.microsoft.com/office/drawing/2014/main" id="{91C2D5C0-5C76-2363-CBE1-15139B545240}"/>
              </a:ext>
            </a:extLst>
          </p:cNvPr>
          <p:cNvSpPr txBox="1"/>
          <p:nvPr/>
        </p:nvSpPr>
        <p:spPr>
          <a:xfrm>
            <a:off x="7061200" y="3149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Controlled registration / user provisioning policy</a:t>
            </a:r>
          </a:p>
        </p:txBody>
      </p:sp>
      <p:sp>
        <p:nvSpPr>
          <p:cNvPr id="35" name="Oval 34">
            <a:extLst>
              <a:ext uri="{FF2B5EF4-FFF2-40B4-BE49-F238E27FC236}">
                <a16:creationId xmlns:a16="http://schemas.microsoft.com/office/drawing/2014/main" id="{046CFECC-8FB9-1C47-C37E-269D2DBFB668}"/>
              </a:ext>
            </a:extLst>
          </p:cNvPr>
          <p:cNvSpPr/>
          <p:nvPr/>
        </p:nvSpPr>
        <p:spPr>
          <a:xfrm>
            <a:off x="6629400" y="3695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123E6D8-2566-F5E1-746D-1986A25A9EF6}"/>
              </a:ext>
            </a:extLst>
          </p:cNvPr>
          <p:cNvSpPr txBox="1"/>
          <p:nvPr/>
        </p:nvSpPr>
        <p:spPr>
          <a:xfrm>
            <a:off x="6629400" y="3695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37" name="TextBox 36">
            <a:extLst>
              <a:ext uri="{FF2B5EF4-FFF2-40B4-BE49-F238E27FC236}">
                <a16:creationId xmlns:a16="http://schemas.microsoft.com/office/drawing/2014/main" id="{0BA99A8C-97E9-EF85-4111-F6CD30BE5CC7}"/>
              </a:ext>
            </a:extLst>
          </p:cNvPr>
          <p:cNvSpPr txBox="1"/>
          <p:nvPr/>
        </p:nvSpPr>
        <p:spPr>
          <a:xfrm>
            <a:off x="7061200" y="3657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Real email, HTTPS and production cookie settings</a:t>
            </a:r>
          </a:p>
        </p:txBody>
      </p:sp>
      <p:sp>
        <p:nvSpPr>
          <p:cNvPr id="38" name="Oval 37">
            <a:extLst>
              <a:ext uri="{FF2B5EF4-FFF2-40B4-BE49-F238E27FC236}">
                <a16:creationId xmlns:a16="http://schemas.microsoft.com/office/drawing/2014/main" id="{20438AE0-DB50-1A5D-CCAE-7EEDEE17FB36}"/>
              </a:ext>
            </a:extLst>
          </p:cNvPr>
          <p:cNvSpPr/>
          <p:nvPr/>
        </p:nvSpPr>
        <p:spPr>
          <a:xfrm>
            <a:off x="6629400" y="4203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DC1D6F5-D7D2-F360-C210-B8B267B8A4D3}"/>
              </a:ext>
            </a:extLst>
          </p:cNvPr>
          <p:cNvSpPr txBox="1"/>
          <p:nvPr/>
        </p:nvSpPr>
        <p:spPr>
          <a:xfrm>
            <a:off x="6629400" y="4203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40" name="TextBox 39">
            <a:extLst>
              <a:ext uri="{FF2B5EF4-FFF2-40B4-BE49-F238E27FC236}">
                <a16:creationId xmlns:a16="http://schemas.microsoft.com/office/drawing/2014/main" id="{F6A71E0C-C0C4-AD26-1D2A-CAD955026218}"/>
              </a:ext>
            </a:extLst>
          </p:cNvPr>
          <p:cNvSpPr txBox="1"/>
          <p:nvPr/>
        </p:nvSpPr>
        <p:spPr>
          <a:xfrm>
            <a:off x="7061200" y="4165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Hosting, backup, restore and monitoring design</a:t>
            </a:r>
          </a:p>
        </p:txBody>
      </p:sp>
      <p:sp>
        <p:nvSpPr>
          <p:cNvPr id="41" name="Oval 40">
            <a:extLst>
              <a:ext uri="{FF2B5EF4-FFF2-40B4-BE49-F238E27FC236}">
                <a16:creationId xmlns:a16="http://schemas.microsoft.com/office/drawing/2014/main" id="{6B2E0AFC-F59B-6509-6D1F-B72B8A93CC6B}"/>
              </a:ext>
            </a:extLst>
          </p:cNvPr>
          <p:cNvSpPr/>
          <p:nvPr/>
        </p:nvSpPr>
        <p:spPr>
          <a:xfrm>
            <a:off x="6629400" y="4711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BF49669-F463-AA46-A5B7-082E5C21AC4F}"/>
              </a:ext>
            </a:extLst>
          </p:cNvPr>
          <p:cNvSpPr txBox="1"/>
          <p:nvPr/>
        </p:nvSpPr>
        <p:spPr>
          <a:xfrm>
            <a:off x="6629400" y="4711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43" name="TextBox 42">
            <a:extLst>
              <a:ext uri="{FF2B5EF4-FFF2-40B4-BE49-F238E27FC236}">
                <a16:creationId xmlns:a16="http://schemas.microsoft.com/office/drawing/2014/main" id="{DBEE6E73-3B92-B715-C982-2AF87E0E8B0B}"/>
              </a:ext>
            </a:extLst>
          </p:cNvPr>
          <p:cNvSpPr txBox="1"/>
          <p:nvPr/>
        </p:nvSpPr>
        <p:spPr>
          <a:xfrm>
            <a:off x="7061200" y="4673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Supervised queue, scheduler and Python processes</a:t>
            </a:r>
          </a:p>
        </p:txBody>
      </p:sp>
      <p:sp>
        <p:nvSpPr>
          <p:cNvPr id="44" name="Oval 43">
            <a:extLst>
              <a:ext uri="{FF2B5EF4-FFF2-40B4-BE49-F238E27FC236}">
                <a16:creationId xmlns:a16="http://schemas.microsoft.com/office/drawing/2014/main" id="{59ED2223-F682-B0A2-A136-8E1E67C43D92}"/>
              </a:ext>
            </a:extLst>
          </p:cNvPr>
          <p:cNvSpPr/>
          <p:nvPr/>
        </p:nvSpPr>
        <p:spPr>
          <a:xfrm>
            <a:off x="6629400" y="5219700"/>
            <a:ext cx="317500" cy="317500"/>
          </a:xfrm>
          <a:prstGeom prst="ellipse">
            <a:avLst/>
          </a:prstGeom>
          <a:solidFill>
            <a:srgbClr val="E58A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01F39C2-DDB1-2C47-780B-4A716D0EDF9F}"/>
              </a:ext>
            </a:extLst>
          </p:cNvPr>
          <p:cNvSpPr txBox="1"/>
          <p:nvPr/>
        </p:nvSpPr>
        <p:spPr>
          <a:xfrm>
            <a:off x="6629400" y="5219700"/>
            <a:ext cx="317500" cy="317500"/>
          </a:xfrm>
          <a:prstGeom prst="rect">
            <a:avLst/>
          </a:prstGeom>
          <a:noFill/>
        </p:spPr>
        <p:txBody>
          <a:bodyPr vert="horz" wrap="square" lIns="50800" tIns="25400" rIns="50800" bIns="25400" rtlCol="0" anchor="ctr">
            <a:noAutofit/>
          </a:bodyPr>
          <a:lstStyle/>
          <a:p>
            <a:pPr algn="ctr"/>
            <a:r>
              <a:rPr lang="en-US" sz="1100" b="1">
                <a:solidFill>
                  <a:srgbClr val="0B1536"/>
                </a:solidFill>
                <a:latin typeface="Segoe UI" panose="020B0502040204020203" pitchFamily="34" charset="0"/>
              </a:rPr>
              <a:t>!</a:t>
            </a:r>
          </a:p>
        </p:txBody>
      </p:sp>
      <p:sp>
        <p:nvSpPr>
          <p:cNvPr id="46" name="TextBox 45">
            <a:extLst>
              <a:ext uri="{FF2B5EF4-FFF2-40B4-BE49-F238E27FC236}">
                <a16:creationId xmlns:a16="http://schemas.microsoft.com/office/drawing/2014/main" id="{B697E614-BA42-6B4B-C500-6BF9DDA27923}"/>
              </a:ext>
            </a:extLst>
          </p:cNvPr>
          <p:cNvSpPr txBox="1"/>
          <p:nvPr/>
        </p:nvSpPr>
        <p:spPr>
          <a:xfrm>
            <a:off x="7061200" y="5181600"/>
            <a:ext cx="4191000" cy="381000"/>
          </a:xfrm>
          <a:prstGeom prst="rect">
            <a:avLst/>
          </a:prstGeom>
          <a:noFill/>
        </p:spPr>
        <p:txBody>
          <a:bodyPr vert="horz" wrap="square" lIns="50800" tIns="25400" rIns="50800" bIns="25400" rtlCol="0" anchor="ctr">
            <a:noAutofit/>
          </a:bodyPr>
          <a:lstStyle/>
          <a:p>
            <a:r>
              <a:rPr lang="en-US" sz="960">
                <a:solidFill>
                  <a:srgbClr val="344054"/>
                </a:solidFill>
                <a:latin typeface="Segoe UI" panose="020B0502040204020203" pitchFamily="34" charset="0"/>
              </a:rPr>
              <a:t>Token-protect the Python service off localhost</a:t>
            </a:r>
          </a:p>
        </p:txBody>
      </p:sp>
      <p:sp>
        <p:nvSpPr>
          <p:cNvPr id="47" name="TextBox 46">
            <a:extLst>
              <a:ext uri="{FF2B5EF4-FFF2-40B4-BE49-F238E27FC236}">
                <a16:creationId xmlns:a16="http://schemas.microsoft.com/office/drawing/2014/main" id="{3CEC7C36-95D1-B7A8-7264-5B614E3FDBAF}"/>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48" name="TextBox 47">
            <a:extLst>
              <a:ext uri="{FF2B5EF4-FFF2-40B4-BE49-F238E27FC236}">
                <a16:creationId xmlns:a16="http://schemas.microsoft.com/office/drawing/2014/main" id="{A4D3F29D-885E-7C06-670D-316755DE6988}"/>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18</a:t>
            </a:r>
          </a:p>
        </p:txBody>
      </p:sp>
    </p:spTree>
    <p:extLst>
      <p:ext uri="{BB962C8B-B14F-4D97-AF65-F5344CB8AC3E}">
        <p14:creationId xmlns:p14="http://schemas.microsoft.com/office/powerpoint/2010/main" val="254927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E93CF-2770-4DCE-9249-8F54D947513F}"/>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ASSURANCE SNAPSHOT</a:t>
            </a:r>
          </a:p>
        </p:txBody>
      </p:sp>
      <p:sp>
        <p:nvSpPr>
          <p:cNvPr id="3" name="TextBox 2">
            <a:extLst>
              <a:ext uri="{FF2B5EF4-FFF2-40B4-BE49-F238E27FC236}">
                <a16:creationId xmlns:a16="http://schemas.microsoft.com/office/drawing/2014/main" id="{5F029EB0-07D2-C769-1039-92A451593118}"/>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Delivery evidence shows breadth and working integration</a:t>
            </a:r>
          </a:p>
        </p:txBody>
      </p:sp>
      <p:sp>
        <p:nvSpPr>
          <p:cNvPr id="4" name="TextBox 3">
            <a:extLst>
              <a:ext uri="{FF2B5EF4-FFF2-40B4-BE49-F238E27FC236}">
                <a16:creationId xmlns:a16="http://schemas.microsoft.com/office/drawing/2014/main" id="{8DCBEAC8-2AF6-BE57-BF42-997791BFB43D}"/>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Counts describe the current source tree and the latest fully logged end-to-end verification.</a:t>
            </a:r>
          </a:p>
        </p:txBody>
      </p:sp>
      <p:sp>
        <p:nvSpPr>
          <p:cNvPr id="5" name="Rectangle: Rounded Corners 4">
            <a:extLst>
              <a:ext uri="{FF2B5EF4-FFF2-40B4-BE49-F238E27FC236}">
                <a16:creationId xmlns:a16="http://schemas.microsoft.com/office/drawing/2014/main" id="{460C5072-96BC-CA5E-0EBF-F8F0F1DEB7E8}"/>
              </a:ext>
            </a:extLst>
          </p:cNvPr>
          <p:cNvSpPr/>
          <p:nvPr/>
        </p:nvSpPr>
        <p:spPr>
          <a:xfrm>
            <a:off x="609600" y="18415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58A77D-6511-1964-533B-F8E86EF7756B}"/>
              </a:ext>
            </a:extLst>
          </p:cNvPr>
          <p:cNvSpPr txBox="1"/>
          <p:nvPr/>
        </p:nvSpPr>
        <p:spPr>
          <a:xfrm>
            <a:off x="787400" y="2095500"/>
            <a:ext cx="2120900" cy="546100"/>
          </a:xfrm>
          <a:prstGeom prst="rect">
            <a:avLst/>
          </a:prstGeom>
          <a:noFill/>
        </p:spPr>
        <p:txBody>
          <a:bodyPr vert="horz" wrap="square" lIns="50800" tIns="25400" rIns="50800" bIns="25400" rtlCol="0" anchor="ctr">
            <a:noAutofit/>
          </a:bodyPr>
          <a:lstStyle/>
          <a:p>
            <a:pPr algn="ctr"/>
            <a:r>
              <a:rPr lang="en-US" sz="2500" b="1">
                <a:solidFill>
                  <a:srgbClr val="6D3EF2"/>
                </a:solidFill>
                <a:latin typeface="Segoe UI" panose="020B0502040204020203" pitchFamily="34" charset="0"/>
              </a:rPr>
              <a:t>10</a:t>
            </a:r>
          </a:p>
        </p:txBody>
      </p:sp>
      <p:sp>
        <p:nvSpPr>
          <p:cNvPr id="7" name="TextBox 6">
            <a:extLst>
              <a:ext uri="{FF2B5EF4-FFF2-40B4-BE49-F238E27FC236}">
                <a16:creationId xmlns:a16="http://schemas.microsoft.com/office/drawing/2014/main" id="{BCE56906-AB92-884D-7288-4B8449B1900B}"/>
              </a:ext>
            </a:extLst>
          </p:cNvPr>
          <p:cNvSpPr txBox="1"/>
          <p:nvPr/>
        </p:nvSpPr>
        <p:spPr>
          <a:xfrm>
            <a:off x="787400" y="27178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delivery phases implemented</a:t>
            </a:r>
          </a:p>
        </p:txBody>
      </p:sp>
      <p:sp>
        <p:nvSpPr>
          <p:cNvPr id="8" name="Rectangle: Rounded Corners 7">
            <a:extLst>
              <a:ext uri="{FF2B5EF4-FFF2-40B4-BE49-F238E27FC236}">
                <a16:creationId xmlns:a16="http://schemas.microsoft.com/office/drawing/2014/main" id="{331E6370-D46A-EF54-7328-F6F6566E8405}"/>
              </a:ext>
            </a:extLst>
          </p:cNvPr>
          <p:cNvSpPr/>
          <p:nvPr/>
        </p:nvSpPr>
        <p:spPr>
          <a:xfrm>
            <a:off x="3340100" y="18415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EB13E7B-B3F8-E5E7-3ADE-E28837133CE6}"/>
              </a:ext>
            </a:extLst>
          </p:cNvPr>
          <p:cNvSpPr txBox="1"/>
          <p:nvPr/>
        </p:nvSpPr>
        <p:spPr>
          <a:xfrm>
            <a:off x="3517900" y="2095500"/>
            <a:ext cx="2120900" cy="546100"/>
          </a:xfrm>
          <a:prstGeom prst="rect">
            <a:avLst/>
          </a:prstGeom>
          <a:noFill/>
        </p:spPr>
        <p:txBody>
          <a:bodyPr vert="horz" wrap="square" lIns="50800" tIns="25400" rIns="50800" bIns="25400" rtlCol="0" anchor="ctr">
            <a:noAutofit/>
          </a:bodyPr>
          <a:lstStyle/>
          <a:p>
            <a:pPr algn="ctr"/>
            <a:r>
              <a:rPr lang="en-US" sz="2500" b="1">
                <a:solidFill>
                  <a:srgbClr val="0E9F6E"/>
                </a:solidFill>
                <a:latin typeface="Segoe UI" panose="020B0502040204020203" pitchFamily="34" charset="0"/>
              </a:rPr>
              <a:t>254/254</a:t>
            </a:r>
          </a:p>
        </p:txBody>
      </p:sp>
      <p:sp>
        <p:nvSpPr>
          <p:cNvPr id="10" name="TextBox 9">
            <a:extLst>
              <a:ext uri="{FF2B5EF4-FFF2-40B4-BE49-F238E27FC236}">
                <a16:creationId xmlns:a16="http://schemas.microsoft.com/office/drawing/2014/main" id="{5025B737-E996-6F64-B87D-8615DBCBF877}"/>
              </a:ext>
            </a:extLst>
          </p:cNvPr>
          <p:cNvSpPr txBox="1"/>
          <p:nvPr/>
        </p:nvSpPr>
        <p:spPr>
          <a:xfrm>
            <a:off x="3517900" y="27178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Pest tests passed</a:t>
            </a:r>
          </a:p>
        </p:txBody>
      </p:sp>
      <p:sp>
        <p:nvSpPr>
          <p:cNvPr id="11" name="Rectangle: Rounded Corners 10">
            <a:extLst>
              <a:ext uri="{FF2B5EF4-FFF2-40B4-BE49-F238E27FC236}">
                <a16:creationId xmlns:a16="http://schemas.microsoft.com/office/drawing/2014/main" id="{0199A42C-957E-E799-EB8B-587CF04258F1}"/>
              </a:ext>
            </a:extLst>
          </p:cNvPr>
          <p:cNvSpPr/>
          <p:nvPr/>
        </p:nvSpPr>
        <p:spPr>
          <a:xfrm>
            <a:off x="6070600" y="18415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301D23-73E3-BC2B-6283-065F69B96055}"/>
              </a:ext>
            </a:extLst>
          </p:cNvPr>
          <p:cNvSpPr txBox="1"/>
          <p:nvPr/>
        </p:nvSpPr>
        <p:spPr>
          <a:xfrm>
            <a:off x="6248400" y="2095500"/>
            <a:ext cx="2120900" cy="546100"/>
          </a:xfrm>
          <a:prstGeom prst="rect">
            <a:avLst/>
          </a:prstGeom>
          <a:noFill/>
        </p:spPr>
        <p:txBody>
          <a:bodyPr vert="horz" wrap="square" lIns="50800" tIns="25400" rIns="50800" bIns="25400" rtlCol="0" anchor="ctr">
            <a:noAutofit/>
          </a:bodyPr>
          <a:lstStyle/>
          <a:p>
            <a:pPr algn="ctr"/>
            <a:r>
              <a:rPr lang="en-US" sz="2500" b="1">
                <a:solidFill>
                  <a:srgbClr val="078A99"/>
                </a:solidFill>
                <a:latin typeface="Segoe UI" panose="020B0502040204020203" pitchFamily="34" charset="0"/>
              </a:rPr>
              <a:t>62/62</a:t>
            </a:r>
          </a:p>
        </p:txBody>
      </p:sp>
      <p:sp>
        <p:nvSpPr>
          <p:cNvPr id="13" name="TextBox 12">
            <a:extLst>
              <a:ext uri="{FF2B5EF4-FFF2-40B4-BE49-F238E27FC236}">
                <a16:creationId xmlns:a16="http://schemas.microsoft.com/office/drawing/2014/main" id="{5F56F3D5-E3EB-3503-0797-51EF3149E41F}"/>
              </a:ext>
            </a:extLst>
          </p:cNvPr>
          <p:cNvSpPr txBox="1"/>
          <p:nvPr/>
        </p:nvSpPr>
        <p:spPr>
          <a:xfrm>
            <a:off x="6248400" y="27178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Python tests passed</a:t>
            </a:r>
          </a:p>
        </p:txBody>
      </p:sp>
      <p:sp>
        <p:nvSpPr>
          <p:cNvPr id="14" name="Rectangle: Rounded Corners 13">
            <a:extLst>
              <a:ext uri="{FF2B5EF4-FFF2-40B4-BE49-F238E27FC236}">
                <a16:creationId xmlns:a16="http://schemas.microsoft.com/office/drawing/2014/main" id="{57EF5D57-8442-CB04-3636-A7106CF5A62D}"/>
              </a:ext>
            </a:extLst>
          </p:cNvPr>
          <p:cNvSpPr/>
          <p:nvPr/>
        </p:nvSpPr>
        <p:spPr>
          <a:xfrm>
            <a:off x="8801100" y="18415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9D618A4-F4B4-D168-862B-DB6F0DC806AF}"/>
              </a:ext>
            </a:extLst>
          </p:cNvPr>
          <p:cNvSpPr txBox="1"/>
          <p:nvPr/>
        </p:nvSpPr>
        <p:spPr>
          <a:xfrm>
            <a:off x="8978900" y="2095500"/>
            <a:ext cx="2120900" cy="546100"/>
          </a:xfrm>
          <a:prstGeom prst="rect">
            <a:avLst/>
          </a:prstGeom>
          <a:noFill/>
        </p:spPr>
        <p:txBody>
          <a:bodyPr vert="horz" wrap="square" lIns="50800" tIns="25400" rIns="50800" bIns="25400" rtlCol="0" anchor="ctr">
            <a:noAutofit/>
          </a:bodyPr>
          <a:lstStyle/>
          <a:p>
            <a:pPr algn="ctr"/>
            <a:r>
              <a:rPr lang="en-US" sz="2500" b="1">
                <a:solidFill>
                  <a:srgbClr val="1769E0"/>
                </a:solidFill>
                <a:latin typeface="Segoe UI" panose="020B0502040204020203" pitchFamily="34" charset="0"/>
              </a:rPr>
              <a:t>31</a:t>
            </a:r>
          </a:p>
        </p:txBody>
      </p:sp>
      <p:sp>
        <p:nvSpPr>
          <p:cNvPr id="16" name="TextBox 15">
            <a:extLst>
              <a:ext uri="{FF2B5EF4-FFF2-40B4-BE49-F238E27FC236}">
                <a16:creationId xmlns:a16="http://schemas.microsoft.com/office/drawing/2014/main" id="{3BC8BEBF-8F6D-1A4B-D908-D9F7CD3B7953}"/>
              </a:ext>
            </a:extLst>
          </p:cNvPr>
          <p:cNvSpPr txBox="1"/>
          <p:nvPr/>
        </p:nvSpPr>
        <p:spPr>
          <a:xfrm>
            <a:off x="8978900" y="27178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Facade + service module pairs</a:t>
            </a:r>
          </a:p>
        </p:txBody>
      </p:sp>
      <p:sp>
        <p:nvSpPr>
          <p:cNvPr id="17" name="Rectangle: Rounded Corners 16">
            <a:extLst>
              <a:ext uri="{FF2B5EF4-FFF2-40B4-BE49-F238E27FC236}">
                <a16:creationId xmlns:a16="http://schemas.microsoft.com/office/drawing/2014/main" id="{08170C2E-5832-E522-E559-DAD9FB7906BD}"/>
              </a:ext>
            </a:extLst>
          </p:cNvPr>
          <p:cNvSpPr/>
          <p:nvPr/>
        </p:nvSpPr>
        <p:spPr>
          <a:xfrm>
            <a:off x="609600" y="36576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830C35C-F948-8F7D-D931-CD7E340C9780}"/>
              </a:ext>
            </a:extLst>
          </p:cNvPr>
          <p:cNvSpPr txBox="1"/>
          <p:nvPr/>
        </p:nvSpPr>
        <p:spPr>
          <a:xfrm>
            <a:off x="787400" y="3911600"/>
            <a:ext cx="2120900" cy="546100"/>
          </a:xfrm>
          <a:prstGeom prst="rect">
            <a:avLst/>
          </a:prstGeom>
          <a:noFill/>
        </p:spPr>
        <p:txBody>
          <a:bodyPr vert="horz" wrap="square" lIns="50800" tIns="25400" rIns="50800" bIns="25400" rtlCol="0" anchor="ctr">
            <a:noAutofit/>
          </a:bodyPr>
          <a:lstStyle/>
          <a:p>
            <a:pPr algn="ctr"/>
            <a:r>
              <a:rPr lang="en-US" sz="2500" b="1">
                <a:solidFill>
                  <a:srgbClr val="1769E0"/>
                </a:solidFill>
                <a:latin typeface="Segoe UI" panose="020B0502040204020203" pitchFamily="34" charset="0"/>
              </a:rPr>
              <a:t>33</a:t>
            </a:r>
          </a:p>
        </p:txBody>
      </p:sp>
      <p:sp>
        <p:nvSpPr>
          <p:cNvPr id="19" name="TextBox 18">
            <a:extLst>
              <a:ext uri="{FF2B5EF4-FFF2-40B4-BE49-F238E27FC236}">
                <a16:creationId xmlns:a16="http://schemas.microsoft.com/office/drawing/2014/main" id="{C5284B84-77F3-0534-4EB8-D26B67249CBE}"/>
              </a:ext>
            </a:extLst>
          </p:cNvPr>
          <p:cNvSpPr txBox="1"/>
          <p:nvPr/>
        </p:nvSpPr>
        <p:spPr>
          <a:xfrm>
            <a:off x="787400" y="45339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Eloquent models</a:t>
            </a:r>
          </a:p>
        </p:txBody>
      </p:sp>
      <p:sp>
        <p:nvSpPr>
          <p:cNvPr id="20" name="Rectangle: Rounded Corners 19">
            <a:extLst>
              <a:ext uri="{FF2B5EF4-FFF2-40B4-BE49-F238E27FC236}">
                <a16:creationId xmlns:a16="http://schemas.microsoft.com/office/drawing/2014/main" id="{5937BF70-8F92-7582-0479-F9AA4DDA0DED}"/>
              </a:ext>
            </a:extLst>
          </p:cNvPr>
          <p:cNvSpPr/>
          <p:nvPr/>
        </p:nvSpPr>
        <p:spPr>
          <a:xfrm>
            <a:off x="3340100" y="36576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39826A6-8BCF-3425-EE25-65702637C98D}"/>
              </a:ext>
            </a:extLst>
          </p:cNvPr>
          <p:cNvSpPr txBox="1"/>
          <p:nvPr/>
        </p:nvSpPr>
        <p:spPr>
          <a:xfrm>
            <a:off x="3517900" y="3911600"/>
            <a:ext cx="2120900" cy="546100"/>
          </a:xfrm>
          <a:prstGeom prst="rect">
            <a:avLst/>
          </a:prstGeom>
          <a:noFill/>
        </p:spPr>
        <p:txBody>
          <a:bodyPr vert="horz" wrap="square" lIns="50800" tIns="25400" rIns="50800" bIns="25400" rtlCol="0" anchor="ctr">
            <a:noAutofit/>
          </a:bodyPr>
          <a:lstStyle/>
          <a:p>
            <a:pPr algn="ctr"/>
            <a:r>
              <a:rPr lang="en-US" sz="2500" b="1">
                <a:solidFill>
                  <a:srgbClr val="078A99"/>
                </a:solidFill>
                <a:latin typeface="Segoe UI" panose="020B0502040204020203" pitchFamily="34" charset="0"/>
              </a:rPr>
              <a:t>38</a:t>
            </a:r>
          </a:p>
        </p:txBody>
      </p:sp>
      <p:sp>
        <p:nvSpPr>
          <p:cNvPr id="22" name="TextBox 21">
            <a:extLst>
              <a:ext uri="{FF2B5EF4-FFF2-40B4-BE49-F238E27FC236}">
                <a16:creationId xmlns:a16="http://schemas.microsoft.com/office/drawing/2014/main" id="{8311F023-124E-3DE5-5BE5-E62D7D63C881}"/>
              </a:ext>
            </a:extLst>
          </p:cNvPr>
          <p:cNvSpPr txBox="1"/>
          <p:nvPr/>
        </p:nvSpPr>
        <p:spPr>
          <a:xfrm>
            <a:off x="3517900" y="45339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database migrations</a:t>
            </a:r>
          </a:p>
        </p:txBody>
      </p:sp>
      <p:sp>
        <p:nvSpPr>
          <p:cNvPr id="23" name="Rectangle: Rounded Corners 22">
            <a:extLst>
              <a:ext uri="{FF2B5EF4-FFF2-40B4-BE49-F238E27FC236}">
                <a16:creationId xmlns:a16="http://schemas.microsoft.com/office/drawing/2014/main" id="{DE06E9DA-63E0-8B2F-2235-E39B8590B65B}"/>
              </a:ext>
            </a:extLst>
          </p:cNvPr>
          <p:cNvSpPr/>
          <p:nvPr/>
        </p:nvSpPr>
        <p:spPr>
          <a:xfrm>
            <a:off x="6070600" y="36576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F4A7981-F146-2255-649E-C4E0015269F3}"/>
              </a:ext>
            </a:extLst>
          </p:cNvPr>
          <p:cNvSpPr txBox="1"/>
          <p:nvPr/>
        </p:nvSpPr>
        <p:spPr>
          <a:xfrm>
            <a:off x="6248400" y="3911600"/>
            <a:ext cx="2120900" cy="546100"/>
          </a:xfrm>
          <a:prstGeom prst="rect">
            <a:avLst/>
          </a:prstGeom>
          <a:noFill/>
        </p:spPr>
        <p:txBody>
          <a:bodyPr vert="horz" wrap="square" lIns="50800" tIns="25400" rIns="50800" bIns="25400" rtlCol="0" anchor="ctr">
            <a:noAutofit/>
          </a:bodyPr>
          <a:lstStyle/>
          <a:p>
            <a:pPr algn="ctr"/>
            <a:r>
              <a:rPr lang="en-US" sz="2500" b="1">
                <a:solidFill>
                  <a:srgbClr val="6D3EF2"/>
                </a:solidFill>
                <a:latin typeface="Segoe UI" panose="020B0502040204020203" pitchFamily="34" charset="0"/>
              </a:rPr>
              <a:t>71</a:t>
            </a:r>
          </a:p>
        </p:txBody>
      </p:sp>
      <p:sp>
        <p:nvSpPr>
          <p:cNvPr id="25" name="TextBox 24">
            <a:extLst>
              <a:ext uri="{FF2B5EF4-FFF2-40B4-BE49-F238E27FC236}">
                <a16:creationId xmlns:a16="http://schemas.microsoft.com/office/drawing/2014/main" id="{C03B086D-0313-88F0-382E-BCF4249CDEA4}"/>
              </a:ext>
            </a:extLst>
          </p:cNvPr>
          <p:cNvSpPr txBox="1"/>
          <p:nvPr/>
        </p:nvSpPr>
        <p:spPr>
          <a:xfrm>
            <a:off x="6248400" y="45339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React page files</a:t>
            </a:r>
          </a:p>
        </p:txBody>
      </p:sp>
      <p:sp>
        <p:nvSpPr>
          <p:cNvPr id="26" name="Rectangle: Rounded Corners 25">
            <a:extLst>
              <a:ext uri="{FF2B5EF4-FFF2-40B4-BE49-F238E27FC236}">
                <a16:creationId xmlns:a16="http://schemas.microsoft.com/office/drawing/2014/main" id="{E32FB463-29F3-9F23-253A-8C5B1315253F}"/>
              </a:ext>
            </a:extLst>
          </p:cNvPr>
          <p:cNvSpPr/>
          <p:nvPr/>
        </p:nvSpPr>
        <p:spPr>
          <a:xfrm>
            <a:off x="8801100" y="3657600"/>
            <a:ext cx="2476500" cy="1473200"/>
          </a:xfrm>
          <a:prstGeom prst="roundRect">
            <a:avLst/>
          </a:prstGeom>
          <a:solidFill>
            <a:srgbClr val="FFFFFF"/>
          </a:solidFill>
          <a:ln w="12700">
            <a:solidFill>
              <a:srgbClr val="D8E1EE"/>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33A7DD5-9930-6886-974B-8E10FB365B72}"/>
              </a:ext>
            </a:extLst>
          </p:cNvPr>
          <p:cNvSpPr txBox="1"/>
          <p:nvPr/>
        </p:nvSpPr>
        <p:spPr>
          <a:xfrm>
            <a:off x="8978900" y="3911600"/>
            <a:ext cx="2120900" cy="546100"/>
          </a:xfrm>
          <a:prstGeom prst="rect">
            <a:avLst/>
          </a:prstGeom>
          <a:noFill/>
        </p:spPr>
        <p:txBody>
          <a:bodyPr vert="horz" wrap="square" lIns="50800" tIns="25400" rIns="50800" bIns="25400" rtlCol="0" anchor="ctr">
            <a:noAutofit/>
          </a:bodyPr>
          <a:lstStyle/>
          <a:p>
            <a:pPr algn="ctr"/>
            <a:r>
              <a:rPr lang="en-US" sz="2500" b="1">
                <a:solidFill>
                  <a:srgbClr val="0E9F6E"/>
                </a:solidFill>
                <a:latin typeface="Segoe UI" panose="020B0502040204020203" pitchFamily="34" charset="0"/>
              </a:rPr>
              <a:t>197</a:t>
            </a:r>
          </a:p>
        </p:txBody>
      </p:sp>
      <p:sp>
        <p:nvSpPr>
          <p:cNvPr id="28" name="TextBox 27">
            <a:extLst>
              <a:ext uri="{FF2B5EF4-FFF2-40B4-BE49-F238E27FC236}">
                <a16:creationId xmlns:a16="http://schemas.microsoft.com/office/drawing/2014/main" id="{345EE507-D367-4CC0-1926-001A7E0D2919}"/>
              </a:ext>
            </a:extLst>
          </p:cNvPr>
          <p:cNvSpPr txBox="1"/>
          <p:nvPr/>
        </p:nvSpPr>
        <p:spPr>
          <a:xfrm>
            <a:off x="8978900" y="4533900"/>
            <a:ext cx="2120900" cy="431800"/>
          </a:xfrm>
          <a:prstGeom prst="rect">
            <a:avLst/>
          </a:prstGeom>
          <a:noFill/>
        </p:spPr>
        <p:txBody>
          <a:bodyPr vert="horz" wrap="square" lIns="50800" tIns="25400" rIns="50800" bIns="25400" rtlCol="0" anchor="t">
            <a:noAutofit/>
          </a:bodyPr>
          <a:lstStyle/>
          <a:p>
            <a:pPr algn="ctr"/>
            <a:r>
              <a:rPr lang="en-US" sz="900">
                <a:solidFill>
                  <a:srgbClr val="667085"/>
                </a:solidFill>
                <a:latin typeface="Segoe UI" panose="020B0502040204020203" pitchFamily="34" charset="0"/>
              </a:rPr>
              <a:t>recommendations generated in seeded run</a:t>
            </a:r>
          </a:p>
        </p:txBody>
      </p:sp>
      <p:sp>
        <p:nvSpPr>
          <p:cNvPr id="29" name="Rectangle: Rounded Corners 28">
            <a:extLst>
              <a:ext uri="{FF2B5EF4-FFF2-40B4-BE49-F238E27FC236}">
                <a16:creationId xmlns:a16="http://schemas.microsoft.com/office/drawing/2014/main" id="{5519969F-C9D3-7331-1BC6-2FDEA5DFC373}"/>
              </a:ext>
            </a:extLst>
          </p:cNvPr>
          <p:cNvSpPr/>
          <p:nvPr/>
        </p:nvSpPr>
        <p:spPr>
          <a:xfrm>
            <a:off x="2197100" y="5511800"/>
            <a:ext cx="7797800" cy="457200"/>
          </a:xfrm>
          <a:prstGeom prst="roundRect">
            <a:avLst/>
          </a:prstGeom>
          <a:solidFill>
            <a:srgbClr val="0B1536"/>
          </a:solidFill>
          <a:ln w="12700">
            <a:solidFill>
              <a:srgbClr val="0B15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9AD10D0-7D41-E9A1-0762-EC75AD4C2A80}"/>
              </a:ext>
            </a:extLst>
          </p:cNvPr>
          <p:cNvSpPr txBox="1"/>
          <p:nvPr/>
        </p:nvSpPr>
        <p:spPr>
          <a:xfrm>
            <a:off x="2197100" y="5511800"/>
            <a:ext cx="7797800" cy="4572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Latest end-to-end seeded run: 441 pairs -&gt; 404 TFT forecasts + 37 safe fallbacks</a:t>
            </a:r>
          </a:p>
        </p:txBody>
      </p:sp>
      <p:sp>
        <p:nvSpPr>
          <p:cNvPr id="31" name="Rectangle: Rounded Corners 30">
            <a:extLst>
              <a:ext uri="{FF2B5EF4-FFF2-40B4-BE49-F238E27FC236}">
                <a16:creationId xmlns:a16="http://schemas.microsoft.com/office/drawing/2014/main" id="{C6EDFCF0-1B73-38B1-42D5-5278DFC32E55}"/>
              </a:ext>
            </a:extLst>
          </p:cNvPr>
          <p:cNvSpPr/>
          <p:nvPr/>
        </p:nvSpPr>
        <p:spPr>
          <a:xfrm>
            <a:off x="2476500" y="6057900"/>
            <a:ext cx="7239000" cy="355600"/>
          </a:xfrm>
          <a:prstGeom prst="roundRect">
            <a:avLst/>
          </a:prstGeom>
          <a:solidFill>
            <a:srgbClr val="FFF2D9"/>
          </a:solidFill>
          <a:ln w="12700">
            <a:solidFill>
              <a:srgbClr val="FFF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7CDD99-598A-15DF-92C6-626AE3550C59}"/>
              </a:ext>
            </a:extLst>
          </p:cNvPr>
          <p:cNvSpPr txBox="1"/>
          <p:nvPr/>
        </p:nvSpPr>
        <p:spPr>
          <a:xfrm>
            <a:off x="2476500" y="6057900"/>
            <a:ext cx="7239000" cy="355600"/>
          </a:xfrm>
          <a:prstGeom prst="rect">
            <a:avLst/>
          </a:prstGeom>
          <a:noFill/>
        </p:spPr>
        <p:txBody>
          <a:bodyPr vert="horz" wrap="square" lIns="50800" tIns="25400" rIns="50800" bIns="25400" rtlCol="0" anchor="ctr">
            <a:noAutofit/>
          </a:bodyPr>
          <a:lstStyle/>
          <a:p>
            <a:pPr algn="ctr"/>
            <a:r>
              <a:rPr lang="en-US" sz="870" b="1">
                <a:solidFill>
                  <a:srgbClr val="E58A00"/>
                </a:solidFill>
                <a:latin typeface="Segoe UI" panose="020B0502040204020203" pitchFamily="34" charset="0"/>
              </a:rPr>
              <a:t>Known UI gap: dashboard KPI props remain unconnected and show honest empty states</a:t>
            </a:r>
          </a:p>
        </p:txBody>
      </p:sp>
      <p:sp>
        <p:nvSpPr>
          <p:cNvPr id="33" name="TextBox 32">
            <a:extLst>
              <a:ext uri="{FF2B5EF4-FFF2-40B4-BE49-F238E27FC236}">
                <a16:creationId xmlns:a16="http://schemas.microsoft.com/office/drawing/2014/main" id="{1A916A90-3CE5-A15F-B288-471649975293}"/>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34" name="TextBox 33">
            <a:extLst>
              <a:ext uri="{FF2B5EF4-FFF2-40B4-BE49-F238E27FC236}">
                <a16:creationId xmlns:a16="http://schemas.microsoft.com/office/drawing/2014/main" id="{5B2C9E7B-CB86-CC57-7033-CC7B37C48D78}"/>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19</a:t>
            </a:r>
          </a:p>
        </p:txBody>
      </p:sp>
    </p:spTree>
    <p:extLst>
      <p:ext uri="{BB962C8B-B14F-4D97-AF65-F5344CB8AC3E}">
        <p14:creationId xmlns:p14="http://schemas.microsoft.com/office/powerpoint/2010/main" val="3524272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1D8C84-356D-46A0-5FEB-9E809D9D7C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32805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40A26A-6F6B-1235-9916-0B7FA009AA52}"/>
              </a:ext>
            </a:extLst>
          </p:cNvPr>
          <p:cNvSpPr txBox="1"/>
          <p:nvPr/>
        </p:nvSpPr>
        <p:spPr>
          <a:xfrm>
            <a:off x="609600" y="355600"/>
            <a:ext cx="8890000" cy="228600"/>
          </a:xfrm>
          <a:prstGeom prst="rect">
            <a:avLst/>
          </a:prstGeom>
          <a:noFill/>
        </p:spPr>
        <p:txBody>
          <a:bodyPr vert="horz" wrap="square" lIns="50800" tIns="25400" rIns="50800" bIns="25400" rtlCol="0" anchor="t">
            <a:noAutofit/>
          </a:bodyPr>
          <a:lstStyle/>
          <a:p>
            <a:r>
              <a:rPr lang="en-US" sz="900" b="1">
                <a:solidFill>
                  <a:srgbClr val="6D3EF2"/>
                </a:solidFill>
                <a:latin typeface="Segoe UI" panose="020B0502040204020203" pitchFamily="34" charset="0"/>
              </a:rPr>
              <a:t>OPERATING RHYTHM &amp; NEXT DECISIONS</a:t>
            </a:r>
          </a:p>
        </p:txBody>
      </p:sp>
      <p:sp>
        <p:nvSpPr>
          <p:cNvPr id="3" name="TextBox 2">
            <a:extLst>
              <a:ext uri="{FF2B5EF4-FFF2-40B4-BE49-F238E27FC236}">
                <a16:creationId xmlns:a16="http://schemas.microsoft.com/office/drawing/2014/main" id="{CBD7D673-6C98-59EF-5786-5D995C08BEB0}"/>
              </a:ext>
            </a:extLst>
          </p:cNvPr>
          <p:cNvSpPr txBox="1"/>
          <p:nvPr/>
        </p:nvSpPr>
        <p:spPr>
          <a:xfrm>
            <a:off x="558800" y="596900"/>
            <a:ext cx="10795000" cy="533400"/>
          </a:xfrm>
          <a:prstGeom prst="rect">
            <a:avLst/>
          </a:prstGeom>
          <a:noFill/>
        </p:spPr>
        <p:txBody>
          <a:bodyPr vert="horz" wrap="square" lIns="50800" tIns="25400" rIns="50800" bIns="25400" rtlCol="0" anchor="t">
            <a:noAutofit/>
          </a:bodyPr>
          <a:lstStyle/>
          <a:p>
            <a:r>
              <a:rPr lang="en-US" sz="2500" b="1">
                <a:solidFill>
                  <a:srgbClr val="0B1536"/>
                </a:solidFill>
                <a:latin typeface="Segoe UI" panose="020B0502040204020203" pitchFamily="34" charset="0"/>
              </a:rPr>
              <a:t>Management ownership turns software into an operating capability</a:t>
            </a:r>
          </a:p>
        </p:txBody>
      </p:sp>
      <p:sp>
        <p:nvSpPr>
          <p:cNvPr id="4" name="TextBox 3">
            <a:extLst>
              <a:ext uri="{FF2B5EF4-FFF2-40B4-BE49-F238E27FC236}">
                <a16:creationId xmlns:a16="http://schemas.microsoft.com/office/drawing/2014/main" id="{9831174B-6E61-AA8C-C05F-AFE82480EA38}"/>
              </a:ext>
            </a:extLst>
          </p:cNvPr>
          <p:cNvSpPr txBox="1"/>
          <p:nvPr/>
        </p:nvSpPr>
        <p:spPr>
          <a:xfrm>
            <a:off x="609600" y="1117600"/>
            <a:ext cx="10731500" cy="431800"/>
          </a:xfrm>
          <a:prstGeom prst="rect">
            <a:avLst/>
          </a:prstGeom>
          <a:noFill/>
        </p:spPr>
        <p:txBody>
          <a:bodyPr vert="horz" wrap="square" lIns="50800" tIns="25400" rIns="50800" bIns="25400" rtlCol="0" anchor="t">
            <a:noAutofit/>
          </a:bodyPr>
          <a:lstStyle/>
          <a:p>
            <a:r>
              <a:rPr lang="en-US" sz="1150">
                <a:solidFill>
                  <a:srgbClr val="667085"/>
                </a:solidFill>
                <a:latin typeface="Segoe UI" panose="020B0502040204020203" pitchFamily="34" charset="0"/>
              </a:rPr>
              <a:t>Use the system on a cadence, assign decision owners, and promote forecasting models only when real evidence supports it.</a:t>
            </a:r>
          </a:p>
        </p:txBody>
      </p:sp>
      <p:sp>
        <p:nvSpPr>
          <p:cNvPr id="5" name="Rectangle: Rounded Corners 4">
            <a:extLst>
              <a:ext uri="{FF2B5EF4-FFF2-40B4-BE49-F238E27FC236}">
                <a16:creationId xmlns:a16="http://schemas.microsoft.com/office/drawing/2014/main" id="{45DA3F76-EF89-0161-BDD4-3A8A5D9BC2C9}"/>
              </a:ext>
            </a:extLst>
          </p:cNvPr>
          <p:cNvSpPr/>
          <p:nvPr/>
        </p:nvSpPr>
        <p:spPr>
          <a:xfrm>
            <a:off x="609600" y="1841500"/>
            <a:ext cx="3530600" cy="2120900"/>
          </a:xfrm>
          <a:prstGeom prst="roundRect">
            <a:avLst/>
          </a:prstGeom>
          <a:solidFill>
            <a:srgbClr val="FFFFFF"/>
          </a:solidFill>
          <a:ln w="12700">
            <a:solidFill>
              <a:srgbClr val="1769E0"/>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222B984-F9ED-AA8C-C324-A9D2AD5A2E72}"/>
              </a:ext>
            </a:extLst>
          </p:cNvPr>
          <p:cNvSpPr/>
          <p:nvPr/>
        </p:nvSpPr>
        <p:spPr>
          <a:xfrm>
            <a:off x="838200" y="2070100"/>
            <a:ext cx="1333500" cy="381000"/>
          </a:xfrm>
          <a:prstGeom prst="roundRect">
            <a:avLst/>
          </a:prstGeom>
          <a:solidFill>
            <a:srgbClr val="1769E0"/>
          </a:solidFill>
          <a:ln w="12700">
            <a:solidFill>
              <a:srgbClr val="176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DCBEE72-F457-58D2-7836-9294B11D32B7}"/>
              </a:ext>
            </a:extLst>
          </p:cNvPr>
          <p:cNvSpPr txBox="1"/>
          <p:nvPr/>
        </p:nvSpPr>
        <p:spPr>
          <a:xfrm>
            <a:off x="838200" y="2070100"/>
            <a:ext cx="1333500" cy="3810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DAILY</a:t>
            </a:r>
          </a:p>
        </p:txBody>
      </p:sp>
      <p:sp>
        <p:nvSpPr>
          <p:cNvPr id="8" name="TextBox 7">
            <a:extLst>
              <a:ext uri="{FF2B5EF4-FFF2-40B4-BE49-F238E27FC236}">
                <a16:creationId xmlns:a16="http://schemas.microsoft.com/office/drawing/2014/main" id="{E20E297A-91B4-ECE3-6771-6400290AA3C7}"/>
              </a:ext>
            </a:extLst>
          </p:cNvPr>
          <p:cNvSpPr txBox="1"/>
          <p:nvPr/>
        </p:nvSpPr>
        <p:spPr>
          <a:xfrm>
            <a:off x="863600" y="2679700"/>
            <a:ext cx="3022600" cy="1041400"/>
          </a:xfrm>
          <a:prstGeom prst="rect">
            <a:avLst/>
          </a:prstGeom>
          <a:noFill/>
        </p:spPr>
        <p:txBody>
          <a:bodyPr vert="horz" wrap="square" lIns="50800" tIns="25400" rIns="50800" bIns="25400" rtlCol="0" anchor="t">
            <a:noAutofit/>
          </a:bodyPr>
          <a:lstStyle/>
          <a:p>
            <a:r>
              <a:rPr lang="en-US" sz="980">
                <a:solidFill>
                  <a:srgbClr val="344054"/>
                </a:solidFill>
                <a:latin typeface="Segoe UI" panose="020B0502040204020203" pitchFamily="34" charset="0"/>
              </a:rPr>
              <a:t>Review stockout / ageing exceptions</a:t>
            </a:r>
          </a:p>
          <a:p>
            <a:r>
              <a:rPr lang="en-US" sz="980">
                <a:solidFill>
                  <a:srgbClr val="344054"/>
                </a:solidFill>
                <a:latin typeface="Segoe UI" panose="020B0502040204020203" pitchFamily="34" charset="0"/>
              </a:rPr>
              <a:t>Check queued or failed forecast runs</a:t>
            </a:r>
          </a:p>
          <a:p>
            <a:r>
              <a:rPr lang="en-US" sz="980">
                <a:solidFill>
                  <a:srgbClr val="344054"/>
                </a:solidFill>
                <a:latin typeface="Segoe UI" panose="020B0502040204020203" pitchFamily="34" charset="0"/>
              </a:rPr>
              <a:t>Post receipts, sales, returns and transfers</a:t>
            </a:r>
          </a:p>
        </p:txBody>
      </p:sp>
      <p:sp>
        <p:nvSpPr>
          <p:cNvPr id="9" name="Rectangle: Rounded Corners 8">
            <a:extLst>
              <a:ext uri="{FF2B5EF4-FFF2-40B4-BE49-F238E27FC236}">
                <a16:creationId xmlns:a16="http://schemas.microsoft.com/office/drawing/2014/main" id="{8D68F596-C8E4-F550-4E65-9BF2FC606EA6}"/>
              </a:ext>
            </a:extLst>
          </p:cNvPr>
          <p:cNvSpPr/>
          <p:nvPr/>
        </p:nvSpPr>
        <p:spPr>
          <a:xfrm>
            <a:off x="4330700" y="1841500"/>
            <a:ext cx="3530600" cy="2120900"/>
          </a:xfrm>
          <a:prstGeom prst="roundRect">
            <a:avLst/>
          </a:prstGeom>
          <a:solidFill>
            <a:srgbClr val="FFFFFF"/>
          </a:solidFill>
          <a:ln w="12700">
            <a:solidFill>
              <a:srgbClr val="078A99"/>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CCEB6EAB-C020-1899-572C-0CA9A2533408}"/>
              </a:ext>
            </a:extLst>
          </p:cNvPr>
          <p:cNvSpPr/>
          <p:nvPr/>
        </p:nvSpPr>
        <p:spPr>
          <a:xfrm>
            <a:off x="4559300" y="2070100"/>
            <a:ext cx="1333500" cy="381000"/>
          </a:xfrm>
          <a:prstGeom prst="roundRect">
            <a:avLst/>
          </a:prstGeom>
          <a:solidFill>
            <a:srgbClr val="078A99"/>
          </a:solidFill>
          <a:ln w="12700">
            <a:solidFill>
              <a:srgbClr val="078A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22F498E-AEF4-54F1-BFAC-F2F51BE9FCD4}"/>
              </a:ext>
            </a:extLst>
          </p:cNvPr>
          <p:cNvSpPr txBox="1"/>
          <p:nvPr/>
        </p:nvSpPr>
        <p:spPr>
          <a:xfrm>
            <a:off x="4559300" y="2070100"/>
            <a:ext cx="1333500" cy="3810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WEEKLY</a:t>
            </a:r>
          </a:p>
        </p:txBody>
      </p:sp>
      <p:sp>
        <p:nvSpPr>
          <p:cNvPr id="12" name="TextBox 11">
            <a:extLst>
              <a:ext uri="{FF2B5EF4-FFF2-40B4-BE49-F238E27FC236}">
                <a16:creationId xmlns:a16="http://schemas.microsoft.com/office/drawing/2014/main" id="{29874918-0649-6360-AFD5-401F96BDFD16}"/>
              </a:ext>
            </a:extLst>
          </p:cNvPr>
          <p:cNvSpPr txBox="1"/>
          <p:nvPr/>
        </p:nvSpPr>
        <p:spPr>
          <a:xfrm>
            <a:off x="4584700" y="2679700"/>
            <a:ext cx="3022600" cy="1041400"/>
          </a:xfrm>
          <a:prstGeom prst="rect">
            <a:avLst/>
          </a:prstGeom>
          <a:noFill/>
        </p:spPr>
        <p:txBody>
          <a:bodyPr vert="horz" wrap="square" lIns="50800" tIns="25400" rIns="50800" bIns="25400" rtlCol="0" anchor="t">
            <a:noAutofit/>
          </a:bodyPr>
          <a:lstStyle/>
          <a:p>
            <a:r>
              <a:rPr lang="en-US" sz="980">
                <a:solidFill>
                  <a:srgbClr val="344054"/>
                </a:solidFill>
                <a:latin typeface="Segoe UI" panose="020B0502040204020203" pitchFamily="34" charset="0"/>
              </a:rPr>
              <a:t>Approve / modify recommendations</a:t>
            </a:r>
          </a:p>
          <a:p>
            <a:r>
              <a:rPr lang="en-US" sz="980">
                <a:solidFill>
                  <a:srgbClr val="344054"/>
                </a:solidFill>
                <a:latin typeface="Segoe UI" panose="020B0502040204020203" pitchFamily="34" charset="0"/>
              </a:rPr>
              <a:t>Review open and partially received POs</a:t>
            </a:r>
          </a:p>
          <a:p>
            <a:r>
              <a:rPr lang="en-US" sz="980">
                <a:solidFill>
                  <a:srgbClr val="344054"/>
                </a:solidFill>
                <a:latin typeface="Segoe UI" panose="020B0502040204020203" pitchFamily="34" charset="0"/>
              </a:rPr>
              <a:t>Investigate lost sales and anomalies</a:t>
            </a:r>
          </a:p>
        </p:txBody>
      </p:sp>
      <p:sp>
        <p:nvSpPr>
          <p:cNvPr id="13" name="Rectangle: Rounded Corners 12">
            <a:extLst>
              <a:ext uri="{FF2B5EF4-FFF2-40B4-BE49-F238E27FC236}">
                <a16:creationId xmlns:a16="http://schemas.microsoft.com/office/drawing/2014/main" id="{A41519B5-EBF2-C8C6-D566-6500D1CD502B}"/>
              </a:ext>
            </a:extLst>
          </p:cNvPr>
          <p:cNvSpPr/>
          <p:nvPr/>
        </p:nvSpPr>
        <p:spPr>
          <a:xfrm>
            <a:off x="8051800" y="1841500"/>
            <a:ext cx="3530600" cy="2120900"/>
          </a:xfrm>
          <a:prstGeom prst="roundRect">
            <a:avLst/>
          </a:prstGeom>
          <a:solidFill>
            <a:srgbClr val="FFFFFF"/>
          </a:solidFill>
          <a:ln w="12700">
            <a:solidFill>
              <a:srgbClr val="6D3EF2"/>
            </a:solidFill>
          </a:ln>
          <a:effectLst>
            <a:outerShdw blurRad="76200" dist="38100" dir="5400000" rotWithShape="0">
              <a:srgbClr val="0B1536">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7A0D1303-92B4-DF4C-C8AF-0CF90B399E6D}"/>
              </a:ext>
            </a:extLst>
          </p:cNvPr>
          <p:cNvSpPr/>
          <p:nvPr/>
        </p:nvSpPr>
        <p:spPr>
          <a:xfrm>
            <a:off x="8280400" y="2070100"/>
            <a:ext cx="1333500" cy="3810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5E0E05C-4EEB-C9D6-4243-23CEF5C7DF4E}"/>
              </a:ext>
            </a:extLst>
          </p:cNvPr>
          <p:cNvSpPr txBox="1"/>
          <p:nvPr/>
        </p:nvSpPr>
        <p:spPr>
          <a:xfrm>
            <a:off x="8280400" y="2070100"/>
            <a:ext cx="1333500" cy="3810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MONTHLY</a:t>
            </a:r>
          </a:p>
        </p:txBody>
      </p:sp>
      <p:sp>
        <p:nvSpPr>
          <p:cNvPr id="16" name="TextBox 15">
            <a:extLst>
              <a:ext uri="{FF2B5EF4-FFF2-40B4-BE49-F238E27FC236}">
                <a16:creationId xmlns:a16="http://schemas.microsoft.com/office/drawing/2014/main" id="{97D5C3CE-03B0-F456-6CE4-383FA0C2A0C0}"/>
              </a:ext>
            </a:extLst>
          </p:cNvPr>
          <p:cNvSpPr txBox="1"/>
          <p:nvPr/>
        </p:nvSpPr>
        <p:spPr>
          <a:xfrm>
            <a:off x="8305800" y="2679700"/>
            <a:ext cx="3022600" cy="1041400"/>
          </a:xfrm>
          <a:prstGeom prst="rect">
            <a:avLst/>
          </a:prstGeom>
          <a:noFill/>
        </p:spPr>
        <p:txBody>
          <a:bodyPr vert="horz" wrap="square" lIns="50800" tIns="25400" rIns="50800" bIns="25400" rtlCol="0" anchor="t">
            <a:noAutofit/>
          </a:bodyPr>
          <a:lstStyle/>
          <a:p>
            <a:r>
              <a:rPr lang="en-US" sz="980">
                <a:solidFill>
                  <a:srgbClr val="344054"/>
                </a:solidFill>
                <a:latin typeface="Segoe UI" panose="020B0502040204020203" pitchFamily="34" charset="0"/>
              </a:rPr>
              <a:t>Review supplier scorecards</a:t>
            </a:r>
          </a:p>
          <a:p>
            <a:r>
              <a:rPr lang="en-US" sz="980">
                <a:solidFill>
                  <a:srgbClr val="344054"/>
                </a:solidFill>
                <a:latin typeface="Segoe UI" panose="020B0502040204020203" pitchFamily="34" charset="0"/>
              </a:rPr>
              <a:t>Review forecast accuracy and model choice</a:t>
            </a:r>
          </a:p>
          <a:p>
            <a:r>
              <a:rPr lang="en-US" sz="980">
                <a:solidFill>
                  <a:srgbClr val="344054"/>
                </a:solidFill>
                <a:latin typeface="Segoe UI" panose="020B0502040204020203" pitchFamily="34" charset="0"/>
              </a:rPr>
              <a:t>Evaluate promotions and data quality</a:t>
            </a:r>
          </a:p>
        </p:txBody>
      </p:sp>
      <p:sp>
        <p:nvSpPr>
          <p:cNvPr id="17" name="TextBox 16">
            <a:extLst>
              <a:ext uri="{FF2B5EF4-FFF2-40B4-BE49-F238E27FC236}">
                <a16:creationId xmlns:a16="http://schemas.microsoft.com/office/drawing/2014/main" id="{797C9000-8C41-49CD-7740-DB62DB6CA9F0}"/>
              </a:ext>
            </a:extLst>
          </p:cNvPr>
          <p:cNvSpPr txBox="1"/>
          <p:nvPr/>
        </p:nvSpPr>
        <p:spPr>
          <a:xfrm>
            <a:off x="609600" y="4318000"/>
            <a:ext cx="4572000" cy="330200"/>
          </a:xfrm>
          <a:prstGeom prst="rect">
            <a:avLst/>
          </a:prstGeom>
          <a:noFill/>
        </p:spPr>
        <p:txBody>
          <a:bodyPr vert="horz" wrap="square" lIns="50800" tIns="25400" rIns="50800" bIns="25400" rtlCol="0" anchor="ctr">
            <a:noAutofit/>
          </a:bodyPr>
          <a:lstStyle/>
          <a:p>
            <a:r>
              <a:rPr lang="en-US" sz="1100" b="1">
                <a:solidFill>
                  <a:srgbClr val="0B1536"/>
                </a:solidFill>
                <a:latin typeface="Segoe UI" panose="020B0502040204020203" pitchFamily="34" charset="0"/>
              </a:rPr>
              <a:t>DECISIONS MANAGEMENT SHOULD MAKE NOW</a:t>
            </a:r>
          </a:p>
        </p:txBody>
      </p:sp>
      <p:sp>
        <p:nvSpPr>
          <p:cNvPr id="18" name="TextBox 17">
            <a:extLst>
              <a:ext uri="{FF2B5EF4-FFF2-40B4-BE49-F238E27FC236}">
                <a16:creationId xmlns:a16="http://schemas.microsoft.com/office/drawing/2014/main" id="{DEA7F5C5-B52B-B8D9-FEF3-0201D58FD3F7}"/>
              </a:ext>
            </a:extLst>
          </p:cNvPr>
          <p:cNvSpPr txBox="1"/>
          <p:nvPr/>
        </p:nvSpPr>
        <p:spPr>
          <a:xfrm>
            <a:off x="609600" y="4737100"/>
            <a:ext cx="5156200" cy="406400"/>
          </a:xfrm>
          <a:prstGeom prst="rect">
            <a:avLst/>
          </a:prstGeom>
          <a:noFill/>
        </p:spPr>
        <p:txBody>
          <a:bodyPr vert="horz" wrap="square" lIns="50800" tIns="25400" rIns="50800" bIns="25400" rtlCol="0" anchor="ctr">
            <a:noAutofit/>
          </a:bodyPr>
          <a:lstStyle/>
          <a:p>
            <a:r>
              <a:rPr lang="en-US" sz="920">
                <a:solidFill>
                  <a:srgbClr val="344054"/>
                </a:solidFill>
                <a:latin typeface="Segoe UI" panose="020B0502040204020203" pitchFamily="34" charset="0"/>
              </a:rPr>
              <a:t>1. Name data owners, transaction operators and recommendation approvers</a:t>
            </a:r>
          </a:p>
        </p:txBody>
      </p:sp>
      <p:sp>
        <p:nvSpPr>
          <p:cNvPr id="19" name="TextBox 18">
            <a:extLst>
              <a:ext uri="{FF2B5EF4-FFF2-40B4-BE49-F238E27FC236}">
                <a16:creationId xmlns:a16="http://schemas.microsoft.com/office/drawing/2014/main" id="{165D7F5F-4049-917B-0F07-BAAFA83772A4}"/>
              </a:ext>
            </a:extLst>
          </p:cNvPr>
          <p:cNvSpPr txBox="1"/>
          <p:nvPr/>
        </p:nvSpPr>
        <p:spPr>
          <a:xfrm>
            <a:off x="6096000" y="4737100"/>
            <a:ext cx="5156200" cy="406400"/>
          </a:xfrm>
          <a:prstGeom prst="rect">
            <a:avLst/>
          </a:prstGeom>
          <a:noFill/>
        </p:spPr>
        <p:txBody>
          <a:bodyPr vert="horz" wrap="square" lIns="50800" tIns="25400" rIns="50800" bIns="25400" rtlCol="0" anchor="ctr">
            <a:noAutofit/>
          </a:bodyPr>
          <a:lstStyle/>
          <a:p>
            <a:r>
              <a:rPr lang="en-US" sz="920">
                <a:solidFill>
                  <a:srgbClr val="344054"/>
                </a:solidFill>
                <a:latin typeface="Segoe UI" panose="020B0502040204020203" pitchFamily="34" charset="0"/>
              </a:rPr>
              <a:t>2. Implement RBAC and decide how users are provisioned</a:t>
            </a:r>
          </a:p>
        </p:txBody>
      </p:sp>
      <p:sp>
        <p:nvSpPr>
          <p:cNvPr id="20" name="TextBox 19">
            <a:extLst>
              <a:ext uri="{FF2B5EF4-FFF2-40B4-BE49-F238E27FC236}">
                <a16:creationId xmlns:a16="http://schemas.microsoft.com/office/drawing/2014/main" id="{95CC1C8A-1DF4-8EC7-1EF0-A7BFF1741ADD}"/>
              </a:ext>
            </a:extLst>
          </p:cNvPr>
          <p:cNvSpPr txBox="1"/>
          <p:nvPr/>
        </p:nvSpPr>
        <p:spPr>
          <a:xfrm>
            <a:off x="609600" y="5245100"/>
            <a:ext cx="5156200" cy="406400"/>
          </a:xfrm>
          <a:prstGeom prst="rect">
            <a:avLst/>
          </a:prstGeom>
          <a:noFill/>
        </p:spPr>
        <p:txBody>
          <a:bodyPr vert="horz" wrap="square" lIns="50800" tIns="25400" rIns="50800" bIns="25400" rtlCol="0" anchor="ctr">
            <a:noAutofit/>
          </a:bodyPr>
          <a:lstStyle/>
          <a:p>
            <a:r>
              <a:rPr lang="en-US" sz="920">
                <a:solidFill>
                  <a:srgbClr val="344054"/>
                </a:solidFill>
                <a:latin typeface="Segoe UI" panose="020B0502040204020203" pitchFamily="34" charset="0"/>
              </a:rPr>
              <a:t>3. Choose production hosting, MySQL/Redis, backups, mail and monitoring</a:t>
            </a:r>
          </a:p>
        </p:txBody>
      </p:sp>
      <p:sp>
        <p:nvSpPr>
          <p:cNvPr id="21" name="TextBox 20">
            <a:extLst>
              <a:ext uri="{FF2B5EF4-FFF2-40B4-BE49-F238E27FC236}">
                <a16:creationId xmlns:a16="http://schemas.microsoft.com/office/drawing/2014/main" id="{3C732B07-F405-76EF-495B-82512FA7738D}"/>
              </a:ext>
            </a:extLst>
          </p:cNvPr>
          <p:cNvSpPr txBox="1"/>
          <p:nvPr/>
        </p:nvSpPr>
        <p:spPr>
          <a:xfrm>
            <a:off x="6096000" y="5245100"/>
            <a:ext cx="5156200" cy="406400"/>
          </a:xfrm>
          <a:prstGeom prst="rect">
            <a:avLst/>
          </a:prstGeom>
          <a:noFill/>
        </p:spPr>
        <p:txBody>
          <a:bodyPr vert="horz" wrap="square" lIns="50800" tIns="25400" rIns="50800" bIns="25400" rtlCol="0" anchor="ctr">
            <a:noAutofit/>
          </a:bodyPr>
          <a:lstStyle/>
          <a:p>
            <a:r>
              <a:rPr lang="en-US" sz="920">
                <a:solidFill>
                  <a:srgbClr val="344054"/>
                </a:solidFill>
                <a:latin typeface="Segoe UI" panose="020B0502040204020203" pitchFamily="34" charset="0"/>
              </a:rPr>
              <a:t>4. Operate queue, scheduler, Python service and monthly retraining</a:t>
            </a:r>
          </a:p>
        </p:txBody>
      </p:sp>
      <p:sp>
        <p:nvSpPr>
          <p:cNvPr id="22" name="TextBox 21">
            <a:extLst>
              <a:ext uri="{FF2B5EF4-FFF2-40B4-BE49-F238E27FC236}">
                <a16:creationId xmlns:a16="http://schemas.microsoft.com/office/drawing/2014/main" id="{F03B799A-F1D7-0BB2-61BC-6AC9204F7795}"/>
              </a:ext>
            </a:extLst>
          </p:cNvPr>
          <p:cNvSpPr txBox="1"/>
          <p:nvPr/>
        </p:nvSpPr>
        <p:spPr>
          <a:xfrm>
            <a:off x="609600" y="5753100"/>
            <a:ext cx="10414000" cy="406400"/>
          </a:xfrm>
          <a:prstGeom prst="rect">
            <a:avLst/>
          </a:prstGeom>
          <a:noFill/>
        </p:spPr>
        <p:txBody>
          <a:bodyPr vert="horz" wrap="square" lIns="50800" tIns="25400" rIns="50800" bIns="25400" rtlCol="0" anchor="ctr">
            <a:noAutofit/>
          </a:bodyPr>
          <a:lstStyle/>
          <a:p>
            <a:r>
              <a:rPr lang="en-US" sz="920" b="1">
                <a:solidFill>
                  <a:srgbClr val="6D3EF2"/>
                </a:solidFill>
                <a:latin typeface="Segoe UI" panose="020B0502040204020203" pitchFamily="34" charset="0"/>
              </a:rPr>
              <a:t>5. Validate on real sales history before making TFT or DeepAR the default</a:t>
            </a:r>
          </a:p>
        </p:txBody>
      </p:sp>
      <p:sp>
        <p:nvSpPr>
          <p:cNvPr id="23" name="TextBox 22">
            <a:extLst>
              <a:ext uri="{FF2B5EF4-FFF2-40B4-BE49-F238E27FC236}">
                <a16:creationId xmlns:a16="http://schemas.microsoft.com/office/drawing/2014/main" id="{C7C589B0-348D-B9ED-A9DD-60D592AEB1E6}"/>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667085"/>
                </a:solidFill>
                <a:latin typeface="Segoe UI" panose="020B0502040204020203" pitchFamily="34" charset="0"/>
              </a:rPr>
              <a:t>Inventory Forecasting | Management &amp; Team Briefing</a:t>
            </a:r>
          </a:p>
        </p:txBody>
      </p:sp>
      <p:sp>
        <p:nvSpPr>
          <p:cNvPr id="24" name="TextBox 23">
            <a:extLst>
              <a:ext uri="{FF2B5EF4-FFF2-40B4-BE49-F238E27FC236}">
                <a16:creationId xmlns:a16="http://schemas.microsoft.com/office/drawing/2014/main" id="{0A22C2B3-1AA4-2FC1-7507-63CDC51819AC}"/>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667085"/>
                </a:solidFill>
                <a:latin typeface="Segoe UI" panose="020B0502040204020203" pitchFamily="34" charset="0"/>
              </a:rPr>
              <a:t>21</a:t>
            </a:r>
          </a:p>
        </p:txBody>
      </p:sp>
    </p:spTree>
    <p:extLst>
      <p:ext uri="{BB962C8B-B14F-4D97-AF65-F5344CB8AC3E}">
        <p14:creationId xmlns:p14="http://schemas.microsoft.com/office/powerpoint/2010/main" val="1790720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536"/>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14DDE8F-295F-4C01-F3D5-110B24EF417E}"/>
              </a:ext>
            </a:extLst>
          </p:cNvPr>
          <p:cNvSpPr/>
          <p:nvPr/>
        </p:nvSpPr>
        <p:spPr>
          <a:xfrm>
            <a:off x="698500" y="508000"/>
            <a:ext cx="2667000" cy="381000"/>
          </a:xfrm>
          <a:prstGeom prst="roundRect">
            <a:avLst/>
          </a:prstGeom>
          <a:solidFill>
            <a:srgbClr val="6D3EF2"/>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06B7F1B-CB02-7B76-30AD-F39170DF0745}"/>
              </a:ext>
            </a:extLst>
          </p:cNvPr>
          <p:cNvSpPr txBox="1"/>
          <p:nvPr/>
        </p:nvSpPr>
        <p:spPr>
          <a:xfrm>
            <a:off x="698500" y="508000"/>
            <a:ext cx="2667000" cy="381000"/>
          </a:xfrm>
          <a:prstGeom prst="rect">
            <a:avLst/>
          </a:prstGeom>
          <a:noFill/>
        </p:spPr>
        <p:txBody>
          <a:bodyPr vert="horz" wrap="square" lIns="50800" tIns="25400" rIns="50800" bIns="25400" rtlCol="0" anchor="ctr">
            <a:noAutofit/>
          </a:bodyPr>
          <a:lstStyle/>
          <a:p>
            <a:pPr algn="ctr"/>
            <a:r>
              <a:rPr lang="en-US" sz="950" b="1">
                <a:solidFill>
                  <a:srgbClr val="FFFFFF"/>
                </a:solidFill>
                <a:latin typeface="Segoe UI" panose="020B0502040204020203" pitchFamily="34" charset="0"/>
              </a:rPr>
              <a:t>8-MINUTE LIVE DEMO ROUTE</a:t>
            </a:r>
          </a:p>
        </p:txBody>
      </p:sp>
      <p:sp>
        <p:nvSpPr>
          <p:cNvPr id="4" name="TextBox 3">
            <a:extLst>
              <a:ext uri="{FF2B5EF4-FFF2-40B4-BE49-F238E27FC236}">
                <a16:creationId xmlns:a16="http://schemas.microsoft.com/office/drawing/2014/main" id="{4F835E66-9329-1E4D-F2FC-679E6F8DDADA}"/>
              </a:ext>
            </a:extLst>
          </p:cNvPr>
          <p:cNvSpPr txBox="1"/>
          <p:nvPr/>
        </p:nvSpPr>
        <p:spPr>
          <a:xfrm>
            <a:off x="647700" y="1104900"/>
            <a:ext cx="9017000" cy="609600"/>
          </a:xfrm>
          <a:prstGeom prst="rect">
            <a:avLst/>
          </a:prstGeom>
          <a:noFill/>
        </p:spPr>
        <p:txBody>
          <a:bodyPr vert="horz" wrap="square" lIns="50800" tIns="25400" rIns="50800" bIns="25400" rtlCol="0" anchor="t">
            <a:noAutofit/>
          </a:bodyPr>
          <a:lstStyle/>
          <a:p>
            <a:r>
              <a:rPr lang="en-US" sz="2700" b="1">
                <a:solidFill>
                  <a:srgbClr val="FFFFFF"/>
                </a:solidFill>
                <a:latin typeface="Segoe UI" panose="020B0502040204020203" pitchFamily="34" charset="0"/>
              </a:rPr>
              <a:t>Show the closed loop, not every menu item</a:t>
            </a:r>
          </a:p>
        </p:txBody>
      </p:sp>
      <p:sp>
        <p:nvSpPr>
          <p:cNvPr id="5" name="Rectangle: Rounded Corners 4">
            <a:extLst>
              <a:ext uri="{FF2B5EF4-FFF2-40B4-BE49-F238E27FC236}">
                <a16:creationId xmlns:a16="http://schemas.microsoft.com/office/drawing/2014/main" id="{7884E72E-011B-A184-B446-39BA42E5E353}"/>
              </a:ext>
            </a:extLst>
          </p:cNvPr>
          <p:cNvSpPr/>
          <p:nvPr/>
        </p:nvSpPr>
        <p:spPr>
          <a:xfrm>
            <a:off x="698500" y="2070100"/>
            <a:ext cx="3352800" cy="12827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D5D3975-7D3E-6B7F-137A-E4AA1A8E282A}"/>
              </a:ext>
            </a:extLst>
          </p:cNvPr>
          <p:cNvSpPr/>
          <p:nvPr/>
        </p:nvSpPr>
        <p:spPr>
          <a:xfrm>
            <a:off x="889000" y="2273300"/>
            <a:ext cx="406400" cy="406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F70936-65EA-5798-1079-683D61D03D6D}"/>
              </a:ext>
            </a:extLst>
          </p:cNvPr>
          <p:cNvSpPr txBox="1"/>
          <p:nvPr/>
        </p:nvSpPr>
        <p:spPr>
          <a:xfrm>
            <a:off x="889000" y="22733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1</a:t>
            </a:r>
          </a:p>
        </p:txBody>
      </p:sp>
      <p:sp>
        <p:nvSpPr>
          <p:cNvPr id="8" name="TextBox 7">
            <a:extLst>
              <a:ext uri="{FF2B5EF4-FFF2-40B4-BE49-F238E27FC236}">
                <a16:creationId xmlns:a16="http://schemas.microsoft.com/office/drawing/2014/main" id="{4EF1AD75-AFF5-CEC5-C58A-567B4114A0A5}"/>
              </a:ext>
            </a:extLst>
          </p:cNvPr>
          <p:cNvSpPr txBox="1"/>
          <p:nvPr/>
        </p:nvSpPr>
        <p:spPr>
          <a:xfrm>
            <a:off x="1422400" y="22225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Products</a:t>
            </a:r>
          </a:p>
        </p:txBody>
      </p:sp>
      <p:sp>
        <p:nvSpPr>
          <p:cNvPr id="9" name="TextBox 8">
            <a:extLst>
              <a:ext uri="{FF2B5EF4-FFF2-40B4-BE49-F238E27FC236}">
                <a16:creationId xmlns:a16="http://schemas.microsoft.com/office/drawing/2014/main" id="{ABD549B3-11CE-4D94-0D9E-D3566BAF406A}"/>
              </a:ext>
            </a:extLst>
          </p:cNvPr>
          <p:cNvSpPr txBox="1"/>
          <p:nvPr/>
        </p:nvSpPr>
        <p:spPr>
          <a:xfrm>
            <a:off x="927100" y="27559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Show catalog structure and SKU ownership</a:t>
            </a:r>
          </a:p>
        </p:txBody>
      </p:sp>
      <p:sp>
        <p:nvSpPr>
          <p:cNvPr id="10" name="Rectangle: Rounded Corners 9">
            <a:extLst>
              <a:ext uri="{FF2B5EF4-FFF2-40B4-BE49-F238E27FC236}">
                <a16:creationId xmlns:a16="http://schemas.microsoft.com/office/drawing/2014/main" id="{137E3588-7B82-97CF-8EA9-35AED0675A0C}"/>
              </a:ext>
            </a:extLst>
          </p:cNvPr>
          <p:cNvSpPr/>
          <p:nvPr/>
        </p:nvSpPr>
        <p:spPr>
          <a:xfrm>
            <a:off x="4406900" y="2070100"/>
            <a:ext cx="3352800" cy="12827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7D9F5B4-BD19-4B78-CAEF-ED47E4AB5D40}"/>
              </a:ext>
            </a:extLst>
          </p:cNvPr>
          <p:cNvSpPr/>
          <p:nvPr/>
        </p:nvSpPr>
        <p:spPr>
          <a:xfrm>
            <a:off x="4597400" y="2273300"/>
            <a:ext cx="406400" cy="406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9582C39-9D6B-C6E9-5B4B-BAD76DDB4B55}"/>
              </a:ext>
            </a:extLst>
          </p:cNvPr>
          <p:cNvSpPr txBox="1"/>
          <p:nvPr/>
        </p:nvSpPr>
        <p:spPr>
          <a:xfrm>
            <a:off x="4597400" y="22733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2</a:t>
            </a:r>
          </a:p>
        </p:txBody>
      </p:sp>
      <p:sp>
        <p:nvSpPr>
          <p:cNvPr id="13" name="TextBox 12">
            <a:extLst>
              <a:ext uri="{FF2B5EF4-FFF2-40B4-BE49-F238E27FC236}">
                <a16:creationId xmlns:a16="http://schemas.microsoft.com/office/drawing/2014/main" id="{29C194C9-A68C-8955-4B4F-03D01198DCED}"/>
              </a:ext>
            </a:extLst>
          </p:cNvPr>
          <p:cNvSpPr txBox="1"/>
          <p:nvPr/>
        </p:nvSpPr>
        <p:spPr>
          <a:xfrm>
            <a:off x="5130800" y="22225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Inventory</a:t>
            </a:r>
          </a:p>
        </p:txBody>
      </p:sp>
      <p:sp>
        <p:nvSpPr>
          <p:cNvPr id="14" name="TextBox 13">
            <a:extLst>
              <a:ext uri="{FF2B5EF4-FFF2-40B4-BE49-F238E27FC236}">
                <a16:creationId xmlns:a16="http://schemas.microsoft.com/office/drawing/2014/main" id="{ECBDEC90-F9E5-B366-2E33-E0BEB270F2B1}"/>
              </a:ext>
            </a:extLst>
          </p:cNvPr>
          <p:cNvSpPr txBox="1"/>
          <p:nvPr/>
        </p:nvSpPr>
        <p:spPr>
          <a:xfrm>
            <a:off x="4635500" y="27559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Show balance, incoming stock and average cost</a:t>
            </a:r>
          </a:p>
        </p:txBody>
      </p:sp>
      <p:sp>
        <p:nvSpPr>
          <p:cNvPr id="15" name="Rectangle: Rounded Corners 14">
            <a:extLst>
              <a:ext uri="{FF2B5EF4-FFF2-40B4-BE49-F238E27FC236}">
                <a16:creationId xmlns:a16="http://schemas.microsoft.com/office/drawing/2014/main" id="{619073B6-58B6-2CBD-D847-CD50066E8B14}"/>
              </a:ext>
            </a:extLst>
          </p:cNvPr>
          <p:cNvSpPr/>
          <p:nvPr/>
        </p:nvSpPr>
        <p:spPr>
          <a:xfrm>
            <a:off x="8115300" y="2070100"/>
            <a:ext cx="3352800" cy="12827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7AD6C47-7F0B-753A-A930-0CD97D121ABE}"/>
              </a:ext>
            </a:extLst>
          </p:cNvPr>
          <p:cNvSpPr/>
          <p:nvPr/>
        </p:nvSpPr>
        <p:spPr>
          <a:xfrm>
            <a:off x="8305800" y="2273300"/>
            <a:ext cx="406400" cy="406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855281-CBD3-5C7F-8A57-5D0EF276FDA2}"/>
              </a:ext>
            </a:extLst>
          </p:cNvPr>
          <p:cNvSpPr txBox="1"/>
          <p:nvPr/>
        </p:nvSpPr>
        <p:spPr>
          <a:xfrm>
            <a:off x="8305800" y="22733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3</a:t>
            </a:r>
          </a:p>
        </p:txBody>
      </p:sp>
      <p:sp>
        <p:nvSpPr>
          <p:cNvPr id="18" name="TextBox 17">
            <a:extLst>
              <a:ext uri="{FF2B5EF4-FFF2-40B4-BE49-F238E27FC236}">
                <a16:creationId xmlns:a16="http://schemas.microsoft.com/office/drawing/2014/main" id="{AEF759F5-B556-E479-BADA-604F8BFFFD01}"/>
              </a:ext>
            </a:extLst>
          </p:cNvPr>
          <p:cNvSpPr txBox="1"/>
          <p:nvPr/>
        </p:nvSpPr>
        <p:spPr>
          <a:xfrm>
            <a:off x="8839200" y="22225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Stock movements</a:t>
            </a:r>
          </a:p>
        </p:txBody>
      </p:sp>
      <p:sp>
        <p:nvSpPr>
          <p:cNvPr id="19" name="TextBox 18">
            <a:extLst>
              <a:ext uri="{FF2B5EF4-FFF2-40B4-BE49-F238E27FC236}">
                <a16:creationId xmlns:a16="http://schemas.microsoft.com/office/drawing/2014/main" id="{79D7BE3E-1A65-31A3-9B4D-6D9980018215}"/>
              </a:ext>
            </a:extLst>
          </p:cNvPr>
          <p:cNvSpPr txBox="1"/>
          <p:nvPr/>
        </p:nvSpPr>
        <p:spPr>
          <a:xfrm>
            <a:off x="8343900" y="27559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Prove the append-only audit trail</a:t>
            </a:r>
          </a:p>
        </p:txBody>
      </p:sp>
      <p:sp>
        <p:nvSpPr>
          <p:cNvPr id="20" name="Rectangle: Rounded Corners 19">
            <a:extLst>
              <a:ext uri="{FF2B5EF4-FFF2-40B4-BE49-F238E27FC236}">
                <a16:creationId xmlns:a16="http://schemas.microsoft.com/office/drawing/2014/main" id="{16799A92-ED8D-7CB2-AB33-DE485F49E1E7}"/>
              </a:ext>
            </a:extLst>
          </p:cNvPr>
          <p:cNvSpPr/>
          <p:nvPr/>
        </p:nvSpPr>
        <p:spPr>
          <a:xfrm>
            <a:off x="698500" y="3670300"/>
            <a:ext cx="3352800" cy="12827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1C0061-39BD-D265-4B80-91E4FEB628A1}"/>
              </a:ext>
            </a:extLst>
          </p:cNvPr>
          <p:cNvSpPr/>
          <p:nvPr/>
        </p:nvSpPr>
        <p:spPr>
          <a:xfrm>
            <a:off x="889000" y="3873500"/>
            <a:ext cx="406400" cy="406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FBDB917-0119-4662-7A32-49EEB656EAF2}"/>
              </a:ext>
            </a:extLst>
          </p:cNvPr>
          <p:cNvSpPr txBox="1"/>
          <p:nvPr/>
        </p:nvSpPr>
        <p:spPr>
          <a:xfrm>
            <a:off x="889000" y="38735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4</a:t>
            </a:r>
          </a:p>
        </p:txBody>
      </p:sp>
      <p:sp>
        <p:nvSpPr>
          <p:cNvPr id="23" name="TextBox 22">
            <a:extLst>
              <a:ext uri="{FF2B5EF4-FFF2-40B4-BE49-F238E27FC236}">
                <a16:creationId xmlns:a16="http://schemas.microsoft.com/office/drawing/2014/main" id="{4EB21D37-436F-D8E7-274A-F807949270E5}"/>
              </a:ext>
            </a:extLst>
          </p:cNvPr>
          <p:cNvSpPr txBox="1"/>
          <p:nvPr/>
        </p:nvSpPr>
        <p:spPr>
          <a:xfrm>
            <a:off x="1422400" y="38227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Forecasts</a:t>
            </a:r>
          </a:p>
        </p:txBody>
      </p:sp>
      <p:sp>
        <p:nvSpPr>
          <p:cNvPr id="24" name="TextBox 23">
            <a:extLst>
              <a:ext uri="{FF2B5EF4-FFF2-40B4-BE49-F238E27FC236}">
                <a16:creationId xmlns:a16="http://schemas.microsoft.com/office/drawing/2014/main" id="{40861C3A-5EF8-0BC6-8F48-B08499C08CE6}"/>
              </a:ext>
            </a:extLst>
          </p:cNvPr>
          <p:cNvSpPr txBox="1"/>
          <p:nvPr/>
        </p:nvSpPr>
        <p:spPr>
          <a:xfrm>
            <a:off x="927100" y="43561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Show source, range, confidence and algorithm</a:t>
            </a:r>
          </a:p>
        </p:txBody>
      </p:sp>
      <p:sp>
        <p:nvSpPr>
          <p:cNvPr id="25" name="Rectangle: Rounded Corners 24">
            <a:extLst>
              <a:ext uri="{FF2B5EF4-FFF2-40B4-BE49-F238E27FC236}">
                <a16:creationId xmlns:a16="http://schemas.microsoft.com/office/drawing/2014/main" id="{F03A801C-096D-51BE-70C4-63E64F3BE6F3}"/>
              </a:ext>
            </a:extLst>
          </p:cNvPr>
          <p:cNvSpPr/>
          <p:nvPr/>
        </p:nvSpPr>
        <p:spPr>
          <a:xfrm>
            <a:off x="4406900" y="3670300"/>
            <a:ext cx="3352800" cy="1282700"/>
          </a:xfrm>
          <a:prstGeom prst="roundRect">
            <a:avLst/>
          </a:prstGeom>
          <a:solidFill>
            <a:srgbClr val="FFFFFF"/>
          </a:solidFill>
          <a:ln w="12700">
            <a:solidFill>
              <a:srgbClr val="0E9F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AAD4E11-E8EB-CD3D-8809-164B15DE9174}"/>
              </a:ext>
            </a:extLst>
          </p:cNvPr>
          <p:cNvSpPr/>
          <p:nvPr/>
        </p:nvSpPr>
        <p:spPr>
          <a:xfrm>
            <a:off x="4597400" y="3873500"/>
            <a:ext cx="406400" cy="406400"/>
          </a:xfrm>
          <a:prstGeom prst="ellipse">
            <a:avLst/>
          </a:prstGeom>
          <a:solidFill>
            <a:srgbClr val="0E9F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55761D5-BDB0-467F-9B5B-AD478579AF44}"/>
              </a:ext>
            </a:extLst>
          </p:cNvPr>
          <p:cNvSpPr txBox="1"/>
          <p:nvPr/>
        </p:nvSpPr>
        <p:spPr>
          <a:xfrm>
            <a:off x="4597400" y="38735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5</a:t>
            </a:r>
          </a:p>
        </p:txBody>
      </p:sp>
      <p:sp>
        <p:nvSpPr>
          <p:cNvPr id="28" name="TextBox 27">
            <a:extLst>
              <a:ext uri="{FF2B5EF4-FFF2-40B4-BE49-F238E27FC236}">
                <a16:creationId xmlns:a16="http://schemas.microsoft.com/office/drawing/2014/main" id="{057E3AA1-305F-FB5F-EEA5-69401EB36C6A}"/>
              </a:ext>
            </a:extLst>
          </p:cNvPr>
          <p:cNvSpPr txBox="1"/>
          <p:nvPr/>
        </p:nvSpPr>
        <p:spPr>
          <a:xfrm>
            <a:off x="5130800" y="38227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Recommendations</a:t>
            </a:r>
          </a:p>
        </p:txBody>
      </p:sp>
      <p:sp>
        <p:nvSpPr>
          <p:cNvPr id="29" name="TextBox 28">
            <a:extLst>
              <a:ext uri="{FF2B5EF4-FFF2-40B4-BE49-F238E27FC236}">
                <a16:creationId xmlns:a16="http://schemas.microsoft.com/office/drawing/2014/main" id="{05B10C22-8F1C-E84A-7A29-EC7286A06E33}"/>
              </a:ext>
            </a:extLst>
          </p:cNvPr>
          <p:cNvSpPr txBox="1"/>
          <p:nvPr/>
        </p:nvSpPr>
        <p:spPr>
          <a:xfrm>
            <a:off x="4635500" y="43561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Show risks and Accept / Modify / Reject</a:t>
            </a:r>
          </a:p>
        </p:txBody>
      </p:sp>
      <p:sp>
        <p:nvSpPr>
          <p:cNvPr id="30" name="Rectangle: Rounded Corners 29">
            <a:extLst>
              <a:ext uri="{FF2B5EF4-FFF2-40B4-BE49-F238E27FC236}">
                <a16:creationId xmlns:a16="http://schemas.microsoft.com/office/drawing/2014/main" id="{A479AAED-664C-C954-D709-C086238725EB}"/>
              </a:ext>
            </a:extLst>
          </p:cNvPr>
          <p:cNvSpPr/>
          <p:nvPr/>
        </p:nvSpPr>
        <p:spPr>
          <a:xfrm>
            <a:off x="8115300" y="3670300"/>
            <a:ext cx="3352800" cy="1282700"/>
          </a:xfrm>
          <a:prstGeom prst="roundRect">
            <a:avLst/>
          </a:prstGeom>
          <a:solidFill>
            <a:srgbClr val="FFFFFF"/>
          </a:solidFill>
          <a:ln w="12700">
            <a:solidFill>
              <a:srgbClr val="6D3E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5BD95EA-95D2-2753-42E3-97F1002895E8}"/>
              </a:ext>
            </a:extLst>
          </p:cNvPr>
          <p:cNvSpPr/>
          <p:nvPr/>
        </p:nvSpPr>
        <p:spPr>
          <a:xfrm>
            <a:off x="8305800" y="3873500"/>
            <a:ext cx="406400" cy="406400"/>
          </a:xfrm>
          <a:prstGeom prst="ellipse">
            <a:avLst/>
          </a:prstGeom>
          <a:solidFill>
            <a:srgbClr val="6D3E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E2D127D-F66B-7CF7-1120-E99EF92790D3}"/>
              </a:ext>
            </a:extLst>
          </p:cNvPr>
          <p:cNvSpPr txBox="1"/>
          <p:nvPr/>
        </p:nvSpPr>
        <p:spPr>
          <a:xfrm>
            <a:off x="8305800" y="3873500"/>
            <a:ext cx="406400" cy="406400"/>
          </a:xfrm>
          <a:prstGeom prst="rect">
            <a:avLst/>
          </a:prstGeom>
          <a:noFill/>
        </p:spPr>
        <p:txBody>
          <a:bodyPr vert="horz" wrap="square" lIns="50800" tIns="25400" rIns="50800" bIns="25400" rtlCol="0" anchor="ctr">
            <a:noAutofit/>
          </a:bodyPr>
          <a:lstStyle/>
          <a:p>
            <a:pPr algn="ctr"/>
            <a:r>
              <a:rPr lang="en-US" sz="1000" b="1">
                <a:solidFill>
                  <a:srgbClr val="FFFFFF"/>
                </a:solidFill>
                <a:latin typeface="Segoe UI" panose="020B0502040204020203" pitchFamily="34" charset="0"/>
              </a:rPr>
              <a:t>6</a:t>
            </a:r>
          </a:p>
        </p:txBody>
      </p:sp>
      <p:sp>
        <p:nvSpPr>
          <p:cNvPr id="33" name="TextBox 32">
            <a:extLst>
              <a:ext uri="{FF2B5EF4-FFF2-40B4-BE49-F238E27FC236}">
                <a16:creationId xmlns:a16="http://schemas.microsoft.com/office/drawing/2014/main" id="{F2B47798-2A6E-E68C-95ED-FAD2D4409E76}"/>
              </a:ext>
            </a:extLst>
          </p:cNvPr>
          <p:cNvSpPr txBox="1"/>
          <p:nvPr/>
        </p:nvSpPr>
        <p:spPr>
          <a:xfrm>
            <a:off x="8839200" y="3822700"/>
            <a:ext cx="2413000" cy="381000"/>
          </a:xfrm>
          <a:prstGeom prst="rect">
            <a:avLst/>
          </a:prstGeom>
          <a:noFill/>
        </p:spPr>
        <p:txBody>
          <a:bodyPr vert="horz" wrap="square" lIns="50800" tIns="25400" rIns="50800" bIns="25400" rtlCol="0" anchor="ctr">
            <a:noAutofit/>
          </a:bodyPr>
          <a:lstStyle/>
          <a:p>
            <a:r>
              <a:rPr lang="en-US" sz="1250" b="1">
                <a:solidFill>
                  <a:srgbClr val="0B1536"/>
                </a:solidFill>
                <a:latin typeface="Segoe UI" panose="020B0502040204020203" pitchFamily="34" charset="0"/>
              </a:rPr>
              <a:t>Supplier or promotion insight</a:t>
            </a:r>
          </a:p>
        </p:txBody>
      </p:sp>
      <p:sp>
        <p:nvSpPr>
          <p:cNvPr id="34" name="TextBox 33">
            <a:extLst>
              <a:ext uri="{FF2B5EF4-FFF2-40B4-BE49-F238E27FC236}">
                <a16:creationId xmlns:a16="http://schemas.microsoft.com/office/drawing/2014/main" id="{DD120F3A-2930-B3D6-A684-6C9571E246E8}"/>
              </a:ext>
            </a:extLst>
          </p:cNvPr>
          <p:cNvSpPr txBox="1"/>
          <p:nvPr/>
        </p:nvSpPr>
        <p:spPr>
          <a:xfrm>
            <a:off x="8343900" y="4356100"/>
            <a:ext cx="2895600" cy="431800"/>
          </a:xfrm>
          <a:prstGeom prst="rect">
            <a:avLst/>
          </a:prstGeom>
          <a:noFill/>
        </p:spPr>
        <p:txBody>
          <a:bodyPr vert="horz" wrap="square" lIns="50800" tIns="25400" rIns="50800" bIns="25400" rtlCol="0" anchor="t">
            <a:noAutofit/>
          </a:bodyPr>
          <a:lstStyle/>
          <a:p>
            <a:r>
              <a:rPr lang="en-US" sz="870">
                <a:solidFill>
                  <a:srgbClr val="667085"/>
                </a:solidFill>
                <a:latin typeface="Segoe UI" panose="020B0502040204020203" pitchFamily="34" charset="0"/>
              </a:rPr>
              <a:t>Close with a management signal</a:t>
            </a:r>
          </a:p>
        </p:txBody>
      </p:sp>
      <p:sp>
        <p:nvSpPr>
          <p:cNvPr id="35" name="TextBox 34">
            <a:extLst>
              <a:ext uri="{FF2B5EF4-FFF2-40B4-BE49-F238E27FC236}">
                <a16:creationId xmlns:a16="http://schemas.microsoft.com/office/drawing/2014/main" id="{0C296B5F-08DB-1F77-672D-D53F201A89E2}"/>
              </a:ext>
            </a:extLst>
          </p:cNvPr>
          <p:cNvSpPr txBox="1"/>
          <p:nvPr/>
        </p:nvSpPr>
        <p:spPr>
          <a:xfrm>
            <a:off x="698500" y="5461000"/>
            <a:ext cx="4064000" cy="355600"/>
          </a:xfrm>
          <a:prstGeom prst="rect">
            <a:avLst/>
          </a:prstGeom>
          <a:noFill/>
        </p:spPr>
        <p:txBody>
          <a:bodyPr vert="horz" wrap="square" lIns="50800" tIns="25400" rIns="50800" bIns="25400" rtlCol="0" anchor="ctr">
            <a:noAutofit/>
          </a:bodyPr>
          <a:lstStyle/>
          <a:p>
            <a:r>
              <a:rPr lang="en-US" sz="1500" b="1">
                <a:solidFill>
                  <a:srgbClr val="E4F7F8"/>
                </a:solidFill>
                <a:latin typeface="Segoe UI" panose="020B0502040204020203" pitchFamily="34" charset="0"/>
              </a:rPr>
              <a:t>The value is the closed loop:</a:t>
            </a:r>
          </a:p>
        </p:txBody>
      </p:sp>
      <p:sp>
        <p:nvSpPr>
          <p:cNvPr id="36" name="TextBox 35">
            <a:extLst>
              <a:ext uri="{FF2B5EF4-FFF2-40B4-BE49-F238E27FC236}">
                <a16:creationId xmlns:a16="http://schemas.microsoft.com/office/drawing/2014/main" id="{7B039D40-196E-60A7-236C-2A2BEDCE583F}"/>
              </a:ext>
            </a:extLst>
          </p:cNvPr>
          <p:cNvSpPr txBox="1"/>
          <p:nvPr/>
        </p:nvSpPr>
        <p:spPr>
          <a:xfrm>
            <a:off x="698500" y="5880100"/>
            <a:ext cx="10477500" cy="533400"/>
          </a:xfrm>
          <a:prstGeom prst="rect">
            <a:avLst/>
          </a:prstGeom>
          <a:noFill/>
        </p:spPr>
        <p:txBody>
          <a:bodyPr vert="horz" wrap="square" lIns="50800" tIns="25400" rIns="50800" bIns="25400" rtlCol="0" anchor="t">
            <a:noAutofit/>
          </a:bodyPr>
          <a:lstStyle/>
          <a:p>
            <a:r>
              <a:rPr lang="en-US" sz="1500" b="1">
                <a:solidFill>
                  <a:srgbClr val="FFFFFF"/>
                </a:solidFill>
                <a:latin typeface="Segoe UI" panose="020B0502040204020203" pitchFamily="34" charset="0"/>
              </a:rPr>
              <a:t>transactions become trusted history -&gt; history becomes forecasts -&gt; forecasts become controlled action.</a:t>
            </a:r>
          </a:p>
        </p:txBody>
      </p:sp>
      <p:sp>
        <p:nvSpPr>
          <p:cNvPr id="37" name="TextBox 36">
            <a:extLst>
              <a:ext uri="{FF2B5EF4-FFF2-40B4-BE49-F238E27FC236}">
                <a16:creationId xmlns:a16="http://schemas.microsoft.com/office/drawing/2014/main" id="{81B6A9BA-7C00-7FE7-2663-936817793A5F}"/>
              </a:ext>
            </a:extLst>
          </p:cNvPr>
          <p:cNvSpPr txBox="1"/>
          <p:nvPr/>
        </p:nvSpPr>
        <p:spPr>
          <a:xfrm>
            <a:off x="609600" y="6527800"/>
            <a:ext cx="7112000" cy="203200"/>
          </a:xfrm>
          <a:prstGeom prst="rect">
            <a:avLst/>
          </a:prstGeom>
          <a:noFill/>
        </p:spPr>
        <p:txBody>
          <a:bodyPr vert="horz" wrap="square" lIns="50800" tIns="25400" rIns="50800" bIns="25400" rtlCol="0" anchor="t">
            <a:noAutofit/>
          </a:bodyPr>
          <a:lstStyle/>
          <a:p>
            <a:r>
              <a:rPr lang="en-US" sz="800">
                <a:solidFill>
                  <a:srgbClr val="98A2B3"/>
                </a:solidFill>
                <a:latin typeface="Segoe UI" panose="020B0502040204020203" pitchFamily="34" charset="0"/>
              </a:rPr>
              <a:t>Inventory Forecasting | Management &amp; Team Briefing</a:t>
            </a:r>
          </a:p>
        </p:txBody>
      </p:sp>
      <p:sp>
        <p:nvSpPr>
          <p:cNvPr id="38" name="TextBox 37">
            <a:extLst>
              <a:ext uri="{FF2B5EF4-FFF2-40B4-BE49-F238E27FC236}">
                <a16:creationId xmlns:a16="http://schemas.microsoft.com/office/drawing/2014/main" id="{BFC22002-0D39-D9C7-97E7-72085298B8BA}"/>
              </a:ext>
            </a:extLst>
          </p:cNvPr>
          <p:cNvSpPr txBox="1"/>
          <p:nvPr/>
        </p:nvSpPr>
        <p:spPr>
          <a:xfrm>
            <a:off x="10668000" y="6502400"/>
            <a:ext cx="914400" cy="228600"/>
          </a:xfrm>
          <a:prstGeom prst="rect">
            <a:avLst/>
          </a:prstGeom>
          <a:noFill/>
        </p:spPr>
        <p:txBody>
          <a:bodyPr vert="horz" wrap="square" lIns="50800" tIns="25400" rIns="50800" bIns="25400" rtlCol="0" anchor="t">
            <a:noAutofit/>
          </a:bodyPr>
          <a:lstStyle/>
          <a:p>
            <a:pPr algn="r"/>
            <a:r>
              <a:rPr lang="en-US" sz="800" b="1">
                <a:solidFill>
                  <a:srgbClr val="98A2B3"/>
                </a:solidFill>
                <a:latin typeface="Segoe UI" panose="020B0502040204020203" pitchFamily="34" charset="0"/>
              </a:rPr>
              <a:t>22</a:t>
            </a:r>
          </a:p>
        </p:txBody>
      </p:sp>
    </p:spTree>
    <p:extLst>
      <p:ext uri="{BB962C8B-B14F-4D97-AF65-F5344CB8AC3E}">
        <p14:creationId xmlns:p14="http://schemas.microsoft.com/office/powerpoint/2010/main" val="3927538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3444</Words>
  <Application>Microsoft Office PowerPoint</Application>
  <PresentationFormat>Custom</PresentationFormat>
  <Paragraphs>498</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Sameera Pathmakumara</dc:creator>
  <cp:lastModifiedBy>Sameera Pathmakumara</cp:lastModifiedBy>
  <cp:revision>1</cp:revision>
  <dcterms:created xsi:type="dcterms:W3CDTF">2026-09-03T12:50:54Z</dcterms:created>
  <dcterms:modified xsi:type="dcterms:W3CDTF">2026-09-03T12:50:54Z</dcterms:modified>
</cp:coreProperties>
</file>